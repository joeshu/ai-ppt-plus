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48" r:id="rId1"/>
  </p:sldMasterIdLst>
  <p:sldIdLst>
    <p:sldId id="256" r:id="rId7"/>
  </p:sldIdLst>
  <p:sldSz cx="12191695" cy="68625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notesMaster" Target="notesMasters/notesMaster1.xml" /></ns0: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75BBB"/>
            </a:solidFill>
          </c:spPr>
          <c:dLbls>
            <c:txPr>
              <a:bodyPr/>
              <a:lstStyle/>
              <a:p>
                <a:pPr>
                  <a:defRPr sz="640">
                    <a:solidFill>
                      <a:srgbClr val="202020"/>
                    </a:solidFill>
                    <a:latin typeface="Noto Sans CJK SC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20.0</c:v>
                </c:pt>
                <c:pt idx="1">
                  <c:v>20.8</c:v>
                </c:pt>
                <c:pt idx="2">
                  <c:v>19.4</c:v>
                </c:pt>
                <c:pt idx="3">
                  <c:v>21.6</c:v>
                </c:pt>
                <c:pt idx="4">
                  <c:v>22.5</c:v>
                </c:pt>
                <c:pt idx="5">
                  <c:v>20.8</c:v>
                </c:pt>
                <c:pt idx="6">
                  <c:v>21.5</c:v>
                </c:pt>
                <c:pt idx="7">
                  <c:v>20.9</c:v>
                </c:pt>
                <c:pt idx="8">
                  <c:v>18.8</c:v>
                </c:pt>
                <c:pt idx="9">
                  <c:v>16.7</c:v>
                </c:pt>
                <c:pt idx="10">
                  <c:v>21.6</c:v>
                </c:pt>
                <c:pt idx="11">
                  <c:v>31.2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F05A13"/>
            </a:solidFill>
          </c:spPr>
          <c:dLbls>
            <c:txPr>
              <a:bodyPr/>
              <a:lstStyle/>
              <a:p>
                <a:pPr>
                  <a:defRPr sz="640">
                    <a:solidFill>
                      <a:srgbClr val="202020"/>
                    </a:solidFill>
                    <a:latin typeface="Noto Sans CJK S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42.1</c:v>
                </c:pt>
                <c:pt idx="1">
                  <c:v>51.9</c:v>
                </c:pt>
                <c:pt idx="2">
                  <c:v>37.3</c:v>
                </c:pt>
                <c:pt idx="3">
                  <c:v>48.9</c:v>
                </c:pt>
                <c:pt idx="4">
                  <c:v>49.4</c:v>
                </c:pt>
                <c:pt idx="5">
                  <c:v>44.1</c:v>
                </c:pt>
                <c:pt idx="6">
                  <c:v>39.4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8890">
            <a:solidFill>
              <a:srgbClr val="B6B6B6"/>
            </a:solidFill>
          </a:ln>
        </c:spPr>
        <c:txPr>
          <a:bodyPr/>
          <a:lstStyle/>
          <a:p>
            <a:pPr>
              <a:defRPr sz="700">
                <a:solidFill>
                  <a:srgbClr val="202020"/>
                </a:solidFill>
                <a:latin typeface="Noto Sans CJK SC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 w="8890">
            <a:solidFill>
              <a:srgbClr val="B6B6B6"/>
            </a:solidFill>
          </a:ln>
        </c:spPr>
        <c:txPr>
          <a:bodyPr/>
          <a:lstStyle/>
          <a:p>
            <a:pPr>
              <a:defRPr sz="700">
                <a:solidFill>
                  <a:srgbClr val="202020"/>
                </a:solidFill>
                <a:latin typeface="Noto Sans CJK SC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>
              <a:solidFill>
                <a:srgbClr val="202020"/>
              </a:solidFill>
              <a:latin typeface="Noto Sans CJK S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solidFill>
            <a:srgbClr val="202020"/>
          </a:solidFill>
          <a:latin typeface="Noto Sans CJK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75BBB"/>
            </a:solidFill>
          </c:spPr>
          <c:dLbls>
            <c:txPr>
              <a:bodyPr/>
              <a:lstStyle/>
              <a:p>
                <a:pPr>
                  <a:defRPr sz="640">
                    <a:solidFill>
                      <a:srgbClr val="202020"/>
                    </a:solidFill>
                    <a:latin typeface="Noto Sans CJK S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19.65</c:v>
                </c:pt>
                <c:pt idx="1">
                  <c:v>20.01</c:v>
                </c:pt>
                <c:pt idx="2">
                  <c:v>19.47</c:v>
                </c:pt>
                <c:pt idx="3">
                  <c:v>22.38</c:v>
                </c:pt>
                <c:pt idx="4">
                  <c:v>19.19</c:v>
                </c:pt>
                <c:pt idx="5">
                  <c:v>17.14</c:v>
                </c:pt>
                <c:pt idx="6">
                  <c:v>16.94</c:v>
                </c:pt>
                <c:pt idx="7">
                  <c:v>17.1</c:v>
                </c:pt>
                <c:pt idx="8">
                  <c:v>17.95</c:v>
                </c:pt>
                <c:pt idx="9">
                  <c:v>19.5</c:v>
                </c:pt>
                <c:pt idx="10">
                  <c:v>19.9</c:v>
                </c:pt>
                <c:pt idx="11">
                  <c:v>21.63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F05A13"/>
            </a:solidFill>
          </c:spPr>
          <c:dLbls>
            <c:txPr>
              <a:bodyPr/>
              <a:lstStyle/>
              <a:p>
                <a:pPr>
                  <a:defRPr sz="640">
                    <a:solidFill>
                      <a:srgbClr val="202020"/>
                    </a:solidFill>
                    <a:latin typeface="Noto Sans CJK SC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18.53</c:v>
                </c:pt>
                <c:pt idx="1">
                  <c:v>17.86</c:v>
                </c:pt>
                <c:pt idx="2">
                  <c:v>18.4</c:v>
                </c:pt>
                <c:pt idx="3">
                  <c:v>12.26</c:v>
                </c:pt>
                <c:pt idx="4">
                  <c:v>12.82</c:v>
                </c:pt>
                <c:pt idx="5">
                  <c:v>13.9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8890">
            <a:solidFill>
              <a:srgbClr val="B6B6B6"/>
            </a:solidFill>
          </a:ln>
        </c:spPr>
        <c:txPr>
          <a:bodyPr/>
          <a:lstStyle/>
          <a:p>
            <a:pPr>
              <a:defRPr sz="700">
                <a:solidFill>
                  <a:srgbClr val="202020"/>
                </a:solidFill>
                <a:latin typeface="Noto Sans CJK SC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 w="8890">
            <a:solidFill>
              <a:srgbClr val="B6B6B6"/>
            </a:solidFill>
          </a:ln>
        </c:spPr>
        <c:txPr>
          <a:bodyPr/>
          <a:lstStyle/>
          <a:p>
            <a:pPr>
              <a:defRPr sz="700">
                <a:solidFill>
                  <a:srgbClr val="202020"/>
                </a:solidFill>
                <a:latin typeface="Noto Sans CJK SC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>
              <a:solidFill>
                <a:srgbClr val="202020"/>
              </a:solidFill>
              <a:latin typeface="Noto Sans CJK S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solidFill>
            <a:srgbClr val="202020"/>
          </a:solidFill>
          <a:latin typeface="Noto Sans CJK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75BBB"/>
            </a:solidFill>
          </c:spPr>
          <c:dLbls>
            <c:txPr>
              <a:bodyPr/>
              <a:lstStyle/>
              <a:p>
                <a:pPr>
                  <a:defRPr sz="640">
                    <a:solidFill>
                      <a:srgbClr val="202020"/>
                    </a:solidFill>
                    <a:latin typeface="Noto Sans CJK S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208.9</c:v>
                </c:pt>
                <c:pt idx="1">
                  <c:v>222.5</c:v>
                </c:pt>
                <c:pt idx="2">
                  <c:v>220.8</c:v>
                </c:pt>
                <c:pt idx="3">
                  <c:v>253.3</c:v>
                </c:pt>
                <c:pt idx="4">
                  <c:v>290.3</c:v>
                </c:pt>
                <c:pt idx="5">
                  <c:v>332.8</c:v>
                </c:pt>
                <c:pt idx="6">
                  <c:v>224.0</c:v>
                </c:pt>
                <c:pt idx="7">
                  <c:v>232.9</c:v>
                </c:pt>
                <c:pt idx="8">
                  <c:v>236.0</c:v>
                </c:pt>
                <c:pt idx="9">
                  <c:v>230.0</c:v>
                </c:pt>
                <c:pt idx="10">
                  <c:v>221.7</c:v>
                </c:pt>
                <c:pt idx="11">
                  <c:v>265.5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F05A13"/>
            </a:solidFill>
          </c:spPr>
          <c:dLbls>
            <c:txPr>
              <a:bodyPr/>
              <a:lstStyle/>
              <a:p>
                <a:pPr>
                  <a:defRPr sz="640">
                    <a:solidFill>
                      <a:srgbClr val="202020"/>
                    </a:solidFill>
                    <a:latin typeface="Noto Sans CJK SC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208.9</c:v>
                </c:pt>
                <c:pt idx="1">
                  <c:v>230.3</c:v>
                </c:pt>
                <c:pt idx="2">
                  <c:v>220.8</c:v>
                </c:pt>
                <c:pt idx="3">
                  <c:v>248.3</c:v>
                </c:pt>
                <c:pt idx="4">
                  <c:v>232.7</c:v>
                </c:pt>
                <c:pt idx="5">
                  <c:v>243.2</c:v>
                </c:pt>
                <c:pt idx="6">
                  <c:v>224.0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8890">
            <a:solidFill>
              <a:srgbClr val="B6B6B6"/>
            </a:solidFill>
          </a:ln>
        </c:spPr>
        <c:txPr>
          <a:bodyPr/>
          <a:lstStyle/>
          <a:p>
            <a:pPr>
              <a:defRPr sz="700">
                <a:solidFill>
                  <a:srgbClr val="202020"/>
                </a:solidFill>
                <a:latin typeface="Noto Sans CJK SC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 w="8890">
            <a:solidFill>
              <a:srgbClr val="B6B6B6"/>
            </a:solidFill>
          </a:ln>
        </c:spPr>
        <c:txPr>
          <a:bodyPr/>
          <a:lstStyle/>
          <a:p>
            <a:pPr>
              <a:defRPr sz="700">
                <a:solidFill>
                  <a:srgbClr val="202020"/>
                </a:solidFill>
                <a:latin typeface="Noto Sans CJK SC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>
              <a:solidFill>
                <a:srgbClr val="202020"/>
              </a:solidFill>
              <a:latin typeface="Noto Sans CJK S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solidFill>
            <a:srgbClr val="202020"/>
          </a:solidFill>
          <a:latin typeface="Noto Sans CJK S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依据固定参考图 task-mt0wdfjx4y91c 重建；全部正式文字、图表、表格和主体对象可编辑。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.xml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3.png"/><Relationship Id="rId9" Type="http://schemas.openxmlformats.org/officeDocument/2006/relationships/image" Target="../media/image4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Relationship Id="rId12" Type="http://schemas.openxmlformats.org/officeDocument/2006/relationships/image" Target="../media/image7.png"/><Relationship Id="rId13" Type="http://schemas.openxmlformats.org/officeDocument/2006/relationships/image" Target="../media/image8.png"/><Relationship Id="rId14" Type="http://schemas.openxmlformats.org/officeDocument/2006/relationships/image" Target="../media/image9.png"/><Relationship Id="rId15" Type="http://schemas.openxmlformats.org/officeDocument/2006/relationships/image" Target="../media/image10.png"/><Relationship Id="rId16" Type="http://schemas.openxmlformats.org/officeDocument/2006/relationships/image" Target="../media/image11.png"/><Relationship Id="rId17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nvas"/>
          <p:cNvSpPr/>
          <p:nvPr/>
        </p:nvSpPr>
        <p:spPr>
          <a:xfrm>
            <a:off x="0" y="0"/>
            <a:ext cx="12191695" cy="68625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ader-red"/>
          <p:cNvSpPr/>
          <p:nvPr/>
        </p:nvSpPr>
        <p:spPr>
          <a:xfrm>
            <a:off x="0" y="0"/>
            <a:ext cx="12191695" cy="905859"/>
          </a:xfrm>
          <a:prstGeom prst="rect">
            <a:avLst/>
          </a:prstGeom>
          <a:solidFill>
            <a:srgbClr val="C6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ader-layer"/>
          <p:cNvSpPr/>
          <p:nvPr/>
        </p:nvSpPr>
        <p:spPr>
          <a:xfrm>
            <a:off x="5730096" y="0"/>
            <a:ext cx="2926006" cy="892134"/>
          </a:xfrm>
          <a:prstGeom prst="parallelogram">
            <a:avLst/>
          </a:prstGeom>
          <a:solidFill>
            <a:srgbClr val="D90909">
              <a:alpha val="5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ag"/>
          <p:cNvSpPr/>
          <p:nvPr/>
        </p:nvSpPr>
        <p:spPr>
          <a:xfrm>
            <a:off x="158492" y="54900"/>
            <a:ext cx="390134" cy="796058"/>
          </a:xfrm>
          <a:prstGeom prst="roundRect">
            <a:avLst/>
          </a:prstGeom>
          <a:solidFill>
            <a:srgbClr val="DF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mmary-card"/>
          <p:cNvSpPr/>
          <p:nvPr/>
        </p:nvSpPr>
        <p:spPr>
          <a:xfrm>
            <a:off x="390134" y="995072"/>
            <a:ext cx="11411426" cy="65194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ummary-bullet"/>
          <p:cNvSpPr/>
          <p:nvPr/>
        </p:nvSpPr>
        <p:spPr>
          <a:xfrm>
            <a:off x="1621495" y="1159774"/>
            <a:ext cx="121916" cy="116663"/>
          </a:xfrm>
          <a:prstGeom prst="rect">
            <a:avLst/>
          </a:prstGeom>
          <a:solidFill>
            <a:srgbClr val="D5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nel-1"/>
          <p:cNvSpPr/>
          <p:nvPr/>
        </p:nvSpPr>
        <p:spPr>
          <a:xfrm>
            <a:off x="353559" y="1736230"/>
            <a:ext cx="3791617" cy="471458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90B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nel-1-band"/>
          <p:cNvSpPr/>
          <p:nvPr/>
        </p:nvSpPr>
        <p:spPr>
          <a:xfrm>
            <a:off x="365750" y="1743093"/>
            <a:ext cx="3767233" cy="473517"/>
          </a:xfrm>
          <a:prstGeom prst="rect">
            <a:avLst/>
          </a:prstGeom>
          <a:solidFill>
            <a:srgbClr val="EA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-2"/>
          <p:cNvSpPr/>
          <p:nvPr/>
        </p:nvSpPr>
        <p:spPr>
          <a:xfrm>
            <a:off x="4254901" y="1736230"/>
            <a:ext cx="3669700" cy="471458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8C6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nel-2-band"/>
          <p:cNvSpPr/>
          <p:nvPr/>
        </p:nvSpPr>
        <p:spPr>
          <a:xfrm>
            <a:off x="4267093" y="1743093"/>
            <a:ext cx="3645316" cy="473517"/>
          </a:xfrm>
          <a:prstGeom prst="rect">
            <a:avLst/>
          </a:prstGeom>
          <a:solidFill>
            <a:srgbClr val="FF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-3"/>
          <p:cNvSpPr/>
          <p:nvPr/>
        </p:nvSpPr>
        <p:spPr>
          <a:xfrm>
            <a:off x="8046518" y="1736230"/>
            <a:ext cx="3779425" cy="471458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7B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nel-3-band"/>
          <p:cNvSpPr/>
          <p:nvPr/>
        </p:nvSpPr>
        <p:spPr>
          <a:xfrm>
            <a:off x="8058710" y="1743093"/>
            <a:ext cx="3755042" cy="473517"/>
          </a:xfrm>
          <a:prstGeom prst="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1"/>
          <p:cNvSpPr/>
          <p:nvPr/>
        </p:nvSpPr>
        <p:spPr>
          <a:xfrm>
            <a:off x="499859" y="1784268"/>
            <a:ext cx="402325" cy="398029"/>
          </a:xfrm>
          <a:prstGeom prst="ellipse">
            <a:avLst/>
          </a:prstGeom>
          <a:solidFill>
            <a:srgbClr val="075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2"/>
          <p:cNvSpPr/>
          <p:nvPr/>
        </p:nvSpPr>
        <p:spPr>
          <a:xfrm>
            <a:off x="4425585" y="1784268"/>
            <a:ext cx="402325" cy="398029"/>
          </a:xfrm>
          <a:prstGeom prst="ellipse">
            <a:avLst/>
          </a:prstGeom>
          <a:solidFill>
            <a:srgbClr val="F05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3"/>
          <p:cNvSpPr/>
          <p:nvPr/>
        </p:nvSpPr>
        <p:spPr>
          <a:xfrm>
            <a:off x="8192819" y="1784268"/>
            <a:ext cx="402325" cy="398029"/>
          </a:xfrm>
          <a:prstGeom prst="ellipse">
            <a:avLst/>
          </a:prstGeom>
          <a:solidFill>
            <a:srgbClr val="D6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atus1"/>
          <p:cNvSpPr/>
          <p:nvPr/>
        </p:nvSpPr>
        <p:spPr>
          <a:xfrm>
            <a:off x="451092" y="3973429"/>
            <a:ext cx="1511770" cy="411754"/>
          </a:xfrm>
          <a:prstGeom prst="round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oal1"/>
          <p:cNvSpPr/>
          <p:nvPr/>
        </p:nvSpPr>
        <p:spPr>
          <a:xfrm>
            <a:off x="2389572" y="3973429"/>
            <a:ext cx="1670262" cy="411754"/>
          </a:xfrm>
          <a:prstGeom prst="roundRect">
            <a:avLst/>
          </a:prstGeom>
          <a:solidFill>
            <a:srgbClr val="D7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us2"/>
          <p:cNvSpPr/>
          <p:nvPr/>
        </p:nvSpPr>
        <p:spPr>
          <a:xfrm>
            <a:off x="4449968" y="4213619"/>
            <a:ext cx="1048485" cy="398029"/>
          </a:xfrm>
          <a:prstGeom prst="round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oal2"/>
          <p:cNvSpPr/>
          <p:nvPr/>
        </p:nvSpPr>
        <p:spPr>
          <a:xfrm>
            <a:off x="6132422" y="4213619"/>
            <a:ext cx="1694645" cy="398029"/>
          </a:xfrm>
          <a:prstGeom prst="roundRect">
            <a:avLst/>
          </a:prstGeom>
          <a:solidFill>
            <a:srgbClr val="D7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atus3"/>
          <p:cNvSpPr/>
          <p:nvPr/>
        </p:nvSpPr>
        <p:spPr>
          <a:xfrm>
            <a:off x="8241585" y="4213619"/>
            <a:ext cx="1243552" cy="398029"/>
          </a:xfrm>
          <a:prstGeom prst="round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oal3"/>
          <p:cNvSpPr/>
          <p:nvPr/>
        </p:nvSpPr>
        <p:spPr>
          <a:xfrm>
            <a:off x="10009381" y="4213619"/>
            <a:ext cx="1658070" cy="398029"/>
          </a:xfrm>
          <a:prstGeom prst="roundRect">
            <a:avLst/>
          </a:prstGeom>
          <a:solidFill>
            <a:srgbClr val="D7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rrow1"/>
          <p:cNvSpPr/>
          <p:nvPr/>
        </p:nvSpPr>
        <p:spPr>
          <a:xfrm>
            <a:off x="2060396" y="4090092"/>
            <a:ext cx="207258" cy="171564"/>
          </a:xfrm>
          <a:prstGeom prst="chevron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rrow2"/>
          <p:cNvSpPr/>
          <p:nvPr/>
        </p:nvSpPr>
        <p:spPr>
          <a:xfrm>
            <a:off x="5815438" y="4344008"/>
            <a:ext cx="207258" cy="171564"/>
          </a:xfrm>
          <a:prstGeom prst="chevron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rrow3"/>
          <p:cNvSpPr/>
          <p:nvPr/>
        </p:nvSpPr>
        <p:spPr>
          <a:xfrm>
            <a:off x="9680205" y="4344008"/>
            <a:ext cx="207258" cy="171564"/>
          </a:xfrm>
          <a:prstGeom prst="chevron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and1"/>
          <p:cNvSpPr/>
          <p:nvPr/>
        </p:nvSpPr>
        <p:spPr>
          <a:xfrm>
            <a:off x="390134" y="4467534"/>
            <a:ext cx="3706275" cy="233327"/>
          </a:xfrm>
          <a:prstGeom prst="rect">
            <a:avLst/>
          </a:prstGeom>
          <a:solidFill>
            <a:srgbClr val="E7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and2"/>
          <p:cNvSpPr/>
          <p:nvPr/>
        </p:nvSpPr>
        <p:spPr>
          <a:xfrm>
            <a:off x="4291476" y="4714586"/>
            <a:ext cx="3584358" cy="233327"/>
          </a:xfrm>
          <a:prstGeom prst="rect">
            <a:avLst/>
          </a:prstGeom>
          <a:solidFill>
            <a:srgbClr val="FFF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and3"/>
          <p:cNvSpPr/>
          <p:nvPr/>
        </p:nvSpPr>
        <p:spPr>
          <a:xfrm>
            <a:off x="8083093" y="4714586"/>
            <a:ext cx="3694083" cy="233327"/>
          </a:xfrm>
          <a:prstGeom prst="rect">
            <a:avLst/>
          </a:prstGeom>
          <a:solidFill>
            <a:srgbClr val="F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able-value-item-1-background"/>
          <p:cNvSpPr/>
          <p:nvPr/>
        </p:nvSpPr>
        <p:spPr>
          <a:xfrm>
            <a:off x="390134" y="4700861"/>
            <a:ext cx="3706275" cy="5558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table-value-item-1-separator"/>
          <p:cNvCxnSpPr/>
          <p:nvPr/>
        </p:nvCxnSpPr>
        <p:spPr>
          <a:xfrm>
            <a:off x="1438620" y="4700861"/>
            <a:ext cx="0" cy="555869"/>
          </a:xfrm>
          <a:prstGeom prst="line">
            <a:avLst/>
          </a:prstGeom>
          <a:ln w="6350">
            <a:solidFill>
              <a:srgbClr val="D6E2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able-value-item-2-background"/>
          <p:cNvSpPr/>
          <p:nvPr/>
        </p:nvSpPr>
        <p:spPr>
          <a:xfrm>
            <a:off x="390134" y="5256730"/>
            <a:ext cx="3706275" cy="5558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table-value-item-2-separator"/>
          <p:cNvCxnSpPr/>
          <p:nvPr/>
        </p:nvCxnSpPr>
        <p:spPr>
          <a:xfrm>
            <a:off x="1438620" y="5256730"/>
            <a:ext cx="0" cy="555868"/>
          </a:xfrm>
          <a:prstGeom prst="line">
            <a:avLst/>
          </a:prstGeom>
          <a:ln w="6350">
            <a:solidFill>
              <a:srgbClr val="D6E2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able-value-item-3-background"/>
          <p:cNvSpPr/>
          <p:nvPr/>
        </p:nvSpPr>
        <p:spPr>
          <a:xfrm>
            <a:off x="390134" y="5812598"/>
            <a:ext cx="3706275" cy="562730"/>
          </a:xfrm>
          <a:prstGeom prst="rect">
            <a:avLst/>
          </a:prstGeom>
          <a:solidFill>
            <a:srgbClr val="FFFFFF"/>
          </a:solidFill>
          <a:ln w="6350">
            <a:solidFill>
              <a:srgbClr val="D6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table-value-item-3-separator"/>
          <p:cNvCxnSpPr/>
          <p:nvPr/>
        </p:nvCxnSpPr>
        <p:spPr>
          <a:xfrm>
            <a:off x="1438620" y="5812598"/>
            <a:ext cx="0" cy="562731"/>
          </a:xfrm>
          <a:prstGeom prst="line">
            <a:avLst/>
          </a:prstGeom>
          <a:ln w="6350">
            <a:solidFill>
              <a:srgbClr val="D6E2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able-downgrade-item-1-background"/>
          <p:cNvSpPr/>
          <p:nvPr/>
        </p:nvSpPr>
        <p:spPr>
          <a:xfrm>
            <a:off x="4291476" y="4947914"/>
            <a:ext cx="3584358" cy="713707"/>
          </a:xfrm>
          <a:prstGeom prst="rect">
            <a:avLst/>
          </a:prstGeom>
          <a:solidFill>
            <a:srgbClr val="FFFFFF"/>
          </a:solidFill>
          <a:ln w="6350">
            <a:solidFill>
              <a:srgbClr val="F0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table-downgrade-item-1-separator"/>
          <p:cNvCxnSpPr/>
          <p:nvPr/>
        </p:nvCxnSpPr>
        <p:spPr>
          <a:xfrm>
            <a:off x="5352154" y="4947914"/>
            <a:ext cx="0" cy="713707"/>
          </a:xfrm>
          <a:prstGeom prst="line">
            <a:avLst/>
          </a:prstGeom>
          <a:ln w="6350">
            <a:solidFill>
              <a:srgbClr val="F0DC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able-downgrade-item-2-background"/>
          <p:cNvSpPr/>
          <p:nvPr/>
        </p:nvSpPr>
        <p:spPr>
          <a:xfrm>
            <a:off x="4291476" y="5661621"/>
            <a:ext cx="3584358" cy="713707"/>
          </a:xfrm>
          <a:prstGeom prst="rect">
            <a:avLst/>
          </a:prstGeom>
          <a:solidFill>
            <a:srgbClr val="FFFFFF"/>
          </a:solidFill>
          <a:ln w="6350">
            <a:solidFill>
              <a:srgbClr val="F0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table-downgrade-item-2-separator"/>
          <p:cNvCxnSpPr/>
          <p:nvPr/>
        </p:nvCxnSpPr>
        <p:spPr>
          <a:xfrm>
            <a:off x="5352154" y="5661621"/>
            <a:ext cx="0" cy="713708"/>
          </a:xfrm>
          <a:prstGeom prst="line">
            <a:avLst/>
          </a:prstGeom>
          <a:ln w="6350">
            <a:solidFill>
              <a:srgbClr val="F0DC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able-churn-item-1-background"/>
          <p:cNvSpPr/>
          <p:nvPr/>
        </p:nvSpPr>
        <p:spPr>
          <a:xfrm>
            <a:off x="8083093" y="4947914"/>
            <a:ext cx="3694083" cy="473517"/>
          </a:xfrm>
          <a:prstGeom prst="rect">
            <a:avLst/>
          </a:prstGeom>
          <a:solidFill>
            <a:srgbClr val="FFFFFF"/>
          </a:solidFill>
          <a:ln w="6350">
            <a:solidFill>
              <a:srgbClr val="EFD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table-churn-item-1-separator"/>
          <p:cNvCxnSpPr/>
          <p:nvPr/>
        </p:nvCxnSpPr>
        <p:spPr>
          <a:xfrm>
            <a:off x="9155962" y="4947914"/>
            <a:ext cx="0" cy="473517"/>
          </a:xfrm>
          <a:prstGeom prst="line">
            <a:avLst/>
          </a:prstGeom>
          <a:ln w="6350">
            <a:solidFill>
              <a:srgbClr val="EFD5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able-churn-item-2-background"/>
          <p:cNvSpPr/>
          <p:nvPr/>
        </p:nvSpPr>
        <p:spPr>
          <a:xfrm>
            <a:off x="8083093" y="5421431"/>
            <a:ext cx="3694083" cy="473517"/>
          </a:xfrm>
          <a:prstGeom prst="rect">
            <a:avLst/>
          </a:prstGeom>
          <a:solidFill>
            <a:srgbClr val="FFFFFF"/>
          </a:solidFill>
          <a:ln w="6350">
            <a:solidFill>
              <a:srgbClr val="EFD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table-churn-item-2-separator"/>
          <p:cNvCxnSpPr/>
          <p:nvPr/>
        </p:nvCxnSpPr>
        <p:spPr>
          <a:xfrm>
            <a:off x="9155962" y="5421431"/>
            <a:ext cx="0" cy="473518"/>
          </a:xfrm>
          <a:prstGeom prst="line">
            <a:avLst/>
          </a:prstGeom>
          <a:ln w="6350">
            <a:solidFill>
              <a:srgbClr val="EFD5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able-churn-item-3-background"/>
          <p:cNvSpPr/>
          <p:nvPr/>
        </p:nvSpPr>
        <p:spPr>
          <a:xfrm>
            <a:off x="8083093" y="5894949"/>
            <a:ext cx="3694083" cy="480380"/>
          </a:xfrm>
          <a:prstGeom prst="rect">
            <a:avLst/>
          </a:prstGeom>
          <a:solidFill>
            <a:srgbClr val="FFFFFF"/>
          </a:solidFill>
          <a:ln w="6350">
            <a:solidFill>
              <a:srgbClr val="EFD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table-churn-item-3-separator"/>
          <p:cNvCxnSpPr/>
          <p:nvPr/>
        </p:nvCxnSpPr>
        <p:spPr>
          <a:xfrm>
            <a:off x="9155962" y="5894949"/>
            <a:ext cx="0" cy="480380"/>
          </a:xfrm>
          <a:prstGeom prst="line">
            <a:avLst/>
          </a:prstGeom>
          <a:ln w="6350">
            <a:solidFill>
              <a:srgbClr val="EFD5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chart-value"/>
          <p:cNvGraphicFramePr>
            <a:graphicFrameLocks noGrp="1"/>
          </p:cNvGraphicFramePr>
          <p:nvPr/>
        </p:nvGraphicFramePr>
        <p:xfrm>
          <a:off x="475476" y="2456800"/>
          <a:ext cx="3596550" cy="14411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6" name="chart-downgrade"/>
          <p:cNvGraphicFramePr>
            <a:graphicFrameLocks noGrp="1"/>
          </p:cNvGraphicFramePr>
          <p:nvPr/>
        </p:nvGraphicFramePr>
        <p:xfrm>
          <a:off x="4389010" y="2456800"/>
          <a:ext cx="3450249" cy="163329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7" name="chart-churn"/>
          <p:cNvGraphicFramePr>
            <a:graphicFrameLocks noGrp="1"/>
          </p:cNvGraphicFramePr>
          <p:nvPr/>
        </p:nvGraphicFramePr>
        <p:xfrm>
          <a:off x="8205010" y="2456800"/>
          <a:ext cx="3523399" cy="163329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48" name="brand-logo" descr="中国联通品牌标识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6640" y="171564"/>
            <a:ext cx="1731220" cy="542143"/>
          </a:xfrm>
          <a:prstGeom prst="rect">
            <a:avLst/>
          </a:prstGeom>
        </p:spPr>
      </p:pic>
      <p:pic>
        <p:nvPicPr>
          <p:cNvPr id="49" name="icon-header-bars" descr="提价值柱状图标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6824" y="1818581"/>
            <a:ext cx="414517" cy="288228"/>
          </a:xfrm>
          <a:prstGeom prst="rect">
            <a:avLst/>
          </a:prstGeom>
        </p:spPr>
      </p:pic>
      <p:pic>
        <p:nvPicPr>
          <p:cNvPr id="50" name="icon-header-bulb" descr="控降套灯泡图标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1592" y="1818581"/>
            <a:ext cx="365750" cy="308815"/>
          </a:xfrm>
          <a:prstGeom prst="rect">
            <a:avLst/>
          </a:prstGeom>
        </p:spPr>
      </p:pic>
      <p:pic>
        <p:nvPicPr>
          <p:cNvPr id="51" name="icon-header-shield" descr="控流失盾牌图标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1701" y="1811719"/>
            <a:ext cx="341367" cy="322540"/>
          </a:xfrm>
          <a:prstGeom prst="rect">
            <a:avLst/>
          </a:prstGeom>
        </p:spPr>
      </p:pic>
      <p:pic>
        <p:nvPicPr>
          <p:cNvPr id="52" name="icon-value-user" descr="用户提值图标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9859" y="4810662"/>
            <a:ext cx="316984" cy="274502"/>
          </a:xfrm>
          <a:prstGeom prst="rect">
            <a:avLst/>
          </a:prstGeom>
        </p:spPr>
      </p:pic>
      <p:pic>
        <p:nvPicPr>
          <p:cNvPr id="53" name="icon-value-layers" descr="提值规模图标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859" y="5393981"/>
            <a:ext cx="316984" cy="260777"/>
          </a:xfrm>
          <a:prstGeom prst="rect">
            <a:avLst/>
          </a:prstGeom>
        </p:spPr>
      </p:pic>
      <p:pic>
        <p:nvPicPr>
          <p:cNvPr id="54" name="icon-value-team" descr="营销组织图标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9859" y="5956712"/>
            <a:ext cx="341367" cy="233327"/>
          </a:xfrm>
          <a:prstGeom prst="rect">
            <a:avLst/>
          </a:prstGeom>
        </p:spPr>
      </p:pic>
      <p:pic>
        <p:nvPicPr>
          <p:cNvPr id="55" name="icon-down-target" descr="持续优化策略图标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76818" y="5092028"/>
            <a:ext cx="365750" cy="295090"/>
          </a:xfrm>
          <a:prstGeom prst="rect">
            <a:avLst/>
          </a:prstGeom>
        </p:spPr>
      </p:pic>
      <p:pic>
        <p:nvPicPr>
          <p:cNvPr id="56" name="icon-down-team" descr="营销组织图标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76818" y="5812598"/>
            <a:ext cx="365750" cy="240190"/>
          </a:xfrm>
          <a:prstGeom prst="rect">
            <a:avLst/>
          </a:prstGeom>
        </p:spPr>
      </p:pic>
      <p:pic>
        <p:nvPicPr>
          <p:cNvPr id="57" name="icon-churn-growth" descr="发展质量图标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92819" y="5092028"/>
            <a:ext cx="341367" cy="274502"/>
          </a:xfrm>
          <a:prstGeom prst="rect">
            <a:avLst/>
          </a:prstGeom>
        </p:spPr>
      </p:pic>
      <p:pic>
        <p:nvPicPr>
          <p:cNvPr id="58" name="icon-churn-handshake" descr="前置维系图标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92819" y="5565545"/>
            <a:ext cx="341367" cy="274502"/>
          </a:xfrm>
          <a:prstGeom prst="rect">
            <a:avLst/>
          </a:prstGeom>
        </p:spPr>
      </p:pic>
      <p:pic>
        <p:nvPicPr>
          <p:cNvPr id="59" name="icon-churn-team" descr="事后回捞图标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92819" y="6039063"/>
            <a:ext cx="341367" cy="274502"/>
          </a:xfrm>
          <a:prstGeom prst="rect">
            <a:avLst/>
          </a:prstGeom>
        </p:spPr>
      </p:pic>
      <p:sp>
        <p:nvSpPr>
          <p:cNvPr id="60" name="tag-text"/>
          <p:cNvSpPr txBox="1"/>
          <p:nvPr/>
        </p:nvSpPr>
        <p:spPr>
          <a:xfrm>
            <a:off x="182875" y="137251"/>
            <a:ext cx="341367" cy="651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推进</a:t>
            </a:r>
          </a:p>
          <a:p>
            <a:pPr algn="ctr"/>
            <a:r>
              <a:rPr sz="110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措施</a:t>
            </a:r>
          </a:p>
        </p:txBody>
      </p:sp>
      <p:sp>
        <p:nvSpPr>
          <p:cNvPr id="61" name="title"/>
          <p:cNvSpPr txBox="1"/>
          <p:nvPr/>
        </p:nvSpPr>
        <p:spPr>
          <a:xfrm>
            <a:off x="694926" y="144114"/>
            <a:ext cx="6705432" cy="603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3.5  策略精准化保价值</a:t>
            </a:r>
          </a:p>
        </p:txBody>
      </p:sp>
      <p:sp>
        <p:nvSpPr>
          <p:cNvPr id="62" name="summary"/>
          <p:cNvSpPr txBox="1"/>
          <p:nvPr/>
        </p:nvSpPr>
        <p:spPr>
          <a:xfrm>
            <a:off x="1914096" y="1077423"/>
            <a:ext cx="8534186" cy="480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7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1号文谋划目标增收3500万元，截止7月份，整体达到序时进度，流失与降套符合预期，提值缺口80万元，</a:t>
            </a:r>
          </a:p>
          <a:p>
            <a:pPr algn="ctr"/>
            <a:r>
              <a:rPr sz="127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下半年聚焦提值增速，保规模，户均提值增长3元，确保全年目标达成。</a:t>
            </a:r>
          </a:p>
        </p:txBody>
      </p:sp>
      <p:sp>
        <p:nvSpPr>
          <p:cNvPr id="63" name="num1"/>
          <p:cNvSpPr txBox="1"/>
          <p:nvPr/>
        </p:nvSpPr>
        <p:spPr>
          <a:xfrm>
            <a:off x="499859" y="1839169"/>
            <a:ext cx="402325" cy="274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4" name="num2"/>
          <p:cNvSpPr txBox="1"/>
          <p:nvPr/>
        </p:nvSpPr>
        <p:spPr>
          <a:xfrm>
            <a:off x="4425585" y="1839169"/>
            <a:ext cx="402325" cy="274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65" name="num3"/>
          <p:cNvSpPr txBox="1"/>
          <p:nvPr/>
        </p:nvSpPr>
        <p:spPr>
          <a:xfrm>
            <a:off x="8192819" y="1839169"/>
            <a:ext cx="402325" cy="274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66" name="panel-title1"/>
          <p:cNvSpPr txBox="1"/>
          <p:nvPr/>
        </p:nvSpPr>
        <p:spPr>
          <a:xfrm>
            <a:off x="1085060" y="1852894"/>
            <a:ext cx="1584920" cy="274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75BBB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提价值</a:t>
            </a:r>
          </a:p>
        </p:txBody>
      </p:sp>
      <p:sp>
        <p:nvSpPr>
          <p:cNvPr id="67" name="panel-title2"/>
          <p:cNvSpPr txBox="1"/>
          <p:nvPr/>
        </p:nvSpPr>
        <p:spPr>
          <a:xfrm>
            <a:off x="5071745" y="1852894"/>
            <a:ext cx="1584920" cy="274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05A13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控降套</a:t>
            </a:r>
          </a:p>
        </p:txBody>
      </p:sp>
      <p:sp>
        <p:nvSpPr>
          <p:cNvPr id="68" name="panel-title3"/>
          <p:cNvSpPr txBox="1"/>
          <p:nvPr/>
        </p:nvSpPr>
        <p:spPr>
          <a:xfrm>
            <a:off x="8863362" y="1852894"/>
            <a:ext cx="1584920" cy="274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6000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控流失</a:t>
            </a:r>
          </a:p>
        </p:txBody>
      </p:sp>
      <p:sp>
        <p:nvSpPr>
          <p:cNvPr id="69" name="chart-title1"/>
          <p:cNvSpPr txBox="1"/>
          <p:nvPr/>
        </p:nvSpPr>
        <p:spPr>
          <a:xfrm>
            <a:off x="804651" y="2285236"/>
            <a:ext cx="2194505" cy="171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套餐适配提值增收情况（万元）</a:t>
            </a:r>
          </a:p>
        </p:txBody>
      </p:sp>
      <p:sp>
        <p:nvSpPr>
          <p:cNvPr id="70" name="chart-title2"/>
          <p:cNvSpPr txBox="1"/>
          <p:nvPr/>
        </p:nvSpPr>
        <p:spPr>
          <a:xfrm>
            <a:off x="4779144" y="2285236"/>
            <a:ext cx="2438339" cy="171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月度降套用户降收金额（万元）</a:t>
            </a:r>
          </a:p>
        </p:txBody>
      </p:sp>
      <p:sp>
        <p:nvSpPr>
          <p:cNvPr id="71" name="chart-title3"/>
          <p:cNvSpPr txBox="1"/>
          <p:nvPr/>
        </p:nvSpPr>
        <p:spPr>
          <a:xfrm>
            <a:off x="8497611" y="2285236"/>
            <a:ext cx="2438339" cy="171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出账流失收入（单位：万元）</a:t>
            </a:r>
          </a:p>
        </p:txBody>
      </p:sp>
      <p:sp>
        <p:nvSpPr>
          <p:cNvPr id="72" name="status1-text"/>
          <p:cNvSpPr txBox="1"/>
          <p:nvPr/>
        </p:nvSpPr>
        <p:spPr>
          <a:xfrm>
            <a:off x="524242" y="4021467"/>
            <a:ext cx="1365469" cy="3294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现状：提值增速放缓，</a:t>
            </a:r>
          </a:p>
          <a:p>
            <a:pPr algn="ctr"/>
            <a:r>
              <a:rPr sz="950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累计有缺口</a:t>
            </a:r>
          </a:p>
        </p:txBody>
      </p:sp>
      <p:sp>
        <p:nvSpPr>
          <p:cNvPr id="73" name="goal1-text"/>
          <p:cNvSpPr txBox="1"/>
          <p:nvPr/>
        </p:nvSpPr>
        <p:spPr>
          <a:xfrm>
            <a:off x="2462722" y="4021467"/>
            <a:ext cx="1511770" cy="3294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目标：保持规模，户均提值</a:t>
            </a:r>
          </a:p>
          <a:p>
            <a:pPr algn="ctr"/>
            <a:r>
              <a:rPr sz="95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增3元，保底45万元/月</a:t>
            </a:r>
          </a:p>
        </p:txBody>
      </p:sp>
      <p:sp>
        <p:nvSpPr>
          <p:cNvPr id="74" name="status2-text"/>
          <p:cNvSpPr txBox="1"/>
          <p:nvPr/>
        </p:nvSpPr>
        <p:spPr>
          <a:xfrm>
            <a:off x="4498735" y="4261657"/>
            <a:ext cx="950952" cy="308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现状：趋势向好，</a:t>
            </a:r>
          </a:p>
          <a:p>
            <a:pPr algn="ctr"/>
            <a:r>
              <a:rPr sz="919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略有波动</a:t>
            </a:r>
          </a:p>
        </p:txBody>
      </p:sp>
      <p:sp>
        <p:nvSpPr>
          <p:cNvPr id="75" name="goal2-text"/>
          <p:cNvSpPr txBox="1"/>
          <p:nvPr/>
        </p:nvSpPr>
        <p:spPr>
          <a:xfrm>
            <a:off x="6217764" y="4295970"/>
            <a:ext cx="1523961" cy="219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目标：平稳下降，防止反弹</a:t>
            </a:r>
          </a:p>
        </p:txBody>
      </p:sp>
      <p:sp>
        <p:nvSpPr>
          <p:cNvPr id="76" name="status3-text"/>
          <p:cNvSpPr txBox="1"/>
          <p:nvPr/>
        </p:nvSpPr>
        <p:spPr>
          <a:xfrm>
            <a:off x="8302544" y="4261657"/>
            <a:ext cx="1109444" cy="308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现状：趋势向好，</a:t>
            </a:r>
          </a:p>
          <a:p>
            <a:pPr algn="ctr"/>
            <a:r>
              <a:rPr sz="919" b="1" i="0">
                <a:solidFill>
                  <a:srgbClr val="20202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仍在高位</a:t>
            </a:r>
          </a:p>
        </p:txBody>
      </p:sp>
      <p:sp>
        <p:nvSpPr>
          <p:cNvPr id="77" name="goal3-text"/>
          <p:cNvSpPr txBox="1"/>
          <p:nvPr/>
        </p:nvSpPr>
        <p:spPr>
          <a:xfrm>
            <a:off x="10094723" y="4261657"/>
            <a:ext cx="1487386" cy="308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目标：保持趋势，</a:t>
            </a:r>
          </a:p>
          <a:p>
            <a:pPr algn="ctr"/>
            <a:r>
              <a:rPr sz="950" b="1" i="0">
                <a:solidFill>
                  <a:srgbClr val="FFFFFF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持续压降10%</a:t>
            </a:r>
          </a:p>
        </p:txBody>
      </p:sp>
      <p:sp>
        <p:nvSpPr>
          <p:cNvPr id="78" name="band1-text"/>
          <p:cNvSpPr txBox="1"/>
          <p:nvPr/>
        </p:nvSpPr>
        <p:spPr>
          <a:xfrm>
            <a:off x="1219169" y="4501847"/>
            <a:ext cx="2072588" cy="171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75BBB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提值增速保障举措</a:t>
            </a:r>
          </a:p>
        </p:txBody>
      </p:sp>
      <p:sp>
        <p:nvSpPr>
          <p:cNvPr id="79" name="band2-text"/>
          <p:cNvSpPr txBox="1"/>
          <p:nvPr/>
        </p:nvSpPr>
        <p:spPr>
          <a:xfrm>
            <a:off x="5120511" y="4748899"/>
            <a:ext cx="2072588" cy="171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05A13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降套压降保障举措</a:t>
            </a:r>
          </a:p>
        </p:txBody>
      </p:sp>
      <p:sp>
        <p:nvSpPr>
          <p:cNvPr id="80" name="band3-text"/>
          <p:cNvSpPr txBox="1"/>
          <p:nvPr/>
        </p:nvSpPr>
        <p:spPr>
          <a:xfrm>
            <a:off x="8899937" y="4748899"/>
            <a:ext cx="2072588" cy="171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D6000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流失改善保障举措</a:t>
            </a:r>
          </a:p>
        </p:txBody>
      </p:sp>
      <p:sp>
        <p:nvSpPr>
          <p:cNvPr id="81" name="table-value-item-1-title"/>
          <p:cNvSpPr txBox="1"/>
          <p:nvPr/>
        </p:nvSpPr>
        <p:spPr>
          <a:xfrm>
            <a:off x="853418" y="4769487"/>
            <a:ext cx="548626" cy="4323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1" i="0">
                <a:solidFill>
                  <a:srgbClr val="075BBB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户均提3元</a:t>
            </a:r>
          </a:p>
          <a:p>
            <a:pPr algn="l"/>
            <a:r>
              <a:rPr sz="880" b="1" i="0">
                <a:solidFill>
                  <a:srgbClr val="075BBB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从哪来？</a:t>
            </a:r>
          </a:p>
        </p:txBody>
      </p:sp>
      <p:sp>
        <p:nvSpPr>
          <p:cNvPr id="82" name="table-value-item-1-body"/>
          <p:cNvSpPr txBox="1"/>
          <p:nvPr/>
        </p:nvSpPr>
        <p:spPr>
          <a:xfrm>
            <a:off x="1511770" y="4748899"/>
            <a:ext cx="2535872" cy="459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▸ 存量+R：由2971提升至3500户。</a:t>
            </a:r>
          </a:p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▸ 提值30元以上FTTR/金融同装率：由41%提升至48%。</a:t>
            </a:r>
          </a:p>
        </p:txBody>
      </p:sp>
      <p:sp>
        <p:nvSpPr>
          <p:cNvPr id="83" name="table-value-item-2-title"/>
          <p:cNvSpPr txBox="1"/>
          <p:nvPr/>
        </p:nvSpPr>
        <p:spPr>
          <a:xfrm>
            <a:off x="853418" y="5325355"/>
            <a:ext cx="548626" cy="4323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1" i="0">
                <a:solidFill>
                  <a:srgbClr val="075BBB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提值规模</a:t>
            </a:r>
          </a:p>
          <a:p>
            <a:pPr algn="l"/>
            <a:r>
              <a:rPr sz="880" b="1" i="0">
                <a:solidFill>
                  <a:srgbClr val="075BBB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从哪来？</a:t>
            </a:r>
          </a:p>
        </p:txBody>
      </p:sp>
      <p:sp>
        <p:nvSpPr>
          <p:cNvPr id="84" name="table-value-item-2-body"/>
          <p:cNvSpPr txBox="1"/>
          <p:nvPr/>
        </p:nvSpPr>
        <p:spPr>
          <a:xfrm>
            <a:off x="1511770" y="5304768"/>
            <a:ext cx="2535872" cy="459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四类客群策略优化：①超高端：重推系弱提值。②老旧套餐：深挖需求，适配专属权益。③不限量：提移宽选套感知。④21：细分消费促融合。</a:t>
            </a:r>
          </a:p>
        </p:txBody>
      </p:sp>
      <p:sp>
        <p:nvSpPr>
          <p:cNvPr id="85" name="table-value-item-3-title"/>
          <p:cNvSpPr txBox="1"/>
          <p:nvPr/>
        </p:nvSpPr>
        <p:spPr>
          <a:xfrm>
            <a:off x="853418" y="5881224"/>
            <a:ext cx="548626" cy="439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1" i="0">
                <a:solidFill>
                  <a:srgbClr val="075BBB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营销组织</a:t>
            </a:r>
          </a:p>
        </p:txBody>
      </p:sp>
      <p:sp>
        <p:nvSpPr>
          <p:cNvPr id="86" name="table-value-item-3-body"/>
          <p:cNvSpPr txBox="1"/>
          <p:nvPr/>
        </p:nvSpPr>
        <p:spPr>
          <a:xfrm>
            <a:off x="1511770" y="5860636"/>
            <a:ext cx="2535872" cy="4666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转变策略：①盯规模向盯提值金额转变。②营销模式由传统外呼转向面客。③主推产品由轻合约转向重合约。④升规模转向控升降比。</a:t>
            </a:r>
          </a:p>
        </p:txBody>
      </p:sp>
      <p:sp>
        <p:nvSpPr>
          <p:cNvPr id="87" name="table-downgrade-item-1-title"/>
          <p:cNvSpPr txBox="1"/>
          <p:nvPr/>
        </p:nvSpPr>
        <p:spPr>
          <a:xfrm>
            <a:off x="4754761" y="5016540"/>
            <a:ext cx="560817" cy="590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F05A13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持续优化</a:t>
            </a:r>
          </a:p>
          <a:p>
            <a:pPr algn="l"/>
            <a:r>
              <a:rPr sz="860" b="1" i="0">
                <a:solidFill>
                  <a:srgbClr val="F05A13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策略</a:t>
            </a:r>
          </a:p>
        </p:txBody>
      </p:sp>
      <p:sp>
        <p:nvSpPr>
          <p:cNvPr id="88" name="table-downgrade-item-1-body"/>
          <p:cNvSpPr txBox="1"/>
          <p:nvPr/>
        </p:nvSpPr>
        <p:spPr>
          <a:xfrm>
            <a:off x="5425304" y="4995952"/>
            <a:ext cx="2401763" cy="617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▸ 针对通过降套策略挽回续签受理的，月度可返还降套受理积分，封顶为个人月度销售积分的30%。</a:t>
            </a:r>
          </a:p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▸ 优化降套策略依策不扣积分。</a:t>
            </a:r>
          </a:p>
        </p:txBody>
      </p:sp>
      <p:sp>
        <p:nvSpPr>
          <p:cNvPr id="89" name="table-downgrade-item-2-title"/>
          <p:cNvSpPr txBox="1"/>
          <p:nvPr/>
        </p:nvSpPr>
        <p:spPr>
          <a:xfrm>
            <a:off x="4754761" y="5730247"/>
            <a:ext cx="560817" cy="590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F05A13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营销组织</a:t>
            </a:r>
          </a:p>
        </p:txBody>
      </p:sp>
      <p:sp>
        <p:nvSpPr>
          <p:cNvPr id="90" name="table-downgrade-item-2-body"/>
          <p:cNvSpPr txBox="1"/>
          <p:nvPr/>
        </p:nvSpPr>
        <p:spPr>
          <a:xfrm>
            <a:off x="5425304" y="5709659"/>
            <a:ext cx="2401763" cy="617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▸ 压规模向控规模+降档金额调整。</a:t>
            </a:r>
          </a:p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▸ 按用户属地+受理人同时管控。</a:t>
            </a:r>
          </a:p>
          <a:p>
            <a:pPr algn="l"/>
            <a:r>
              <a:rPr sz="75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▸ 事后管控向前置维系转变（端网业适配+满卡满融）。</a:t>
            </a:r>
          </a:p>
        </p:txBody>
      </p:sp>
      <p:sp>
        <p:nvSpPr>
          <p:cNvPr id="91" name="table-churn-item-1-title"/>
          <p:cNvSpPr txBox="1"/>
          <p:nvPr/>
        </p:nvSpPr>
        <p:spPr>
          <a:xfrm>
            <a:off x="8546378" y="5016540"/>
            <a:ext cx="573009" cy="349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D6000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发展质量</a:t>
            </a:r>
          </a:p>
        </p:txBody>
      </p:sp>
      <p:sp>
        <p:nvSpPr>
          <p:cNvPr id="92" name="table-churn-item-1-body"/>
          <p:cNvSpPr txBox="1"/>
          <p:nvPr/>
        </p:nvSpPr>
        <p:spPr>
          <a:xfrm>
            <a:off x="9229113" y="4995952"/>
            <a:ext cx="2499297" cy="3774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入网阶段，高质量发展，保障收入持续性增长。</a:t>
            </a:r>
          </a:p>
        </p:txBody>
      </p:sp>
      <p:sp>
        <p:nvSpPr>
          <p:cNvPr id="93" name="table-churn-item-2-title"/>
          <p:cNvSpPr txBox="1"/>
          <p:nvPr/>
        </p:nvSpPr>
        <p:spPr>
          <a:xfrm>
            <a:off x="8546378" y="5490057"/>
            <a:ext cx="573009" cy="349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D6000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前置维系</a:t>
            </a:r>
          </a:p>
        </p:txBody>
      </p:sp>
      <p:sp>
        <p:nvSpPr>
          <p:cNvPr id="94" name="table-churn-item-2-body"/>
          <p:cNvSpPr txBox="1"/>
          <p:nvPr/>
        </p:nvSpPr>
        <p:spPr>
          <a:xfrm>
            <a:off x="9229113" y="5469469"/>
            <a:ext cx="2499297" cy="3774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满卡满融增粘性 + 合约到期维系 + 端网业适配维系。</a:t>
            </a:r>
          </a:p>
        </p:txBody>
      </p:sp>
      <p:sp>
        <p:nvSpPr>
          <p:cNvPr id="95" name="table-churn-item-3-title"/>
          <p:cNvSpPr txBox="1"/>
          <p:nvPr/>
        </p:nvSpPr>
        <p:spPr>
          <a:xfrm>
            <a:off x="8546378" y="5963575"/>
            <a:ext cx="573009" cy="356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D60000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事后回捞</a:t>
            </a:r>
          </a:p>
        </p:txBody>
      </p:sp>
      <p:sp>
        <p:nvSpPr>
          <p:cNvPr id="96" name="table-churn-item-3-body"/>
          <p:cNvSpPr txBox="1"/>
          <p:nvPr/>
        </p:nvSpPr>
        <p:spPr>
          <a:xfrm>
            <a:off x="9229113" y="5942987"/>
            <a:ext cx="2499297" cy="384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" b="0" i="0">
                <a:solidFill>
                  <a:srgbClr val="222222">
                    <a:alpha val="100000"/>
                  </a:srgbClr>
                </a:solidFill>
                <a:latin typeface="Noto Sans CJK SC"/>
                <a:ea typeface="Noto Sans CJK SC"/>
                <a:cs typeface="Noto Sans CJK SC"/>
              </a:rPr>
              <a:t>增流差牵引，聚焦高流失风险用户，分类分级开展维系。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