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ic1_r1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8" y="910998"/>
            <a:ext cx="576043" cy="619479"/>
          </a:xfrm>
          <a:prstGeom prst="rect">
            <a:avLst/>
          </a:prstGeom>
        </p:spPr>
      </p:pic>
      <p:pic>
        <p:nvPicPr>
          <p:cNvPr id="5" name="Picture 4" descr="ic1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425" y="641343"/>
            <a:ext cx="277083" cy="291519"/>
          </a:xfrm>
          <a:prstGeom prst="rect">
            <a:avLst/>
          </a:prstGeom>
        </p:spPr>
      </p:pic>
      <p:pic>
        <p:nvPicPr>
          <p:cNvPr id="6" name="Picture 5" descr="ic1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017" y="641343"/>
            <a:ext cx="277083" cy="291519"/>
          </a:xfrm>
          <a:prstGeom prst="rect">
            <a:avLst/>
          </a:prstGeom>
        </p:spPr>
      </p:pic>
      <p:pic>
        <p:nvPicPr>
          <p:cNvPr id="7" name="Picture 6" descr="ic1_r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148" y="976590"/>
            <a:ext cx="328125" cy="408127"/>
          </a:xfrm>
          <a:prstGeom prst="rect">
            <a:avLst/>
          </a:prstGeom>
        </p:spPr>
      </p:pic>
      <p:pic>
        <p:nvPicPr>
          <p:cNvPr id="8" name="Picture 7" descr="ic1_r1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68" y="2215549"/>
            <a:ext cx="510417" cy="459143"/>
          </a:xfrm>
          <a:prstGeom prst="rect">
            <a:avLst/>
          </a:prstGeom>
        </p:spPr>
      </p:pic>
      <p:pic>
        <p:nvPicPr>
          <p:cNvPr id="9" name="Picture 8" descr="ic1_r2c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0007" y="2237413"/>
            <a:ext cx="510417" cy="444567"/>
          </a:xfrm>
          <a:prstGeom prst="rect">
            <a:avLst/>
          </a:prstGeom>
        </p:spPr>
      </p:pic>
      <p:pic>
        <p:nvPicPr>
          <p:cNvPr id="10" name="Picture 9" descr="ic1_r2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5638" y="2215549"/>
            <a:ext cx="459376" cy="466431"/>
          </a:xfrm>
          <a:prstGeom prst="rect">
            <a:avLst/>
          </a:prstGeom>
        </p:spPr>
      </p:pic>
      <p:pic>
        <p:nvPicPr>
          <p:cNvPr id="11" name="Picture 10" descr="ic1_r2c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6268" y="2230125"/>
            <a:ext cx="444792" cy="459143"/>
          </a:xfrm>
          <a:prstGeom prst="rect">
            <a:avLst/>
          </a:prstGeom>
        </p:spPr>
      </p:pic>
      <p:pic>
        <p:nvPicPr>
          <p:cNvPr id="12" name="Picture 11" descr="ic1_r2c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875" y="3184852"/>
            <a:ext cx="452084" cy="510159"/>
          </a:xfrm>
          <a:prstGeom prst="rect">
            <a:avLst/>
          </a:prstGeom>
        </p:spPr>
      </p:pic>
      <p:pic>
        <p:nvPicPr>
          <p:cNvPr id="13" name="Picture 12" descr="ic1_r3c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4801" y="3177564"/>
            <a:ext cx="503126" cy="524735"/>
          </a:xfrm>
          <a:prstGeom prst="rect">
            <a:avLst/>
          </a:prstGeom>
        </p:spPr>
      </p:pic>
      <p:pic>
        <p:nvPicPr>
          <p:cNvPr id="14" name="Picture 13" descr="ic1_r3c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3560" y="3177564"/>
            <a:ext cx="444792" cy="561175"/>
          </a:xfrm>
          <a:prstGeom prst="rect">
            <a:avLst/>
          </a:prstGeom>
        </p:spPr>
      </p:pic>
      <p:pic>
        <p:nvPicPr>
          <p:cNvPr id="15" name="Picture 14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3753" y="2864180"/>
            <a:ext cx="247917" cy="247791"/>
          </a:xfrm>
          <a:prstGeom prst="rect">
            <a:avLst/>
          </a:prstGeom>
        </p:spPr>
      </p:pic>
      <p:pic>
        <p:nvPicPr>
          <p:cNvPr id="16" name="Picture 15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82303" y="2864180"/>
            <a:ext cx="247917" cy="247791"/>
          </a:xfrm>
          <a:prstGeom prst="rect">
            <a:avLst/>
          </a:prstGeom>
        </p:spPr>
      </p:pic>
      <p:pic>
        <p:nvPicPr>
          <p:cNvPr id="17" name="Picture 16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71895" y="2864180"/>
            <a:ext cx="247917" cy="247791"/>
          </a:xfrm>
          <a:prstGeom prst="rect">
            <a:avLst/>
          </a:prstGeom>
        </p:spPr>
      </p:pic>
      <p:pic>
        <p:nvPicPr>
          <p:cNvPr id="18" name="Picture 17" descr="logo_r1c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45858" y="102031"/>
            <a:ext cx="422917" cy="422703"/>
          </a:xfrm>
          <a:prstGeom prst="rect">
            <a:avLst/>
          </a:prstGeom>
        </p:spPr>
      </p:pic>
      <p:pic>
        <p:nvPicPr>
          <p:cNvPr id="19" name="Picture 18" descr="logo_r1c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1692" y="153047"/>
            <a:ext cx="838543" cy="357111"/>
          </a:xfrm>
          <a:prstGeom prst="rect">
            <a:avLst/>
          </a:prstGeom>
        </p:spPr>
      </p:pic>
      <p:sp>
        <p:nvSpPr>
          <p:cNvPr id="20" name="vertical_channel_label"/>
          <p:cNvSpPr txBox="1"/>
          <p:nvPr/>
        </p:nvSpPr>
        <p:spPr>
          <a:xfrm>
            <a:off x="109375" y="58303"/>
            <a:ext cx="670834" cy="641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88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</a:t>
            </a:r>
          </a:p>
          <a:p>
            <a:pPr algn="ctr">
              <a:lnSpc>
                <a:spcPct val="88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渠道</a:t>
            </a:r>
          </a:p>
        </p:txBody>
      </p:sp>
      <p:sp>
        <p:nvSpPr>
          <p:cNvPr id="21" name="main_title"/>
          <p:cNvSpPr txBox="1"/>
          <p:nvPr/>
        </p:nvSpPr>
        <p:spPr>
          <a:xfrm>
            <a:off x="1028127" y="87455"/>
            <a:ext cx="5869805" cy="415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社会渠道 存量畅越FTTR</a:t>
            </a:r>
            <a:r>
              <a:rPr sz="280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佣金明白卡</a:t>
            </a:r>
          </a:p>
        </p:txBody>
      </p:sp>
      <p:sp>
        <p:nvSpPr>
          <p:cNvPr id="22" name="partner_company"/>
          <p:cNvSpPr txBox="1"/>
          <p:nvPr/>
        </p:nvSpPr>
        <p:spPr>
          <a:xfrm>
            <a:off x="918752" y="889134"/>
            <a:ext cx="2522922" cy="349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南阳锐志网络科技有限公司市区</a:t>
            </a:r>
          </a:p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分公司合作厅</a:t>
            </a:r>
          </a:p>
        </p:txBody>
      </p:sp>
      <p:sp>
        <p:nvSpPr>
          <p:cNvPr id="23" name="partner_summary"/>
          <p:cNvSpPr txBox="1"/>
          <p:nvPr/>
        </p:nvSpPr>
        <p:spPr>
          <a:xfrm>
            <a:off x="911460" y="1370142"/>
            <a:ext cx="2530214" cy="349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8月智家畅越办理118户，其中畅越FTTR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36户，非FTTR畅越82户。</a:t>
            </a:r>
          </a:p>
        </p:txBody>
      </p:sp>
      <p:sp>
        <p:nvSpPr>
          <p:cNvPr id="24" name="non_fttr_heading"/>
          <p:cNvSpPr txBox="1"/>
          <p:nvPr/>
        </p:nvSpPr>
        <p:spPr>
          <a:xfrm>
            <a:off x="4433343" y="699647"/>
            <a:ext cx="1385419" cy="2113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非FTTR畅越收益</a:t>
            </a:r>
          </a:p>
        </p:txBody>
      </p:sp>
      <p:sp>
        <p:nvSpPr>
          <p:cNvPr id="25" name="fttr_heading"/>
          <p:cNvSpPr txBox="1"/>
          <p:nvPr/>
        </p:nvSpPr>
        <p:spPr>
          <a:xfrm>
            <a:off x="7889601" y="699647"/>
            <a:ext cx="1392711" cy="2113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FTTR畅越收益</a:t>
            </a:r>
          </a:p>
        </p:txBody>
      </p:sp>
      <p:sp>
        <p:nvSpPr>
          <p:cNvPr id="26" name="non_fttr_formula_1"/>
          <p:cNvSpPr txBox="1"/>
          <p:nvPr/>
        </p:nvSpPr>
        <p:spPr>
          <a:xfrm>
            <a:off x="3631258" y="1056758"/>
            <a:ext cx="2756256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82户 × 20元（按增收20元举例）× 2倍（迁转佣金）</a:t>
            </a:r>
          </a:p>
        </p:txBody>
      </p:sp>
      <p:sp>
        <p:nvSpPr>
          <p:cNvPr id="27" name="non_fttr_formula_2"/>
          <p:cNvSpPr txBox="1"/>
          <p:nvPr/>
        </p:nvSpPr>
        <p:spPr>
          <a:xfrm>
            <a:off x="4229176" y="1224382"/>
            <a:ext cx="182292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+82户 × 15元（达量激励）</a:t>
            </a:r>
          </a:p>
        </p:txBody>
      </p:sp>
      <p:sp>
        <p:nvSpPr>
          <p:cNvPr id="28" name="non_fttr_result"/>
          <p:cNvSpPr txBox="1"/>
          <p:nvPr/>
        </p:nvSpPr>
        <p:spPr>
          <a:xfrm>
            <a:off x="4251051" y="1450310"/>
            <a:ext cx="1852087" cy="306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 4,510元</a:t>
            </a:r>
          </a:p>
        </p:txBody>
      </p:sp>
      <p:sp>
        <p:nvSpPr>
          <p:cNvPr id="29" name="fttr_formula_1"/>
          <p:cNvSpPr txBox="1"/>
          <p:nvPr/>
        </p:nvSpPr>
        <p:spPr>
          <a:xfrm>
            <a:off x="6562515" y="1056758"/>
            <a:ext cx="3500008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9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36户 × 30元 × 3倍（迁转佣金）+150元 × 36户（FTTR办理佣金）</a:t>
            </a:r>
          </a:p>
        </p:txBody>
      </p:sp>
      <p:sp>
        <p:nvSpPr>
          <p:cNvPr id="30" name="fttr_formula_2"/>
          <p:cNvSpPr txBox="1"/>
          <p:nvPr/>
        </p:nvSpPr>
        <p:spPr>
          <a:xfrm>
            <a:off x="6562515" y="1224382"/>
            <a:ext cx="3500008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+36户 × 210元 × 0.33（T3达量激励）+36户 × 15元（畅越量激励）</a:t>
            </a:r>
          </a:p>
        </p:txBody>
      </p:sp>
      <p:sp>
        <p:nvSpPr>
          <p:cNvPr id="31" name="fttr_result"/>
          <p:cNvSpPr txBox="1"/>
          <p:nvPr/>
        </p:nvSpPr>
        <p:spPr>
          <a:xfrm>
            <a:off x="7510434" y="1443022"/>
            <a:ext cx="2078129" cy="313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 11,674.8元</a:t>
            </a:r>
          </a:p>
        </p:txBody>
      </p:sp>
      <p:sp>
        <p:nvSpPr>
          <p:cNvPr id="32" name="total_income_label"/>
          <p:cNvSpPr txBox="1"/>
          <p:nvPr/>
        </p:nvSpPr>
        <p:spPr>
          <a:xfrm>
            <a:off x="10660441" y="1013030"/>
            <a:ext cx="1276044" cy="19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8月测算收益合计：</a:t>
            </a:r>
          </a:p>
        </p:txBody>
      </p:sp>
      <p:sp>
        <p:nvSpPr>
          <p:cNvPr id="33" name="total_income_value"/>
          <p:cNvSpPr txBox="1"/>
          <p:nvPr/>
        </p:nvSpPr>
        <p:spPr>
          <a:xfrm>
            <a:off x="10587524" y="1224382"/>
            <a:ext cx="1385419" cy="276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16,184.8元</a:t>
            </a:r>
          </a:p>
        </p:txBody>
      </p:sp>
      <p:sp>
        <p:nvSpPr>
          <p:cNvPr id="34" name="case_label"/>
          <p:cNvSpPr txBox="1"/>
          <p:nvPr/>
        </p:nvSpPr>
        <p:spPr>
          <a:xfrm>
            <a:off x="291667" y="1851149"/>
            <a:ext cx="3645841" cy="2186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FTTR提值办理案例｜号码：1563***</a:t>
            </a:r>
          </a:p>
        </p:txBody>
      </p:sp>
      <p:sp>
        <p:nvSpPr>
          <p:cNvPr id="35" name="flow_income_label"/>
          <p:cNvSpPr txBox="1"/>
          <p:nvPr/>
        </p:nvSpPr>
        <p:spPr>
          <a:xfrm>
            <a:off x="1152086" y="2230125"/>
            <a:ext cx="1137502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原收入</a:t>
            </a:r>
          </a:p>
        </p:txBody>
      </p:sp>
      <p:sp>
        <p:nvSpPr>
          <p:cNvPr id="36" name="flow_income_value"/>
          <p:cNvSpPr txBox="1"/>
          <p:nvPr/>
        </p:nvSpPr>
        <p:spPr>
          <a:xfrm>
            <a:off x="1283336" y="2419613"/>
            <a:ext cx="1057294" cy="240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99.8元</a:t>
            </a:r>
          </a:p>
        </p:txBody>
      </p:sp>
      <p:sp>
        <p:nvSpPr>
          <p:cNvPr id="37" name="flow_fttr_label"/>
          <p:cNvSpPr txBox="1"/>
          <p:nvPr/>
        </p:nvSpPr>
        <p:spPr>
          <a:xfrm>
            <a:off x="3784383" y="2230125"/>
            <a:ext cx="1101044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办理FTTR</a:t>
            </a:r>
          </a:p>
        </p:txBody>
      </p:sp>
      <p:sp>
        <p:nvSpPr>
          <p:cNvPr id="38" name="flow_fttr_value"/>
          <p:cNvSpPr txBox="1"/>
          <p:nvPr/>
        </p:nvSpPr>
        <p:spPr>
          <a:xfrm>
            <a:off x="3777092" y="2419613"/>
            <a:ext cx="1130210" cy="2477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2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提值30元</a:t>
            </a:r>
          </a:p>
        </p:txBody>
      </p:sp>
      <p:sp>
        <p:nvSpPr>
          <p:cNvPr id="39" name="flow_next_income_label"/>
          <p:cNvSpPr txBox="1"/>
          <p:nvPr/>
        </p:nvSpPr>
        <p:spPr>
          <a:xfrm>
            <a:off x="6270847" y="2230125"/>
            <a:ext cx="1042710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次月收入</a:t>
            </a:r>
          </a:p>
        </p:txBody>
      </p:sp>
      <p:sp>
        <p:nvSpPr>
          <p:cNvPr id="40" name="flow_next_income_value"/>
          <p:cNvSpPr txBox="1"/>
          <p:nvPr/>
        </p:nvSpPr>
        <p:spPr>
          <a:xfrm>
            <a:off x="6307306" y="2419613"/>
            <a:ext cx="1020835" cy="2477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131元</a:t>
            </a:r>
          </a:p>
        </p:txBody>
      </p:sp>
      <p:sp>
        <p:nvSpPr>
          <p:cNvPr id="41" name="flow_change_label"/>
          <p:cNvSpPr txBox="1"/>
          <p:nvPr/>
        </p:nvSpPr>
        <p:spPr>
          <a:xfrm>
            <a:off x="8516686" y="2230125"/>
            <a:ext cx="1020835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收入变化</a:t>
            </a:r>
          </a:p>
        </p:txBody>
      </p:sp>
      <p:sp>
        <p:nvSpPr>
          <p:cNvPr id="42" name="flow_change_value"/>
          <p:cNvSpPr txBox="1"/>
          <p:nvPr/>
        </p:nvSpPr>
        <p:spPr>
          <a:xfrm>
            <a:off x="8538561" y="2419613"/>
            <a:ext cx="1006252" cy="2477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31.2元</a:t>
            </a:r>
          </a:p>
        </p:txBody>
      </p:sp>
      <p:sp>
        <p:nvSpPr>
          <p:cNvPr id="43" name="flow_calculation"/>
          <p:cNvSpPr txBox="1"/>
          <p:nvPr/>
        </p:nvSpPr>
        <p:spPr>
          <a:xfrm>
            <a:off x="9792731" y="2397749"/>
            <a:ext cx="2078129" cy="2113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2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131 − 99.8 = </a:t>
            </a:r>
            <a:r>
              <a:rPr sz="142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31.2元</a:t>
            </a:r>
          </a:p>
        </p:txBody>
      </p:sp>
      <p:sp>
        <p:nvSpPr>
          <p:cNvPr id="44" name="commission_1_number"/>
          <p:cNvSpPr txBox="1"/>
          <p:nvPr/>
        </p:nvSpPr>
        <p:spPr>
          <a:xfrm>
            <a:off x="1443753" y="2886044"/>
            <a:ext cx="247917" cy="2186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5" name="commission_1_title"/>
          <p:cNvSpPr txBox="1"/>
          <p:nvPr/>
        </p:nvSpPr>
        <p:spPr>
          <a:xfrm>
            <a:off x="1771879" y="2878756"/>
            <a:ext cx="2187505" cy="225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套餐迁转佣金</a:t>
            </a:r>
          </a:p>
        </p:txBody>
      </p:sp>
      <p:sp>
        <p:nvSpPr>
          <p:cNvPr id="46" name="commission_2_number"/>
          <p:cNvSpPr txBox="1"/>
          <p:nvPr/>
        </p:nvSpPr>
        <p:spPr>
          <a:xfrm>
            <a:off x="5082303" y="2886044"/>
            <a:ext cx="247917" cy="2186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7" name="commission_2_title"/>
          <p:cNvSpPr txBox="1"/>
          <p:nvPr/>
        </p:nvSpPr>
        <p:spPr>
          <a:xfrm>
            <a:off x="5439595" y="2878756"/>
            <a:ext cx="2143754" cy="225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FTTR办理佣金</a:t>
            </a:r>
          </a:p>
        </p:txBody>
      </p:sp>
      <p:sp>
        <p:nvSpPr>
          <p:cNvPr id="48" name="commission_3_number"/>
          <p:cNvSpPr txBox="1"/>
          <p:nvPr/>
        </p:nvSpPr>
        <p:spPr>
          <a:xfrm>
            <a:off x="8771895" y="2886044"/>
            <a:ext cx="247917" cy="2186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9" name="commission_3_title"/>
          <p:cNvSpPr txBox="1"/>
          <p:nvPr/>
        </p:nvSpPr>
        <p:spPr>
          <a:xfrm>
            <a:off x="9304188" y="2878756"/>
            <a:ext cx="2457297" cy="225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T3达量激励</a:t>
            </a:r>
          </a:p>
        </p:txBody>
      </p:sp>
      <p:sp>
        <p:nvSpPr>
          <p:cNvPr id="50" name="c1_basis_label"/>
          <p:cNvSpPr txBox="1"/>
          <p:nvPr/>
        </p:nvSpPr>
        <p:spPr>
          <a:xfrm>
            <a:off x="1079169" y="3184852"/>
            <a:ext cx="495834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51" name="c1_basis_detail"/>
          <p:cNvSpPr txBox="1"/>
          <p:nvPr/>
        </p:nvSpPr>
        <p:spPr>
          <a:xfrm>
            <a:off x="1866671" y="3184852"/>
            <a:ext cx="2121879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收入变化</a:t>
            </a:r>
            <a:r>
              <a:rPr sz="13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31.2元 × 3倍</a:t>
            </a:r>
          </a:p>
        </p:txBody>
      </p:sp>
      <p:sp>
        <p:nvSpPr>
          <p:cNvPr id="52" name="c1_period_label"/>
          <p:cNvSpPr txBox="1"/>
          <p:nvPr/>
        </p:nvSpPr>
        <p:spPr>
          <a:xfrm>
            <a:off x="1079169" y="3461795"/>
            <a:ext cx="495834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周期</a:t>
            </a:r>
          </a:p>
        </p:txBody>
      </p:sp>
      <p:sp>
        <p:nvSpPr>
          <p:cNvPr id="53" name="c1_period_detail"/>
          <p:cNvSpPr txBox="1"/>
          <p:nvPr/>
        </p:nvSpPr>
        <p:spPr>
          <a:xfrm>
            <a:off x="1866671" y="3461795"/>
            <a:ext cx="2121879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T2—T4，每期</a:t>
            </a:r>
            <a:r>
              <a:rPr sz="13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31.2元</a:t>
            </a:r>
          </a:p>
        </p:txBody>
      </p:sp>
      <p:sp>
        <p:nvSpPr>
          <p:cNvPr id="54" name="c1_result_label"/>
          <p:cNvSpPr txBox="1"/>
          <p:nvPr/>
        </p:nvSpPr>
        <p:spPr>
          <a:xfrm>
            <a:off x="1079169" y="3731451"/>
            <a:ext cx="495834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55" name="c1_result"/>
          <p:cNvSpPr txBox="1"/>
          <p:nvPr/>
        </p:nvSpPr>
        <p:spPr>
          <a:xfrm>
            <a:off x="2070838" y="3680435"/>
            <a:ext cx="1283336" cy="306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93.6元</a:t>
            </a:r>
          </a:p>
        </p:txBody>
      </p:sp>
      <p:sp>
        <p:nvSpPr>
          <p:cNvPr id="56" name="c2_basis_label"/>
          <p:cNvSpPr txBox="1"/>
          <p:nvPr/>
        </p:nvSpPr>
        <p:spPr>
          <a:xfrm>
            <a:off x="5009386" y="3184852"/>
            <a:ext cx="495834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57" name="c2_basis_detail"/>
          <p:cNvSpPr txBox="1"/>
          <p:nvPr/>
        </p:nvSpPr>
        <p:spPr>
          <a:xfrm>
            <a:off x="5621888" y="3184852"/>
            <a:ext cx="1852087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T1一次性佣金</a:t>
            </a:r>
          </a:p>
        </p:txBody>
      </p:sp>
      <p:sp>
        <p:nvSpPr>
          <p:cNvPr id="58" name="c2_period_label"/>
          <p:cNvSpPr txBox="1"/>
          <p:nvPr/>
        </p:nvSpPr>
        <p:spPr>
          <a:xfrm>
            <a:off x="5009386" y="3461795"/>
            <a:ext cx="495834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周期</a:t>
            </a:r>
          </a:p>
        </p:txBody>
      </p:sp>
      <p:sp>
        <p:nvSpPr>
          <p:cNvPr id="59" name="c2_period_detail"/>
          <p:cNvSpPr txBox="1"/>
          <p:nvPr/>
        </p:nvSpPr>
        <p:spPr>
          <a:xfrm>
            <a:off x="5621888" y="3461795"/>
            <a:ext cx="1852087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T1计提</a:t>
            </a:r>
          </a:p>
        </p:txBody>
      </p:sp>
      <p:sp>
        <p:nvSpPr>
          <p:cNvPr id="60" name="c2_result_label"/>
          <p:cNvSpPr txBox="1"/>
          <p:nvPr/>
        </p:nvSpPr>
        <p:spPr>
          <a:xfrm>
            <a:off x="5009386" y="3731451"/>
            <a:ext cx="495834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61" name="c2_result"/>
          <p:cNvSpPr txBox="1"/>
          <p:nvPr/>
        </p:nvSpPr>
        <p:spPr>
          <a:xfrm>
            <a:off x="5760430" y="3680435"/>
            <a:ext cx="1385419" cy="306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150元</a:t>
            </a:r>
          </a:p>
        </p:txBody>
      </p:sp>
      <p:sp>
        <p:nvSpPr>
          <p:cNvPr id="62" name="c3_basis_label"/>
          <p:cNvSpPr txBox="1"/>
          <p:nvPr/>
        </p:nvSpPr>
        <p:spPr>
          <a:xfrm>
            <a:off x="8575019" y="3184852"/>
            <a:ext cx="495834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63" name="c3_basis_detail"/>
          <p:cNvSpPr txBox="1"/>
          <p:nvPr/>
        </p:nvSpPr>
        <p:spPr>
          <a:xfrm>
            <a:off x="9187521" y="3184852"/>
            <a:ext cx="2625006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3—4户档：50元/户 × 系数0.33</a:t>
            </a:r>
          </a:p>
        </p:txBody>
      </p:sp>
      <p:sp>
        <p:nvSpPr>
          <p:cNvPr id="64" name="c3_period_label"/>
          <p:cNvSpPr txBox="1"/>
          <p:nvPr/>
        </p:nvSpPr>
        <p:spPr>
          <a:xfrm>
            <a:off x="8575019" y="3461795"/>
            <a:ext cx="495834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周期</a:t>
            </a:r>
          </a:p>
        </p:txBody>
      </p:sp>
      <p:sp>
        <p:nvSpPr>
          <p:cNvPr id="65" name="c3_period_detail"/>
          <p:cNvSpPr txBox="1"/>
          <p:nvPr/>
        </p:nvSpPr>
        <p:spPr>
          <a:xfrm>
            <a:off x="9187521" y="3461795"/>
            <a:ext cx="2625006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T3计提，本案例计入1户</a:t>
            </a:r>
          </a:p>
        </p:txBody>
      </p:sp>
      <p:sp>
        <p:nvSpPr>
          <p:cNvPr id="66" name="c3_result_label"/>
          <p:cNvSpPr txBox="1"/>
          <p:nvPr/>
        </p:nvSpPr>
        <p:spPr>
          <a:xfrm>
            <a:off x="8575019" y="3731451"/>
            <a:ext cx="495834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67" name="c3_result"/>
          <p:cNvSpPr txBox="1"/>
          <p:nvPr/>
        </p:nvSpPr>
        <p:spPr>
          <a:xfrm>
            <a:off x="9515647" y="3680435"/>
            <a:ext cx="1480211" cy="306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16.5元</a:t>
            </a:r>
          </a:p>
        </p:txBody>
      </p:sp>
      <p:sp>
        <p:nvSpPr>
          <p:cNvPr id="68" name="summary_label"/>
          <p:cNvSpPr txBox="1"/>
          <p:nvPr/>
        </p:nvSpPr>
        <p:spPr>
          <a:xfrm>
            <a:off x="1429169" y="4037547"/>
            <a:ext cx="2741673" cy="276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本案例佣金合计</a:t>
            </a:r>
          </a:p>
        </p:txBody>
      </p:sp>
      <p:sp>
        <p:nvSpPr>
          <p:cNvPr id="69" name="summary_formula"/>
          <p:cNvSpPr txBox="1"/>
          <p:nvPr/>
        </p:nvSpPr>
        <p:spPr>
          <a:xfrm>
            <a:off x="4848969" y="4037547"/>
            <a:ext cx="2923965" cy="276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93.6 + 150 + 16.5 =</a:t>
            </a:r>
          </a:p>
        </p:txBody>
      </p:sp>
      <p:sp>
        <p:nvSpPr>
          <p:cNvPr id="70" name="summary_value"/>
          <p:cNvSpPr txBox="1"/>
          <p:nvPr/>
        </p:nvSpPr>
        <p:spPr>
          <a:xfrm>
            <a:off x="8866687" y="4015683"/>
            <a:ext cx="1808337" cy="3206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50" b="1" i="0">
                <a:solidFill>
                  <a:srgbClr val="FFE3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260.1元</a:t>
            </a:r>
          </a:p>
        </p:txBody>
      </p:sp>
      <p:sp>
        <p:nvSpPr>
          <p:cNvPr id="71" name="policy_label"/>
          <p:cNvSpPr txBox="1"/>
          <p:nvPr/>
        </p:nvSpPr>
        <p:spPr>
          <a:xfrm>
            <a:off x="138541" y="4591434"/>
            <a:ext cx="371875" cy="134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速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</a:t>
            </a:r>
          </a:p>
        </p:txBody>
      </p:sp>
      <p:sp>
        <p:nvSpPr>
          <p:cNvPr id="72" name="fee_standard_title"/>
          <p:cNvSpPr txBox="1"/>
          <p:nvPr/>
        </p:nvSpPr>
        <p:spPr>
          <a:xfrm>
            <a:off x="2326047" y="4489402"/>
            <a:ext cx="2326047" cy="2186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套餐迁转服务费标准</a:t>
            </a:r>
          </a:p>
        </p:txBody>
      </p:sp>
      <p:sp>
        <p:nvSpPr>
          <p:cNvPr id="73" name="fee_header_scene"/>
          <p:cNvSpPr txBox="1"/>
          <p:nvPr/>
        </p:nvSpPr>
        <p:spPr>
          <a:xfrm>
            <a:off x="634376" y="4700754"/>
            <a:ext cx="1531253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用户/办理场景</a:t>
            </a:r>
          </a:p>
        </p:txBody>
      </p:sp>
      <p:sp>
        <p:nvSpPr>
          <p:cNvPr id="74" name="fee_header_change"/>
          <p:cNvSpPr txBox="1"/>
          <p:nvPr/>
        </p:nvSpPr>
        <p:spPr>
          <a:xfrm>
            <a:off x="2202088" y="4700754"/>
            <a:ext cx="802085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收入变化</a:t>
            </a:r>
          </a:p>
        </p:txBody>
      </p:sp>
      <p:sp>
        <p:nvSpPr>
          <p:cNvPr id="75" name="fee_header_standard"/>
          <p:cNvSpPr txBox="1"/>
          <p:nvPr/>
        </p:nvSpPr>
        <p:spPr>
          <a:xfrm>
            <a:off x="3047923" y="4700754"/>
            <a:ext cx="2034379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服务费标准</a:t>
            </a:r>
          </a:p>
        </p:txBody>
      </p:sp>
      <p:sp>
        <p:nvSpPr>
          <p:cNvPr id="76" name="fee_header_period"/>
          <p:cNvSpPr txBox="1"/>
          <p:nvPr/>
        </p:nvSpPr>
        <p:spPr>
          <a:xfrm>
            <a:off x="5111470" y="4700754"/>
            <a:ext cx="787501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计提周期</a:t>
            </a:r>
          </a:p>
        </p:txBody>
      </p:sp>
      <p:sp>
        <p:nvSpPr>
          <p:cNvPr id="77" name="fee_scene_1"/>
          <p:cNvSpPr txBox="1"/>
          <p:nvPr/>
        </p:nvSpPr>
        <p:spPr>
          <a:xfrm>
            <a:off x="634376" y="4882954"/>
            <a:ext cx="1516670" cy="3425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 存量用户办理指定套餐</a:t>
            </a:r>
          </a:p>
          <a:p>
            <a:pPr algn="l">
              <a:lnSpc>
                <a:spcPct val="102000"/>
              </a:lnSpc>
            </a:pPr>
            <a:r>
              <a:rPr sz="819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升档产品须知FTTR</a:t>
            </a:r>
          </a:p>
          <a:p>
            <a:pPr algn="l">
              <a:lnSpc>
                <a:spcPct val="102000"/>
              </a:lnSpc>
            </a:pPr>
            <a:r>
              <a:rPr sz="819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（指定FTTR附加产品）</a:t>
            </a:r>
          </a:p>
        </p:txBody>
      </p:sp>
      <p:sp>
        <p:nvSpPr>
          <p:cNvPr id="78" name="fee_scene_2"/>
          <p:cNvSpPr txBox="1"/>
          <p:nvPr/>
        </p:nvSpPr>
        <p:spPr>
          <a:xfrm>
            <a:off x="634376" y="5240065"/>
            <a:ext cx="1516670" cy="327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 存量用户办理指定套餐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金融终端合约套餐升档</a:t>
            </a:r>
          </a:p>
        </p:txBody>
      </p:sp>
      <p:sp>
        <p:nvSpPr>
          <p:cNvPr id="79" name="fee_scene_3"/>
          <p:cNvSpPr txBox="1"/>
          <p:nvPr/>
        </p:nvSpPr>
        <p:spPr>
          <a:xfrm>
            <a:off x="634376" y="5604465"/>
            <a:ext cx="1516670" cy="327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 办理其他指定套餐/合约</a:t>
            </a:r>
          </a:p>
        </p:txBody>
      </p:sp>
      <p:sp>
        <p:nvSpPr>
          <p:cNvPr id="80" name="fee_scene_4"/>
          <p:cNvSpPr txBox="1"/>
          <p:nvPr/>
        </p:nvSpPr>
        <p:spPr>
          <a:xfrm>
            <a:off x="634376" y="5968865"/>
            <a:ext cx="1516670" cy="327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 未办理指定套餐/合约</a:t>
            </a:r>
          </a:p>
        </p:txBody>
      </p:sp>
      <p:sp>
        <p:nvSpPr>
          <p:cNvPr id="81" name="fee_1_increase"/>
          <p:cNvSpPr txBox="1"/>
          <p:nvPr/>
        </p:nvSpPr>
        <p:spPr>
          <a:xfrm>
            <a:off x="2296880" y="4890242"/>
            <a:ext cx="605209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增收</a:t>
            </a:r>
          </a:p>
        </p:txBody>
      </p:sp>
      <p:sp>
        <p:nvSpPr>
          <p:cNvPr id="82" name="fee_1_decrease"/>
          <p:cNvSpPr txBox="1"/>
          <p:nvPr/>
        </p:nvSpPr>
        <p:spPr>
          <a:xfrm>
            <a:off x="2296880" y="5072442"/>
            <a:ext cx="605209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减收</a:t>
            </a:r>
          </a:p>
        </p:txBody>
      </p:sp>
      <p:sp>
        <p:nvSpPr>
          <p:cNvPr id="83" name="fee_1_increase_standard"/>
          <p:cNvSpPr txBox="1"/>
          <p:nvPr/>
        </p:nvSpPr>
        <p:spPr>
          <a:xfrm>
            <a:off x="3062507" y="4890242"/>
            <a:ext cx="201250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3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套餐迁转后收入变化部分 </a:t>
            </a:r>
            <a:r>
              <a:rPr sz="8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×3倍</a:t>
            </a:r>
          </a:p>
        </p:txBody>
      </p:sp>
      <p:sp>
        <p:nvSpPr>
          <p:cNvPr id="84" name="fee_1_decrease_standard"/>
          <p:cNvSpPr txBox="1"/>
          <p:nvPr/>
        </p:nvSpPr>
        <p:spPr>
          <a:xfrm>
            <a:off x="3062507" y="5072442"/>
            <a:ext cx="201250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不罚</a:t>
            </a:r>
          </a:p>
        </p:txBody>
      </p:sp>
      <p:sp>
        <p:nvSpPr>
          <p:cNvPr id="85" name="fee_1_increase_period"/>
          <p:cNvSpPr txBox="1"/>
          <p:nvPr/>
        </p:nvSpPr>
        <p:spPr>
          <a:xfrm>
            <a:off x="5140636" y="4890242"/>
            <a:ext cx="73646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T2—T4</a:t>
            </a:r>
          </a:p>
        </p:txBody>
      </p:sp>
      <p:sp>
        <p:nvSpPr>
          <p:cNvPr id="86" name="fee_1_decrease_period"/>
          <p:cNvSpPr txBox="1"/>
          <p:nvPr/>
        </p:nvSpPr>
        <p:spPr>
          <a:xfrm>
            <a:off x="5140636" y="5072442"/>
            <a:ext cx="73646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87" name="fee_2_increase"/>
          <p:cNvSpPr txBox="1"/>
          <p:nvPr/>
        </p:nvSpPr>
        <p:spPr>
          <a:xfrm>
            <a:off x="2296880" y="5254641"/>
            <a:ext cx="605209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增收</a:t>
            </a:r>
          </a:p>
        </p:txBody>
      </p:sp>
      <p:sp>
        <p:nvSpPr>
          <p:cNvPr id="88" name="fee_2_decrease"/>
          <p:cNvSpPr txBox="1"/>
          <p:nvPr/>
        </p:nvSpPr>
        <p:spPr>
          <a:xfrm>
            <a:off x="2296880" y="5436841"/>
            <a:ext cx="605209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减收</a:t>
            </a:r>
          </a:p>
        </p:txBody>
      </p:sp>
      <p:sp>
        <p:nvSpPr>
          <p:cNvPr id="89" name="fee_2_increase_standard"/>
          <p:cNvSpPr txBox="1"/>
          <p:nvPr/>
        </p:nvSpPr>
        <p:spPr>
          <a:xfrm>
            <a:off x="3062507" y="5254641"/>
            <a:ext cx="201250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3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套餐迁转后收入变化部分 </a:t>
            </a:r>
            <a:r>
              <a:rPr sz="8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×6倍</a:t>
            </a:r>
          </a:p>
        </p:txBody>
      </p:sp>
      <p:sp>
        <p:nvSpPr>
          <p:cNvPr id="90" name="fee_2_decrease_standard"/>
          <p:cNvSpPr txBox="1"/>
          <p:nvPr/>
        </p:nvSpPr>
        <p:spPr>
          <a:xfrm>
            <a:off x="3062507" y="5436841"/>
            <a:ext cx="201250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不罚</a:t>
            </a:r>
          </a:p>
        </p:txBody>
      </p:sp>
      <p:sp>
        <p:nvSpPr>
          <p:cNvPr id="91" name="fee_2_increase_period"/>
          <p:cNvSpPr txBox="1"/>
          <p:nvPr/>
        </p:nvSpPr>
        <p:spPr>
          <a:xfrm>
            <a:off x="5140636" y="5254641"/>
            <a:ext cx="73646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T2—T7</a:t>
            </a:r>
          </a:p>
        </p:txBody>
      </p:sp>
      <p:sp>
        <p:nvSpPr>
          <p:cNvPr id="92" name="fee_2_decrease_period"/>
          <p:cNvSpPr txBox="1"/>
          <p:nvPr/>
        </p:nvSpPr>
        <p:spPr>
          <a:xfrm>
            <a:off x="5140636" y="5436841"/>
            <a:ext cx="73646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93" name="fee_3_increase"/>
          <p:cNvSpPr txBox="1"/>
          <p:nvPr/>
        </p:nvSpPr>
        <p:spPr>
          <a:xfrm>
            <a:off x="2296880" y="5619041"/>
            <a:ext cx="605209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增收</a:t>
            </a:r>
          </a:p>
        </p:txBody>
      </p:sp>
      <p:sp>
        <p:nvSpPr>
          <p:cNvPr id="94" name="fee_3_decrease"/>
          <p:cNvSpPr txBox="1"/>
          <p:nvPr/>
        </p:nvSpPr>
        <p:spPr>
          <a:xfrm>
            <a:off x="2296880" y="5801241"/>
            <a:ext cx="605209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减收</a:t>
            </a:r>
          </a:p>
        </p:txBody>
      </p:sp>
      <p:sp>
        <p:nvSpPr>
          <p:cNvPr id="95" name="fee_3_increase_standard"/>
          <p:cNvSpPr txBox="1"/>
          <p:nvPr/>
        </p:nvSpPr>
        <p:spPr>
          <a:xfrm>
            <a:off x="3062507" y="5619041"/>
            <a:ext cx="201250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3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套餐迁转后收入变化部分 </a:t>
            </a:r>
            <a:r>
              <a:rPr sz="8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×2倍</a:t>
            </a:r>
          </a:p>
        </p:txBody>
      </p:sp>
      <p:sp>
        <p:nvSpPr>
          <p:cNvPr id="96" name="fee_3_decrease_standard"/>
          <p:cNvSpPr txBox="1"/>
          <p:nvPr/>
        </p:nvSpPr>
        <p:spPr>
          <a:xfrm>
            <a:off x="3062507" y="5801241"/>
            <a:ext cx="201250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不罚</a:t>
            </a:r>
          </a:p>
        </p:txBody>
      </p:sp>
      <p:sp>
        <p:nvSpPr>
          <p:cNvPr id="97" name="fee_3_increase_period"/>
          <p:cNvSpPr txBox="1"/>
          <p:nvPr/>
        </p:nvSpPr>
        <p:spPr>
          <a:xfrm>
            <a:off x="5140636" y="5619041"/>
            <a:ext cx="73646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T2—T3</a:t>
            </a:r>
          </a:p>
        </p:txBody>
      </p:sp>
      <p:sp>
        <p:nvSpPr>
          <p:cNvPr id="98" name="fee_3_decrease_period"/>
          <p:cNvSpPr txBox="1"/>
          <p:nvPr/>
        </p:nvSpPr>
        <p:spPr>
          <a:xfrm>
            <a:off x="5140636" y="5801241"/>
            <a:ext cx="73646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99" name="fee_4_increase"/>
          <p:cNvSpPr txBox="1"/>
          <p:nvPr/>
        </p:nvSpPr>
        <p:spPr>
          <a:xfrm>
            <a:off x="2296880" y="5983441"/>
            <a:ext cx="605209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增收</a:t>
            </a:r>
          </a:p>
        </p:txBody>
      </p:sp>
      <p:sp>
        <p:nvSpPr>
          <p:cNvPr id="100" name="fee_4_decrease"/>
          <p:cNvSpPr txBox="1"/>
          <p:nvPr/>
        </p:nvSpPr>
        <p:spPr>
          <a:xfrm>
            <a:off x="2296880" y="6165640"/>
            <a:ext cx="605209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减收</a:t>
            </a:r>
          </a:p>
        </p:txBody>
      </p:sp>
      <p:sp>
        <p:nvSpPr>
          <p:cNvPr id="101" name="fee_4_increase_standard"/>
          <p:cNvSpPr txBox="1"/>
          <p:nvPr/>
        </p:nvSpPr>
        <p:spPr>
          <a:xfrm>
            <a:off x="3062507" y="5983441"/>
            <a:ext cx="201250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3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套餐迁转后收入变化部分 </a:t>
            </a:r>
            <a:r>
              <a:rPr sz="8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×2倍</a:t>
            </a:r>
          </a:p>
        </p:txBody>
      </p:sp>
      <p:sp>
        <p:nvSpPr>
          <p:cNvPr id="102" name="fee_4_decrease_standard"/>
          <p:cNvSpPr txBox="1"/>
          <p:nvPr/>
        </p:nvSpPr>
        <p:spPr>
          <a:xfrm>
            <a:off x="3062507" y="6165640"/>
            <a:ext cx="201250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7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套餐迁转后收入变化部分 ×2倍扣罚</a:t>
            </a:r>
          </a:p>
        </p:txBody>
      </p:sp>
      <p:sp>
        <p:nvSpPr>
          <p:cNvPr id="103" name="fee_4_increase_period"/>
          <p:cNvSpPr txBox="1"/>
          <p:nvPr/>
        </p:nvSpPr>
        <p:spPr>
          <a:xfrm>
            <a:off x="5140636" y="5983441"/>
            <a:ext cx="73646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T2—T3</a:t>
            </a:r>
          </a:p>
        </p:txBody>
      </p:sp>
      <p:sp>
        <p:nvSpPr>
          <p:cNvPr id="104" name="fee_4_decrease_period"/>
          <p:cNvSpPr txBox="1"/>
          <p:nvPr/>
        </p:nvSpPr>
        <p:spPr>
          <a:xfrm>
            <a:off x="5140636" y="6165640"/>
            <a:ext cx="736460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7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扣罚周期T2—T3</a:t>
            </a:r>
          </a:p>
        </p:txBody>
      </p:sp>
      <p:sp>
        <p:nvSpPr>
          <p:cNvPr id="105" name="monthly_incentive_title"/>
          <p:cNvSpPr txBox="1"/>
          <p:nvPr/>
        </p:nvSpPr>
        <p:spPr>
          <a:xfrm>
            <a:off x="7656267" y="4489402"/>
            <a:ext cx="2603131" cy="2186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FTTR月度发展达量激励</a:t>
            </a:r>
          </a:p>
        </p:txBody>
      </p:sp>
      <p:sp>
        <p:nvSpPr>
          <p:cNvPr id="106" name="monthly_header_develop"/>
          <p:cNvSpPr txBox="1"/>
          <p:nvPr/>
        </p:nvSpPr>
        <p:spPr>
          <a:xfrm>
            <a:off x="6197931" y="4700754"/>
            <a:ext cx="1276044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FTTR月度发展</a:t>
            </a:r>
          </a:p>
        </p:txBody>
      </p:sp>
      <p:sp>
        <p:nvSpPr>
          <p:cNvPr id="107" name="monthly_header_standard"/>
          <p:cNvSpPr txBox="1"/>
          <p:nvPr/>
        </p:nvSpPr>
        <p:spPr>
          <a:xfrm>
            <a:off x="7488559" y="4700754"/>
            <a:ext cx="1297919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达量补贴标准</a:t>
            </a:r>
          </a:p>
        </p:txBody>
      </p:sp>
      <p:sp>
        <p:nvSpPr>
          <p:cNvPr id="108" name="monthly_header_channel"/>
          <p:cNvSpPr txBox="1"/>
          <p:nvPr/>
        </p:nvSpPr>
        <p:spPr>
          <a:xfrm>
            <a:off x="8808353" y="4700754"/>
            <a:ext cx="1750004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适用渠道</a:t>
            </a:r>
          </a:p>
        </p:txBody>
      </p:sp>
      <p:sp>
        <p:nvSpPr>
          <p:cNvPr id="109" name="monthly_header_period"/>
          <p:cNvSpPr txBox="1"/>
          <p:nvPr/>
        </p:nvSpPr>
        <p:spPr>
          <a:xfrm>
            <a:off x="10587524" y="4700754"/>
            <a:ext cx="867710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计提周期</a:t>
            </a:r>
          </a:p>
        </p:txBody>
      </p:sp>
      <p:sp>
        <p:nvSpPr>
          <p:cNvPr id="110" name="monthly_1_develop"/>
          <p:cNvSpPr txBox="1"/>
          <p:nvPr/>
        </p:nvSpPr>
        <p:spPr>
          <a:xfrm>
            <a:off x="6336473" y="4890242"/>
            <a:ext cx="101354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3—4户</a:t>
            </a:r>
          </a:p>
        </p:txBody>
      </p:sp>
      <p:sp>
        <p:nvSpPr>
          <p:cNvPr id="111" name="monthly_1_standard"/>
          <p:cNvSpPr txBox="1"/>
          <p:nvPr/>
        </p:nvSpPr>
        <p:spPr>
          <a:xfrm>
            <a:off x="7510434" y="4890242"/>
            <a:ext cx="1290627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50元/户</a:t>
            </a:r>
          </a:p>
        </p:txBody>
      </p:sp>
      <p:sp>
        <p:nvSpPr>
          <p:cNvPr id="112" name="monthly_1_channel"/>
          <p:cNvSpPr txBox="1"/>
          <p:nvPr/>
        </p:nvSpPr>
        <p:spPr>
          <a:xfrm>
            <a:off x="8822937" y="4890242"/>
            <a:ext cx="1742712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3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除电话营销外其他渠道全参与</a:t>
            </a:r>
          </a:p>
        </p:txBody>
      </p:sp>
      <p:sp>
        <p:nvSpPr>
          <p:cNvPr id="113" name="monthly_1_period"/>
          <p:cNvSpPr txBox="1"/>
          <p:nvPr/>
        </p:nvSpPr>
        <p:spPr>
          <a:xfrm>
            <a:off x="10602107" y="4890242"/>
            <a:ext cx="831251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14" name="monthly_2_develop"/>
          <p:cNvSpPr txBox="1"/>
          <p:nvPr/>
        </p:nvSpPr>
        <p:spPr>
          <a:xfrm>
            <a:off x="6336473" y="5072442"/>
            <a:ext cx="101354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5—7户（含5户）</a:t>
            </a:r>
          </a:p>
        </p:txBody>
      </p:sp>
      <p:sp>
        <p:nvSpPr>
          <p:cNvPr id="115" name="monthly_2_standard"/>
          <p:cNvSpPr txBox="1"/>
          <p:nvPr/>
        </p:nvSpPr>
        <p:spPr>
          <a:xfrm>
            <a:off x="7510434" y="5072442"/>
            <a:ext cx="1290627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110元/户</a:t>
            </a:r>
          </a:p>
        </p:txBody>
      </p:sp>
      <p:sp>
        <p:nvSpPr>
          <p:cNvPr id="116" name="monthly_2_channel"/>
          <p:cNvSpPr txBox="1"/>
          <p:nvPr/>
        </p:nvSpPr>
        <p:spPr>
          <a:xfrm>
            <a:off x="8822937" y="5072442"/>
            <a:ext cx="1742712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3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除电话营销外其他渠道全参与</a:t>
            </a:r>
          </a:p>
        </p:txBody>
      </p:sp>
      <p:sp>
        <p:nvSpPr>
          <p:cNvPr id="117" name="monthly_2_period"/>
          <p:cNvSpPr txBox="1"/>
          <p:nvPr/>
        </p:nvSpPr>
        <p:spPr>
          <a:xfrm>
            <a:off x="10602107" y="5072442"/>
            <a:ext cx="831251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18" name="monthly_3_develop"/>
          <p:cNvSpPr txBox="1"/>
          <p:nvPr/>
        </p:nvSpPr>
        <p:spPr>
          <a:xfrm>
            <a:off x="6336473" y="5254641"/>
            <a:ext cx="101354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8户及以上</a:t>
            </a:r>
          </a:p>
        </p:txBody>
      </p:sp>
      <p:sp>
        <p:nvSpPr>
          <p:cNvPr id="119" name="monthly_3_standard"/>
          <p:cNvSpPr txBox="1"/>
          <p:nvPr/>
        </p:nvSpPr>
        <p:spPr>
          <a:xfrm>
            <a:off x="7510434" y="5254641"/>
            <a:ext cx="1290627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210元/户</a:t>
            </a:r>
          </a:p>
        </p:txBody>
      </p:sp>
      <p:sp>
        <p:nvSpPr>
          <p:cNvPr id="120" name="monthly_3_channel"/>
          <p:cNvSpPr txBox="1"/>
          <p:nvPr/>
        </p:nvSpPr>
        <p:spPr>
          <a:xfrm>
            <a:off x="8822937" y="5254641"/>
            <a:ext cx="1742712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3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除电话营销外其他渠道全参与</a:t>
            </a:r>
          </a:p>
        </p:txBody>
      </p:sp>
      <p:sp>
        <p:nvSpPr>
          <p:cNvPr id="121" name="monthly_3_period"/>
          <p:cNvSpPr txBox="1"/>
          <p:nvPr/>
        </p:nvSpPr>
        <p:spPr>
          <a:xfrm>
            <a:off x="10602107" y="5254641"/>
            <a:ext cx="831251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22" name="monthly_4_develop"/>
          <p:cNvSpPr txBox="1"/>
          <p:nvPr/>
        </p:nvSpPr>
        <p:spPr>
          <a:xfrm>
            <a:off x="6336473" y="5436841"/>
            <a:ext cx="101354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12—19户</a:t>
            </a:r>
          </a:p>
        </p:txBody>
      </p:sp>
      <p:sp>
        <p:nvSpPr>
          <p:cNvPr id="123" name="monthly_4_standard"/>
          <p:cNvSpPr txBox="1"/>
          <p:nvPr/>
        </p:nvSpPr>
        <p:spPr>
          <a:xfrm>
            <a:off x="7510434" y="5436841"/>
            <a:ext cx="1290627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110元/户</a:t>
            </a:r>
          </a:p>
        </p:txBody>
      </p:sp>
      <p:sp>
        <p:nvSpPr>
          <p:cNvPr id="124" name="monthly_4_channel"/>
          <p:cNvSpPr txBox="1"/>
          <p:nvPr/>
        </p:nvSpPr>
        <p:spPr>
          <a:xfrm>
            <a:off x="8822937" y="5436841"/>
            <a:ext cx="1742712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电话营销渠道</a:t>
            </a:r>
          </a:p>
        </p:txBody>
      </p:sp>
      <p:sp>
        <p:nvSpPr>
          <p:cNvPr id="125" name="monthly_4_period"/>
          <p:cNvSpPr txBox="1"/>
          <p:nvPr/>
        </p:nvSpPr>
        <p:spPr>
          <a:xfrm>
            <a:off x="10602107" y="5436841"/>
            <a:ext cx="831251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26" name="monthly_5_develop"/>
          <p:cNvSpPr txBox="1"/>
          <p:nvPr/>
        </p:nvSpPr>
        <p:spPr>
          <a:xfrm>
            <a:off x="6336473" y="5619041"/>
            <a:ext cx="1013544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20户及以上</a:t>
            </a:r>
          </a:p>
        </p:txBody>
      </p:sp>
      <p:sp>
        <p:nvSpPr>
          <p:cNvPr id="127" name="monthly_5_standard"/>
          <p:cNvSpPr txBox="1"/>
          <p:nvPr/>
        </p:nvSpPr>
        <p:spPr>
          <a:xfrm>
            <a:off x="7510434" y="5619041"/>
            <a:ext cx="1290627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210元/户</a:t>
            </a:r>
          </a:p>
        </p:txBody>
      </p:sp>
      <p:sp>
        <p:nvSpPr>
          <p:cNvPr id="128" name="monthly_5_channel"/>
          <p:cNvSpPr txBox="1"/>
          <p:nvPr/>
        </p:nvSpPr>
        <p:spPr>
          <a:xfrm>
            <a:off x="8822937" y="5619041"/>
            <a:ext cx="1742712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电话营销渠道</a:t>
            </a:r>
          </a:p>
        </p:txBody>
      </p:sp>
      <p:sp>
        <p:nvSpPr>
          <p:cNvPr id="129" name="monthly_5_period"/>
          <p:cNvSpPr txBox="1"/>
          <p:nvPr/>
        </p:nvSpPr>
        <p:spPr>
          <a:xfrm>
            <a:off x="10602107" y="5619041"/>
            <a:ext cx="831251" cy="15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30" name="conditions_label"/>
          <p:cNvSpPr txBox="1"/>
          <p:nvPr/>
        </p:nvSpPr>
        <p:spPr>
          <a:xfrm>
            <a:off x="6117722" y="5932425"/>
            <a:ext cx="386459" cy="4372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4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计提</a:t>
            </a:r>
          </a:p>
          <a:p>
            <a:pPr algn="ctr">
              <a:lnSpc>
                <a:spcPct val="92000"/>
              </a:lnSpc>
            </a:pPr>
            <a:r>
              <a:rPr sz="145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131" name="condition_1"/>
          <p:cNvSpPr txBox="1"/>
          <p:nvPr/>
        </p:nvSpPr>
        <p:spPr>
          <a:xfrm>
            <a:off x="6569806" y="5939713"/>
            <a:ext cx="3995842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  用户正常入网且不欠费；FTTR须缴工，终端入网当月至次月在线天数≥7天。</a:t>
            </a:r>
          </a:p>
        </p:txBody>
      </p:sp>
      <p:sp>
        <p:nvSpPr>
          <p:cNvPr id="132" name="condition_2"/>
          <p:cNvSpPr txBox="1"/>
          <p:nvPr/>
        </p:nvSpPr>
        <p:spPr>
          <a:xfrm>
            <a:off x="6569806" y="6129200"/>
            <a:ext cx="3995842" cy="174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  按拉新情况核定系数：新证用户系数1，老证用户系数0.5，未拉新系数0.33。</a:t>
            </a:r>
          </a:p>
        </p:txBody>
      </p:sp>
      <p:sp>
        <p:nvSpPr>
          <p:cNvPr id="133" name="condition_note"/>
          <p:cNvSpPr txBox="1"/>
          <p:nvPr/>
        </p:nvSpPr>
        <p:spPr>
          <a:xfrm>
            <a:off x="10631274" y="5932425"/>
            <a:ext cx="867710" cy="4227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3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本案例按拉新</a:t>
            </a:r>
          </a:p>
          <a:p>
            <a:pPr algn="ctr">
              <a:lnSpc>
                <a:spcPct val="106000"/>
              </a:lnSpc>
            </a:pPr>
            <a:r>
              <a:rPr sz="1030" b="1" i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系数0.33测算</a:t>
            </a:r>
          </a:p>
        </p:txBody>
      </p:sp>
      <p:sp>
        <p:nvSpPr>
          <p:cNvPr id="134" name="footer_explain_label"/>
          <p:cNvSpPr txBox="1"/>
          <p:nvPr/>
        </p:nvSpPr>
        <p:spPr>
          <a:xfrm>
            <a:off x="838543" y="6522752"/>
            <a:ext cx="473959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20A0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说明：</a:t>
            </a:r>
          </a:p>
        </p:txBody>
      </p:sp>
      <p:sp>
        <p:nvSpPr>
          <p:cNvPr id="135" name="footer_explain"/>
          <p:cNvSpPr txBox="1"/>
          <p:nvPr/>
        </p:nvSpPr>
        <p:spPr>
          <a:xfrm>
            <a:off x="1312503" y="6522752"/>
            <a:ext cx="10448982" cy="18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11111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FTTR佣金于T1计提；套餐迁转服务费按对应场景及周期计提；达量激励于T3按实际达量档位和核定系数结算。具体以当地最新佣金政策及系统结算结果为准。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