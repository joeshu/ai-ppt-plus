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age-link-1"/>
          <p:cNvCxnSpPr/>
          <p:nvPr/>
        </p:nvCxnSpPr>
        <p:spPr>
          <a:xfrm>
            <a:off x="2255463" y="2674620"/>
            <a:ext cx="304792" cy="548640"/>
          </a:xfrm>
          <a:prstGeom prst="line">
            <a:avLst/>
          </a:prstGeom>
          <a:ln w="1778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age-link-2"/>
          <p:cNvCxnSpPr/>
          <p:nvPr/>
        </p:nvCxnSpPr>
        <p:spPr>
          <a:xfrm flipV="1">
            <a:off x="3840383" y="2674620"/>
            <a:ext cx="304793" cy="548640"/>
          </a:xfrm>
          <a:prstGeom prst="line">
            <a:avLst/>
          </a:prstGeom>
          <a:ln w="1778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age-link-3"/>
          <p:cNvCxnSpPr/>
          <p:nvPr/>
        </p:nvCxnSpPr>
        <p:spPr>
          <a:xfrm>
            <a:off x="5425304" y="2674620"/>
            <a:ext cx="304792" cy="548640"/>
          </a:xfrm>
          <a:prstGeom prst="line">
            <a:avLst/>
          </a:prstGeom>
          <a:ln w="1778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age-link-4"/>
          <p:cNvCxnSpPr/>
          <p:nvPr/>
        </p:nvCxnSpPr>
        <p:spPr>
          <a:xfrm flipV="1">
            <a:off x="7010224" y="2674620"/>
            <a:ext cx="304793" cy="548640"/>
          </a:xfrm>
          <a:prstGeom prst="line">
            <a:avLst/>
          </a:prstGeom>
          <a:ln w="1778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stage-1" descr="stage-1"/>
          <p:cNvGrpSpPr/>
          <p:nvPr/>
        </p:nvGrpSpPr>
        <p:grpSpPr>
          <a:xfrm>
            <a:off x="975335" y="2263140"/>
            <a:ext cx="1280127" cy="822960"/>
            <a:chOff x="975335" y="2263140"/>
            <a:chExt cx="1280127" cy="822960"/>
          </a:xfrm>
        </p:grpSpPr>
        <p:sp>
          <p:nvSpPr>
            <p:cNvPr id="10" name="stage-1-fill"/>
            <p:cNvSpPr/>
            <p:nvPr/>
          </p:nvSpPr>
          <p:spPr>
            <a:xfrm>
              <a:off x="975335" y="226314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age-1-accent"/>
            <p:cNvSpPr/>
            <p:nvPr/>
          </p:nvSpPr>
          <p:spPr>
            <a:xfrm>
              <a:off x="975335" y="2263140"/>
              <a:ext cx="1280127" cy="4526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stage-1-rule"/>
            <p:cNvCxnSpPr/>
            <p:nvPr/>
          </p:nvCxnSpPr>
          <p:spPr>
            <a:xfrm>
              <a:off x="1013739" y="3003804"/>
              <a:ext cx="1203320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stage-2" descr="stage-2"/>
          <p:cNvGrpSpPr/>
          <p:nvPr/>
        </p:nvGrpSpPr>
        <p:grpSpPr>
          <a:xfrm>
            <a:off x="2560255" y="2811780"/>
            <a:ext cx="1280127" cy="822960"/>
            <a:chOff x="2560255" y="2811780"/>
            <a:chExt cx="1280127" cy="822960"/>
          </a:xfrm>
        </p:grpSpPr>
        <p:sp>
          <p:nvSpPr>
            <p:cNvPr id="14" name="stage-2-fill"/>
            <p:cNvSpPr/>
            <p:nvPr/>
          </p:nvSpPr>
          <p:spPr>
            <a:xfrm>
              <a:off x="2560255" y="281178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stage-2-accent"/>
            <p:cNvSpPr/>
            <p:nvPr/>
          </p:nvSpPr>
          <p:spPr>
            <a:xfrm>
              <a:off x="2560255" y="2811780"/>
              <a:ext cx="1280127" cy="4526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stage-2-rule"/>
            <p:cNvCxnSpPr/>
            <p:nvPr/>
          </p:nvCxnSpPr>
          <p:spPr>
            <a:xfrm>
              <a:off x="2598659" y="3552444"/>
              <a:ext cx="1203321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stage-3" descr="stage-3"/>
          <p:cNvGrpSpPr/>
          <p:nvPr/>
        </p:nvGrpSpPr>
        <p:grpSpPr>
          <a:xfrm>
            <a:off x="4145176" y="2263140"/>
            <a:ext cx="1280127" cy="822960"/>
            <a:chOff x="4145176" y="2263140"/>
            <a:chExt cx="1280127" cy="822960"/>
          </a:xfrm>
        </p:grpSpPr>
        <p:sp>
          <p:nvSpPr>
            <p:cNvPr id="18" name="stage-3-fill"/>
            <p:cNvSpPr/>
            <p:nvPr/>
          </p:nvSpPr>
          <p:spPr>
            <a:xfrm>
              <a:off x="4145176" y="226314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age-3-accent"/>
            <p:cNvSpPr/>
            <p:nvPr/>
          </p:nvSpPr>
          <p:spPr>
            <a:xfrm>
              <a:off x="4145176" y="2263140"/>
              <a:ext cx="1280127" cy="4526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stage-3-rule"/>
            <p:cNvCxnSpPr/>
            <p:nvPr/>
          </p:nvCxnSpPr>
          <p:spPr>
            <a:xfrm>
              <a:off x="4183580" y="3003804"/>
              <a:ext cx="1203320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stage-4" descr="stage-4"/>
          <p:cNvGrpSpPr/>
          <p:nvPr/>
        </p:nvGrpSpPr>
        <p:grpSpPr>
          <a:xfrm>
            <a:off x="5730096" y="2811780"/>
            <a:ext cx="1280127" cy="822960"/>
            <a:chOff x="5730096" y="2811780"/>
            <a:chExt cx="1280127" cy="822960"/>
          </a:xfrm>
        </p:grpSpPr>
        <p:sp>
          <p:nvSpPr>
            <p:cNvPr id="22" name="stage-4-fill"/>
            <p:cNvSpPr/>
            <p:nvPr/>
          </p:nvSpPr>
          <p:spPr>
            <a:xfrm>
              <a:off x="5730096" y="281178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age-4-accent"/>
            <p:cNvSpPr/>
            <p:nvPr/>
          </p:nvSpPr>
          <p:spPr>
            <a:xfrm>
              <a:off x="5730096" y="2811780"/>
              <a:ext cx="1280127" cy="4526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stage-4-rule"/>
            <p:cNvCxnSpPr/>
            <p:nvPr/>
          </p:nvCxnSpPr>
          <p:spPr>
            <a:xfrm>
              <a:off x="5768500" y="3552444"/>
              <a:ext cx="1203320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stage-5" descr="stage-5"/>
          <p:cNvGrpSpPr/>
          <p:nvPr/>
        </p:nvGrpSpPr>
        <p:grpSpPr>
          <a:xfrm>
            <a:off x="7315017" y="2263140"/>
            <a:ext cx="1280127" cy="822960"/>
            <a:chOff x="7315017" y="2263140"/>
            <a:chExt cx="1280127" cy="822960"/>
          </a:xfrm>
        </p:grpSpPr>
        <p:sp>
          <p:nvSpPr>
            <p:cNvPr id="26" name="stage-5-fill"/>
            <p:cNvSpPr/>
            <p:nvPr/>
          </p:nvSpPr>
          <p:spPr>
            <a:xfrm>
              <a:off x="7315017" y="226314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ge-5-accent"/>
            <p:cNvSpPr/>
            <p:nvPr/>
          </p:nvSpPr>
          <p:spPr>
            <a:xfrm>
              <a:off x="7315017" y="2263140"/>
              <a:ext cx="1280127" cy="4526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stage-5-rule"/>
            <p:cNvCxnSpPr/>
            <p:nvPr/>
          </p:nvCxnSpPr>
          <p:spPr>
            <a:xfrm>
              <a:off x="7353420" y="3003804"/>
              <a:ext cx="1203321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segment-1" descr="segment-1"/>
          <p:cNvGrpSpPr/>
          <p:nvPr/>
        </p:nvGrpSpPr>
        <p:grpSpPr>
          <a:xfrm>
            <a:off x="3657508" y="3909059"/>
            <a:ext cx="1706837" cy="1097280"/>
            <a:chOff x="3657508" y="3909059"/>
            <a:chExt cx="1706837" cy="1097280"/>
          </a:xfrm>
        </p:grpSpPr>
        <p:sp>
          <p:nvSpPr>
            <p:cNvPr id="30" name="segment-1-fill"/>
            <p:cNvSpPr/>
            <p:nvPr/>
          </p:nvSpPr>
          <p:spPr>
            <a:xfrm>
              <a:off x="3657508" y="3909059"/>
              <a:ext cx="1706837" cy="109728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egment-1-accent"/>
            <p:cNvSpPr/>
            <p:nvPr/>
          </p:nvSpPr>
          <p:spPr>
            <a:xfrm>
              <a:off x="3657508" y="3909059"/>
              <a:ext cx="1706837" cy="6035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segment-1-rule"/>
            <p:cNvCxnSpPr/>
            <p:nvPr/>
          </p:nvCxnSpPr>
          <p:spPr>
            <a:xfrm>
              <a:off x="3708713" y="4896612"/>
              <a:ext cx="1604427" cy="109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segment-2" descr="segment-2"/>
          <p:cNvGrpSpPr/>
          <p:nvPr/>
        </p:nvGrpSpPr>
        <p:grpSpPr>
          <a:xfrm>
            <a:off x="5852013" y="3909059"/>
            <a:ext cx="1706837" cy="1097280"/>
            <a:chOff x="5852013" y="3909059"/>
            <a:chExt cx="1706837" cy="1097280"/>
          </a:xfrm>
        </p:grpSpPr>
        <p:sp>
          <p:nvSpPr>
            <p:cNvPr id="34" name="segment-2-fill"/>
            <p:cNvSpPr/>
            <p:nvPr/>
          </p:nvSpPr>
          <p:spPr>
            <a:xfrm>
              <a:off x="5852013" y="3909059"/>
              <a:ext cx="1706837" cy="109728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egment-2-accent"/>
            <p:cNvSpPr/>
            <p:nvPr/>
          </p:nvSpPr>
          <p:spPr>
            <a:xfrm>
              <a:off x="5852013" y="3909059"/>
              <a:ext cx="1706837" cy="60350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segment-2-rule"/>
            <p:cNvCxnSpPr/>
            <p:nvPr/>
          </p:nvCxnSpPr>
          <p:spPr>
            <a:xfrm>
              <a:off x="5903218" y="4896612"/>
              <a:ext cx="1604427" cy="109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segment-3" descr="segment-3"/>
          <p:cNvGrpSpPr/>
          <p:nvPr/>
        </p:nvGrpSpPr>
        <p:grpSpPr>
          <a:xfrm>
            <a:off x="8046518" y="3909059"/>
            <a:ext cx="1706837" cy="1097280"/>
            <a:chOff x="8046518" y="3909059"/>
            <a:chExt cx="1706837" cy="1097280"/>
          </a:xfrm>
        </p:grpSpPr>
        <p:sp>
          <p:nvSpPr>
            <p:cNvPr id="38" name="segment-3-fill"/>
            <p:cNvSpPr/>
            <p:nvPr/>
          </p:nvSpPr>
          <p:spPr>
            <a:xfrm>
              <a:off x="8046518" y="3909059"/>
              <a:ext cx="1706837" cy="109728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egment-3-accent"/>
            <p:cNvSpPr/>
            <p:nvPr/>
          </p:nvSpPr>
          <p:spPr>
            <a:xfrm>
              <a:off x="8046518" y="3909059"/>
              <a:ext cx="1706837" cy="60350"/>
            </a:xfrm>
            <a:prstGeom prst="rect">
              <a:avLst/>
            </a:prstGeom>
            <a:solidFill>
              <a:srgbClr val="F3B8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segment-3-rule"/>
            <p:cNvCxnSpPr/>
            <p:nvPr/>
          </p:nvCxnSpPr>
          <p:spPr>
            <a:xfrm>
              <a:off x="8097723" y="4896612"/>
              <a:ext cx="1604427" cy="109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battle-result" descr="battle-result"/>
          <p:cNvGrpSpPr/>
          <p:nvPr/>
        </p:nvGrpSpPr>
        <p:grpSpPr>
          <a:xfrm>
            <a:off x="9143771" y="2263140"/>
            <a:ext cx="2194505" cy="2606040"/>
            <a:chOff x="9143771" y="2263140"/>
            <a:chExt cx="2194505" cy="2606040"/>
          </a:xfrm>
        </p:grpSpPr>
        <p:sp>
          <p:nvSpPr>
            <p:cNvPr id="42" name="battle-result-fill"/>
            <p:cNvSpPr/>
            <p:nvPr/>
          </p:nvSpPr>
          <p:spPr>
            <a:xfrm>
              <a:off x="9143771" y="2263140"/>
              <a:ext cx="2194505" cy="260604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battle-result-accent"/>
            <p:cNvSpPr/>
            <p:nvPr/>
          </p:nvSpPr>
          <p:spPr>
            <a:xfrm>
              <a:off x="9143771" y="2263140"/>
              <a:ext cx="2194505" cy="14333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battle-result-rule"/>
            <p:cNvCxnSpPr/>
            <p:nvPr/>
          </p:nvCxnSpPr>
          <p:spPr>
            <a:xfrm>
              <a:off x="9209606" y="4608576"/>
              <a:ext cx="2062835" cy="2606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存量用户价值提升作战图</a:t>
            </a:r>
          </a:p>
        </p:txBody>
      </p:sp>
      <p:sp>
        <p:nvSpPr>
          <p:cNvPr id="46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识别—分层—触达—转化—留存</a:t>
            </a:r>
          </a:p>
        </p:txBody>
      </p:sp>
      <p:sp>
        <p:nvSpPr>
          <p:cNvPr id="47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48" name="stage-1-text"/>
          <p:cNvSpPr txBox="1"/>
          <p:nvPr/>
        </p:nvSpPr>
        <p:spPr>
          <a:xfrm>
            <a:off x="975335" y="257175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识别</a:t>
            </a:r>
          </a:p>
        </p:txBody>
      </p:sp>
      <p:sp>
        <p:nvSpPr>
          <p:cNvPr id="49" name="stage-2-text"/>
          <p:cNvSpPr txBox="1"/>
          <p:nvPr/>
        </p:nvSpPr>
        <p:spPr>
          <a:xfrm>
            <a:off x="2560255" y="312039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分层</a:t>
            </a:r>
          </a:p>
        </p:txBody>
      </p:sp>
      <p:sp>
        <p:nvSpPr>
          <p:cNvPr id="50" name="stage-3-text"/>
          <p:cNvSpPr txBox="1"/>
          <p:nvPr/>
        </p:nvSpPr>
        <p:spPr>
          <a:xfrm>
            <a:off x="4145176" y="257175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触达</a:t>
            </a:r>
          </a:p>
        </p:txBody>
      </p:sp>
      <p:sp>
        <p:nvSpPr>
          <p:cNvPr id="51" name="stage-4-text"/>
          <p:cNvSpPr txBox="1"/>
          <p:nvPr/>
        </p:nvSpPr>
        <p:spPr>
          <a:xfrm>
            <a:off x="5730096" y="312039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转化</a:t>
            </a:r>
          </a:p>
        </p:txBody>
      </p:sp>
      <p:sp>
        <p:nvSpPr>
          <p:cNvPr id="52" name="stage-5-text"/>
          <p:cNvSpPr txBox="1"/>
          <p:nvPr/>
        </p:nvSpPr>
        <p:spPr>
          <a:xfrm>
            <a:off x="7315017" y="257175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留存</a:t>
            </a:r>
          </a:p>
        </p:txBody>
      </p:sp>
      <p:sp>
        <p:nvSpPr>
          <p:cNvPr id="53" name="segment-1-text"/>
          <p:cNvSpPr txBox="1"/>
          <p:nvPr/>
        </p:nvSpPr>
        <p:spPr>
          <a:xfrm>
            <a:off x="3779425" y="4320540"/>
            <a:ext cx="1463003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高价值</a:t>
            </a:r>
          </a:p>
        </p:txBody>
      </p:sp>
      <p:sp>
        <p:nvSpPr>
          <p:cNvPr id="54" name="segment-2-text"/>
          <p:cNvSpPr txBox="1"/>
          <p:nvPr/>
        </p:nvSpPr>
        <p:spPr>
          <a:xfrm>
            <a:off x="5973930" y="4320540"/>
            <a:ext cx="1463003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潜力用户</a:t>
            </a:r>
          </a:p>
        </p:txBody>
      </p:sp>
      <p:sp>
        <p:nvSpPr>
          <p:cNvPr id="55" name="segment-3-text"/>
          <p:cNvSpPr txBox="1"/>
          <p:nvPr/>
        </p:nvSpPr>
        <p:spPr>
          <a:xfrm>
            <a:off x="8168435" y="4320540"/>
            <a:ext cx="1463003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风险用户</a:t>
            </a:r>
          </a:p>
        </p:txBody>
      </p:sp>
      <p:sp>
        <p:nvSpPr>
          <p:cNvPr id="56" name="battle-result-text"/>
          <p:cNvSpPr txBox="1"/>
          <p:nvPr/>
        </p:nvSpPr>
        <p:spPr>
          <a:xfrm>
            <a:off x="9387605" y="3223260"/>
            <a:ext cx="1706837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4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作战结果</a:t>
            </a:r>
          </a:p>
        </p:txBody>
      </p:sp>
      <p:sp>
        <p:nvSpPr>
          <p:cNvPr id="57" name="irregular-actions"/>
          <p:cNvSpPr txBox="1"/>
          <p:nvPr/>
        </p:nvSpPr>
        <p:spPr>
          <a:xfrm>
            <a:off x="975335" y="5212080"/>
            <a:ext cx="4632844" cy="75438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行动清单</a:t>
            </a:r>
          </a:p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 识别高价值</a:t>
            </a:r>
          </a:p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 分层定策略</a:t>
            </a:r>
          </a:p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 复盘沉淀</a:t>
            </a:r>
          </a:p>
        </p:txBody>
      </p:sp>
      <p:sp>
        <p:nvSpPr>
          <p:cNvPr id="58" name="irregular-note"/>
          <p:cNvSpPr txBox="1"/>
          <p:nvPr/>
        </p:nvSpPr>
        <p:spPr>
          <a:xfrm>
            <a:off x="6949266" y="6172200"/>
            <a:ext cx="4267093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折角面板 / 斜切节奏 / 连接线层级 / native groups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