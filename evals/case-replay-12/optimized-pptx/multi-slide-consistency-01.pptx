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loop-center"/>
          <p:cNvSpPr/>
          <p:nvPr/>
        </p:nvSpPr>
        <p:spPr>
          <a:xfrm>
            <a:off x="4876678" y="2606040"/>
            <a:ext cx="2438339" cy="1234440"/>
          </a:xfrm>
          <a:prstGeom prst="ellipse">
            <a:avLst/>
          </a:prstGeom>
          <a:solidFill>
            <a:srgbClr val="102F4F"/>
          </a:solidFill>
          <a:ln w="16510">
            <a:solidFill>
              <a:srgbClr val="E600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loop-link-1"/>
          <p:cNvCxnSpPr/>
          <p:nvPr/>
        </p:nvCxnSpPr>
        <p:spPr>
          <a:xfrm flipH="1" flipV="1">
            <a:off x="2133546" y="2743200"/>
            <a:ext cx="3962301" cy="48006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oop-link-2"/>
          <p:cNvCxnSpPr/>
          <p:nvPr/>
        </p:nvCxnSpPr>
        <p:spPr>
          <a:xfrm flipH="1" flipV="1">
            <a:off x="4693802" y="1988820"/>
            <a:ext cx="1402045" cy="123444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op-link-3"/>
          <p:cNvCxnSpPr/>
          <p:nvPr/>
        </p:nvCxnSpPr>
        <p:spPr>
          <a:xfrm flipV="1">
            <a:off x="6095847" y="1988820"/>
            <a:ext cx="1889713" cy="123444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op-link-4"/>
          <p:cNvCxnSpPr/>
          <p:nvPr/>
        </p:nvCxnSpPr>
        <p:spPr>
          <a:xfrm flipV="1">
            <a:off x="6095847" y="2743200"/>
            <a:ext cx="4449969" cy="480060"/>
          </a:xfrm>
          <a:prstGeom prst="line">
            <a:avLst/>
          </a:prstGeom>
          <a:ln w="1524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op-link-5"/>
          <p:cNvCxnSpPr/>
          <p:nvPr/>
        </p:nvCxnSpPr>
        <p:spPr>
          <a:xfrm flipH="1">
            <a:off x="5669138" y="3223260"/>
            <a:ext cx="426709" cy="1577340"/>
          </a:xfrm>
          <a:prstGeom prst="line">
            <a:avLst/>
          </a:prstGeom>
          <a:ln w="1524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module-card-1" descr="module-card-1"/>
          <p:cNvGrpSpPr/>
          <p:nvPr/>
        </p:nvGrpSpPr>
        <p:grpSpPr>
          <a:xfrm>
            <a:off x="1097252" y="2125980"/>
            <a:ext cx="2072588" cy="1234440"/>
            <a:chOff x="1097252" y="2125980"/>
            <a:chExt cx="2072588" cy="1234440"/>
          </a:xfrm>
        </p:grpSpPr>
        <p:sp>
          <p:nvSpPr>
            <p:cNvPr id="12" name="module-card-1-fill"/>
            <p:cNvSpPr/>
            <p:nvPr/>
          </p:nvSpPr>
          <p:spPr>
            <a:xfrm>
              <a:off x="1097252" y="212598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module-card-1-accent"/>
            <p:cNvSpPr/>
            <p:nvPr/>
          </p:nvSpPr>
          <p:spPr>
            <a:xfrm>
              <a:off x="1097252" y="212598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module-card-1-rule"/>
            <p:cNvCxnSpPr/>
            <p:nvPr/>
          </p:nvCxnSpPr>
          <p:spPr>
            <a:xfrm>
              <a:off x="1159430" y="323697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module-card-2" descr="module-card-2"/>
          <p:cNvGrpSpPr/>
          <p:nvPr/>
        </p:nvGrpSpPr>
        <p:grpSpPr>
          <a:xfrm>
            <a:off x="3657508" y="1371600"/>
            <a:ext cx="2072588" cy="1234440"/>
            <a:chOff x="3657508" y="1371600"/>
            <a:chExt cx="2072588" cy="1234440"/>
          </a:xfrm>
        </p:grpSpPr>
        <p:sp>
          <p:nvSpPr>
            <p:cNvPr id="16" name="module-card-2-fill"/>
            <p:cNvSpPr/>
            <p:nvPr/>
          </p:nvSpPr>
          <p:spPr>
            <a:xfrm>
              <a:off x="3657508" y="137160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module-card-2-accent"/>
            <p:cNvSpPr/>
            <p:nvPr/>
          </p:nvSpPr>
          <p:spPr>
            <a:xfrm>
              <a:off x="3657508" y="137160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module-card-2-rule"/>
            <p:cNvCxnSpPr/>
            <p:nvPr/>
          </p:nvCxnSpPr>
          <p:spPr>
            <a:xfrm>
              <a:off x="3719686" y="248259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module-card-3" descr="module-card-3"/>
          <p:cNvGrpSpPr/>
          <p:nvPr/>
        </p:nvGrpSpPr>
        <p:grpSpPr>
          <a:xfrm>
            <a:off x="6949266" y="1371600"/>
            <a:ext cx="2072588" cy="1234440"/>
            <a:chOff x="6949266" y="1371600"/>
            <a:chExt cx="2072588" cy="1234440"/>
          </a:xfrm>
        </p:grpSpPr>
        <p:sp>
          <p:nvSpPr>
            <p:cNvPr id="20" name="module-card-3-fill"/>
            <p:cNvSpPr/>
            <p:nvPr/>
          </p:nvSpPr>
          <p:spPr>
            <a:xfrm>
              <a:off x="6949266" y="137160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module-card-3-accent"/>
            <p:cNvSpPr/>
            <p:nvPr/>
          </p:nvSpPr>
          <p:spPr>
            <a:xfrm>
              <a:off x="6949266" y="137160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module-card-3-rule"/>
            <p:cNvCxnSpPr/>
            <p:nvPr/>
          </p:nvCxnSpPr>
          <p:spPr>
            <a:xfrm>
              <a:off x="7011443" y="248259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module-card-4" descr="module-card-4"/>
          <p:cNvGrpSpPr/>
          <p:nvPr/>
        </p:nvGrpSpPr>
        <p:grpSpPr>
          <a:xfrm>
            <a:off x="9509522" y="2125980"/>
            <a:ext cx="2072588" cy="1234440"/>
            <a:chOff x="9509522" y="2125980"/>
            <a:chExt cx="2072588" cy="1234440"/>
          </a:xfrm>
        </p:grpSpPr>
        <p:sp>
          <p:nvSpPr>
            <p:cNvPr id="24" name="module-card-4-fill"/>
            <p:cNvSpPr/>
            <p:nvPr/>
          </p:nvSpPr>
          <p:spPr>
            <a:xfrm>
              <a:off x="9509522" y="212598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module-card-4-accent"/>
            <p:cNvSpPr/>
            <p:nvPr/>
          </p:nvSpPr>
          <p:spPr>
            <a:xfrm>
              <a:off x="9509522" y="2125980"/>
              <a:ext cx="2072588" cy="6789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module-card-4-rule"/>
            <p:cNvCxnSpPr/>
            <p:nvPr/>
          </p:nvCxnSpPr>
          <p:spPr>
            <a:xfrm>
              <a:off x="9571699" y="323697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odule-card-5" descr="module-card-5"/>
          <p:cNvGrpSpPr/>
          <p:nvPr/>
        </p:nvGrpSpPr>
        <p:grpSpPr>
          <a:xfrm>
            <a:off x="4632844" y="4183380"/>
            <a:ext cx="2072588" cy="1234440"/>
            <a:chOff x="4632844" y="4183380"/>
            <a:chExt cx="2072588" cy="1234440"/>
          </a:xfrm>
        </p:grpSpPr>
        <p:sp>
          <p:nvSpPr>
            <p:cNvPr id="28" name="module-card-5-fill"/>
            <p:cNvSpPr/>
            <p:nvPr/>
          </p:nvSpPr>
          <p:spPr>
            <a:xfrm>
              <a:off x="4632844" y="4183380"/>
              <a:ext cx="2072588" cy="123444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module-card-5-accent"/>
            <p:cNvSpPr/>
            <p:nvPr/>
          </p:nvSpPr>
          <p:spPr>
            <a:xfrm>
              <a:off x="4632844" y="4183380"/>
              <a:ext cx="2072588" cy="6789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module-card-5-rule"/>
            <p:cNvCxnSpPr/>
            <p:nvPr/>
          </p:nvCxnSpPr>
          <p:spPr>
            <a:xfrm>
              <a:off x="4695021" y="5294376"/>
              <a:ext cx="1948233" cy="1234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经营闭环一页总览</a:t>
            </a:r>
          </a:p>
        </p:txBody>
      </p:sp>
      <p:sp>
        <p:nvSpPr>
          <p:cNvPr id="32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统一口径｜统一节奏｜统一动作</a:t>
            </a:r>
          </a:p>
        </p:txBody>
      </p:sp>
      <p:sp>
        <p:nvSpPr>
          <p:cNvPr id="33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34" name="module-card-1-index"/>
          <p:cNvSpPr txBox="1"/>
          <p:nvPr/>
        </p:nvSpPr>
        <p:spPr>
          <a:xfrm>
            <a:off x="1280127" y="229743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5" name="module-card-1-title"/>
          <p:cNvSpPr txBox="1"/>
          <p:nvPr/>
        </p:nvSpPr>
        <p:spPr>
          <a:xfrm>
            <a:off x="1280127" y="260604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目标设定</a:t>
            </a:r>
          </a:p>
        </p:txBody>
      </p:sp>
      <p:sp>
        <p:nvSpPr>
          <p:cNvPr id="36" name="module-card-1-tag"/>
          <p:cNvSpPr txBox="1"/>
          <p:nvPr/>
        </p:nvSpPr>
        <p:spPr>
          <a:xfrm>
            <a:off x="1280127" y="301752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37" name="module-card-2-index"/>
          <p:cNvSpPr txBox="1"/>
          <p:nvPr/>
        </p:nvSpPr>
        <p:spPr>
          <a:xfrm>
            <a:off x="3840383" y="154305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8" name="module-card-2-title"/>
          <p:cNvSpPr txBox="1"/>
          <p:nvPr/>
        </p:nvSpPr>
        <p:spPr>
          <a:xfrm>
            <a:off x="3840383" y="185166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过程经营</a:t>
            </a:r>
          </a:p>
        </p:txBody>
      </p:sp>
      <p:sp>
        <p:nvSpPr>
          <p:cNvPr id="39" name="module-card-2-tag"/>
          <p:cNvSpPr txBox="1"/>
          <p:nvPr/>
        </p:nvSpPr>
        <p:spPr>
          <a:xfrm>
            <a:off x="3840383" y="226314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0" name="module-card-3-index"/>
          <p:cNvSpPr txBox="1"/>
          <p:nvPr/>
        </p:nvSpPr>
        <p:spPr>
          <a:xfrm>
            <a:off x="7132141" y="154305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1" name="module-card-3-title"/>
          <p:cNvSpPr txBox="1"/>
          <p:nvPr/>
        </p:nvSpPr>
        <p:spPr>
          <a:xfrm>
            <a:off x="7132141" y="185166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问题诊断</a:t>
            </a:r>
          </a:p>
        </p:txBody>
      </p:sp>
      <p:sp>
        <p:nvSpPr>
          <p:cNvPr id="42" name="module-card-3-tag"/>
          <p:cNvSpPr txBox="1"/>
          <p:nvPr/>
        </p:nvSpPr>
        <p:spPr>
          <a:xfrm>
            <a:off x="7132141" y="226314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3" name="module-card-4-index"/>
          <p:cNvSpPr txBox="1"/>
          <p:nvPr/>
        </p:nvSpPr>
        <p:spPr>
          <a:xfrm>
            <a:off x="9692397" y="229743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4" name="module-card-4-title"/>
          <p:cNvSpPr txBox="1"/>
          <p:nvPr/>
        </p:nvSpPr>
        <p:spPr>
          <a:xfrm>
            <a:off x="9692397" y="260604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资源调度</a:t>
            </a:r>
          </a:p>
        </p:txBody>
      </p:sp>
      <p:sp>
        <p:nvSpPr>
          <p:cNvPr id="45" name="module-card-4-tag"/>
          <p:cNvSpPr txBox="1"/>
          <p:nvPr/>
        </p:nvSpPr>
        <p:spPr>
          <a:xfrm>
            <a:off x="9692397" y="301752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6" name="module-card-5-index"/>
          <p:cNvSpPr txBox="1"/>
          <p:nvPr/>
        </p:nvSpPr>
        <p:spPr>
          <a:xfrm>
            <a:off x="4815719" y="4354830"/>
            <a:ext cx="48766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7" name="module-card-5-title"/>
          <p:cNvSpPr txBox="1"/>
          <p:nvPr/>
        </p:nvSpPr>
        <p:spPr>
          <a:xfrm>
            <a:off x="4815719" y="4663440"/>
            <a:ext cx="170683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结果复盘</a:t>
            </a:r>
          </a:p>
        </p:txBody>
      </p:sp>
      <p:sp>
        <p:nvSpPr>
          <p:cNvPr id="48" name="module-card-5-tag"/>
          <p:cNvSpPr txBox="1"/>
          <p:nvPr/>
        </p:nvSpPr>
        <p:spPr>
          <a:xfrm>
            <a:off x="4815719" y="5074920"/>
            <a:ext cx="170683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同源组件</a:t>
            </a:r>
          </a:p>
        </p:txBody>
      </p:sp>
      <p:sp>
        <p:nvSpPr>
          <p:cNvPr id="49" name="loop-center-text"/>
          <p:cNvSpPr txBox="1"/>
          <p:nvPr/>
        </p:nvSpPr>
        <p:spPr>
          <a:xfrm>
            <a:off x="5059553" y="2846070"/>
            <a:ext cx="2072588" cy="6858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统一口径</a:t>
            </a:r>
          </a:p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统一节奏</a:t>
            </a:r>
          </a:p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统一动作</a:t>
            </a:r>
          </a:p>
        </p:txBody>
      </p:sp>
      <p:sp>
        <p:nvSpPr>
          <p:cNvPr id="50" name="consistency-note"/>
          <p:cNvSpPr txBox="1"/>
          <p:nvPr/>
        </p:nvSpPr>
        <p:spPr>
          <a:xfrm>
            <a:off x="853418" y="6172200"/>
            <a:ext cx="7315017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19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五个重复模块使用同一组件 token、几何和文字基线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