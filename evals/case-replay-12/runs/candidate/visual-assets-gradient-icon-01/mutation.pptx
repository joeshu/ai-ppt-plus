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rbital-core"/>
          <p:cNvSpPr/>
          <p:nvPr/>
        </p:nvSpPr>
        <p:spPr>
          <a:xfrm>
            <a:off x="4632844" y="2057400"/>
            <a:ext cx="2926006" cy="2331720"/>
          </a:xfrm>
          <a:prstGeom prst="ellipse">
            <a:avLst/>
          </a:prstGeom>
          <a:gradFill rotWithShape="1">
            <a:gsLst>
              <a:gs pos="0">
                <a:srgbClr val="1687FF"/>
              </a:gs>
              <a:gs pos="55000">
                <a:srgbClr val="7B4DFF"/>
              </a:gs>
              <a:gs pos="100000">
                <a:srgbClr val="E60012"/>
              </a:gs>
            </a:gsLst>
            <a:lin ang="2700000" scaled="1"/>
          </a:gradFill>
          <a:ln w="15240">
            <a:solidFill>
              <a:srgbClr val="168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bit-ring-1"/>
          <p:cNvSpPr/>
          <p:nvPr/>
        </p:nvSpPr>
        <p:spPr>
          <a:xfrm>
            <a:off x="3901342" y="1714500"/>
            <a:ext cx="4389010" cy="3017520"/>
          </a:xfrm>
          <a:prstGeom prst="ellipse">
            <a:avLst/>
          </a:prstGeom>
          <a:noFill/>
          <a:ln w="12700">
            <a:solidFill>
              <a:srgbClr val="168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rbit-ring-2"/>
          <p:cNvSpPr/>
          <p:nvPr/>
        </p:nvSpPr>
        <p:spPr>
          <a:xfrm>
            <a:off x="4267093" y="2331720"/>
            <a:ext cx="3657508" cy="1783080"/>
          </a:xfrm>
          <a:prstGeom prst="ellipse">
            <a:avLst/>
          </a:prstGeom>
          <a:noFill/>
          <a:ln w="10160">
            <a:solidFill>
              <a:srgbClr val="E6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capability-1" descr="capability-1"/>
          <p:cNvGrpSpPr/>
          <p:nvPr/>
        </p:nvGrpSpPr>
        <p:grpSpPr>
          <a:xfrm>
            <a:off x="1463003" y="2125980"/>
            <a:ext cx="2194505" cy="891540"/>
            <a:chOff x="1463003" y="2125980"/>
            <a:chExt cx="2194505" cy="891540"/>
          </a:xfrm>
        </p:grpSpPr>
        <p:sp>
          <p:nvSpPr>
            <p:cNvPr id="9" name="capability-1-fill"/>
            <p:cNvSpPr/>
            <p:nvPr/>
          </p:nvSpPr>
          <p:spPr>
            <a:xfrm>
              <a:off x="1463003" y="2125980"/>
              <a:ext cx="2194505" cy="89154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capability-1-accent"/>
            <p:cNvSpPr/>
            <p:nvPr/>
          </p:nvSpPr>
          <p:spPr>
            <a:xfrm>
              <a:off x="1463003" y="2125980"/>
              <a:ext cx="2194505" cy="4903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apability-1-rule"/>
            <p:cNvCxnSpPr/>
            <p:nvPr/>
          </p:nvCxnSpPr>
          <p:spPr>
            <a:xfrm>
              <a:off x="1528838" y="2928366"/>
              <a:ext cx="2062835" cy="891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capability-2" descr="capability-2"/>
          <p:cNvGrpSpPr/>
          <p:nvPr/>
        </p:nvGrpSpPr>
        <p:grpSpPr>
          <a:xfrm>
            <a:off x="8290352" y="2125980"/>
            <a:ext cx="2194505" cy="891540"/>
            <a:chOff x="8290352" y="2125980"/>
            <a:chExt cx="2194505" cy="891540"/>
          </a:xfrm>
        </p:grpSpPr>
        <p:sp>
          <p:nvSpPr>
            <p:cNvPr id="13" name="capability-2-fill"/>
            <p:cNvSpPr/>
            <p:nvPr/>
          </p:nvSpPr>
          <p:spPr>
            <a:xfrm>
              <a:off x="8290352" y="2125980"/>
              <a:ext cx="2194505" cy="89154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apability-2-accent"/>
            <p:cNvSpPr/>
            <p:nvPr/>
          </p:nvSpPr>
          <p:spPr>
            <a:xfrm>
              <a:off x="8290352" y="2125980"/>
              <a:ext cx="2194505" cy="4903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apability-2-rule"/>
            <p:cNvCxnSpPr/>
            <p:nvPr/>
          </p:nvCxnSpPr>
          <p:spPr>
            <a:xfrm>
              <a:off x="8356187" y="2928366"/>
              <a:ext cx="2062835" cy="891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capability-3" descr="capability-3"/>
          <p:cNvGrpSpPr/>
          <p:nvPr/>
        </p:nvGrpSpPr>
        <p:grpSpPr>
          <a:xfrm>
            <a:off x="1463003" y="3909059"/>
            <a:ext cx="2194505" cy="891540"/>
            <a:chOff x="1463003" y="3909059"/>
            <a:chExt cx="2194505" cy="891540"/>
          </a:xfrm>
        </p:grpSpPr>
        <p:sp>
          <p:nvSpPr>
            <p:cNvPr id="17" name="capability-3-fill"/>
            <p:cNvSpPr/>
            <p:nvPr/>
          </p:nvSpPr>
          <p:spPr>
            <a:xfrm>
              <a:off x="1463003" y="3909059"/>
              <a:ext cx="2194505" cy="89154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capability-3-accent"/>
            <p:cNvSpPr/>
            <p:nvPr/>
          </p:nvSpPr>
          <p:spPr>
            <a:xfrm>
              <a:off x="1463003" y="3909059"/>
              <a:ext cx="2194505" cy="4903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apability-3-rule"/>
            <p:cNvCxnSpPr/>
            <p:nvPr/>
          </p:nvCxnSpPr>
          <p:spPr>
            <a:xfrm>
              <a:off x="1528838" y="4711446"/>
              <a:ext cx="2062835" cy="891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capability-4" descr="capability-4"/>
          <p:cNvGrpSpPr/>
          <p:nvPr/>
        </p:nvGrpSpPr>
        <p:grpSpPr>
          <a:xfrm>
            <a:off x="8290352" y="3909059"/>
            <a:ext cx="2194505" cy="891540"/>
            <a:chOff x="8290352" y="3909059"/>
            <a:chExt cx="2194505" cy="891540"/>
          </a:xfrm>
        </p:grpSpPr>
        <p:sp>
          <p:nvSpPr>
            <p:cNvPr id="21" name="capability-4-fill"/>
            <p:cNvSpPr/>
            <p:nvPr/>
          </p:nvSpPr>
          <p:spPr>
            <a:xfrm>
              <a:off x="8290352" y="3909059"/>
              <a:ext cx="2194505" cy="89154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apability-4-accent"/>
            <p:cNvSpPr/>
            <p:nvPr/>
          </p:nvSpPr>
          <p:spPr>
            <a:xfrm>
              <a:off x="8290352" y="3909059"/>
              <a:ext cx="2194505" cy="4903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apability-4-rule"/>
            <p:cNvCxnSpPr/>
            <p:nvPr/>
          </p:nvCxnSpPr>
          <p:spPr>
            <a:xfrm>
              <a:off x="8356187" y="4711446"/>
              <a:ext cx="2062835" cy="891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value-1" descr="value-1"/>
          <p:cNvGrpSpPr/>
          <p:nvPr/>
        </p:nvGrpSpPr>
        <p:grpSpPr>
          <a:xfrm>
            <a:off x="4267093" y="5486400"/>
            <a:ext cx="2194505" cy="548640"/>
            <a:chOff x="4267093" y="5486400"/>
            <a:chExt cx="2194505" cy="548640"/>
          </a:xfrm>
        </p:grpSpPr>
        <p:sp>
          <p:nvSpPr>
            <p:cNvPr id="25" name="value-1-fill"/>
            <p:cNvSpPr/>
            <p:nvPr/>
          </p:nvSpPr>
          <p:spPr>
            <a:xfrm>
              <a:off x="4267093" y="5486400"/>
              <a:ext cx="2194505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value-1-accent"/>
            <p:cNvSpPr/>
            <p:nvPr/>
          </p:nvSpPr>
          <p:spPr>
            <a:xfrm>
              <a:off x="4267093" y="5486400"/>
              <a:ext cx="2194505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value-1-rule"/>
            <p:cNvCxnSpPr/>
            <p:nvPr/>
          </p:nvCxnSpPr>
          <p:spPr>
            <a:xfrm>
              <a:off x="4332928" y="5980176"/>
              <a:ext cx="2062835" cy="54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value-2" descr="value-2"/>
          <p:cNvGrpSpPr/>
          <p:nvPr/>
        </p:nvGrpSpPr>
        <p:grpSpPr>
          <a:xfrm>
            <a:off x="6949266" y="5486400"/>
            <a:ext cx="2194505" cy="548640"/>
            <a:chOff x="6949266" y="5486400"/>
            <a:chExt cx="2194505" cy="548640"/>
          </a:xfrm>
        </p:grpSpPr>
        <p:sp>
          <p:nvSpPr>
            <p:cNvPr id="29" name="value-2-fill"/>
            <p:cNvSpPr/>
            <p:nvPr/>
          </p:nvSpPr>
          <p:spPr>
            <a:xfrm>
              <a:off x="6949266" y="5486400"/>
              <a:ext cx="2194505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value-2-accent"/>
            <p:cNvSpPr/>
            <p:nvPr/>
          </p:nvSpPr>
          <p:spPr>
            <a:xfrm>
              <a:off x="6949266" y="5486400"/>
              <a:ext cx="2194505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value-2-rule"/>
            <p:cNvCxnSpPr/>
            <p:nvPr/>
          </p:nvCxnSpPr>
          <p:spPr>
            <a:xfrm>
              <a:off x="7015101" y="5980176"/>
              <a:ext cx="2062835" cy="54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value-3" descr="value-3"/>
          <p:cNvGrpSpPr/>
          <p:nvPr/>
        </p:nvGrpSpPr>
        <p:grpSpPr>
          <a:xfrm>
            <a:off x="9631439" y="5486400"/>
            <a:ext cx="2194505" cy="548640"/>
            <a:chOff x="9631439" y="5486400"/>
            <a:chExt cx="2194505" cy="548640"/>
          </a:xfrm>
        </p:grpSpPr>
        <p:sp>
          <p:nvSpPr>
            <p:cNvPr id="33" name="value-3-fill"/>
            <p:cNvSpPr/>
            <p:nvPr/>
          </p:nvSpPr>
          <p:spPr>
            <a:xfrm>
              <a:off x="9631439" y="5486400"/>
              <a:ext cx="2194505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value-3-accent"/>
            <p:cNvSpPr/>
            <p:nvPr/>
          </p:nvSpPr>
          <p:spPr>
            <a:xfrm>
              <a:off x="9631439" y="5486400"/>
              <a:ext cx="2194505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value-3-rule"/>
            <p:cNvCxnSpPr/>
            <p:nvPr/>
          </p:nvCxnSpPr>
          <p:spPr>
            <a:xfrm>
              <a:off x="9697274" y="5980176"/>
              <a:ext cx="2062834" cy="54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5G-A能力全景</a:t>
            </a:r>
          </a:p>
        </p:txBody>
      </p:sp>
      <p:sp>
        <p:nvSpPr>
          <p:cNvPr id="37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连接 × 算力 × 感知 × 智能</a:t>
            </a:r>
          </a:p>
        </p:txBody>
      </p:sp>
      <p:sp>
        <p:nvSpPr>
          <p:cNvPr id="38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39" name="capability-1-label"/>
          <p:cNvSpPr txBox="1"/>
          <p:nvPr/>
        </p:nvSpPr>
        <p:spPr>
          <a:xfrm>
            <a:off x="1706837" y="243459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连接</a:t>
            </a:r>
          </a:p>
        </p:txBody>
      </p:sp>
      <p:sp>
        <p:nvSpPr>
          <p:cNvPr id="40" name="capability-2-label"/>
          <p:cNvSpPr txBox="1"/>
          <p:nvPr/>
        </p:nvSpPr>
        <p:spPr>
          <a:xfrm>
            <a:off x="8534186" y="243459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算力</a:t>
            </a:r>
          </a:p>
        </p:txBody>
      </p:sp>
      <p:sp>
        <p:nvSpPr>
          <p:cNvPr id="41" name="capability-3-label"/>
          <p:cNvSpPr txBox="1"/>
          <p:nvPr/>
        </p:nvSpPr>
        <p:spPr>
          <a:xfrm>
            <a:off x="1706837" y="421767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感知</a:t>
            </a:r>
          </a:p>
        </p:txBody>
      </p:sp>
      <p:sp>
        <p:nvSpPr>
          <p:cNvPr id="42" name="capability-4-label"/>
          <p:cNvSpPr txBox="1"/>
          <p:nvPr/>
        </p:nvSpPr>
        <p:spPr>
          <a:xfrm>
            <a:off x="8534186" y="421767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智能</a:t>
            </a:r>
          </a:p>
        </p:txBody>
      </p:sp>
      <p:sp>
        <p:nvSpPr>
          <p:cNvPr id="43" name="value-1-text"/>
          <p:cNvSpPr txBox="1"/>
          <p:nvPr/>
        </p:nvSpPr>
        <p:spPr>
          <a:xfrm>
            <a:off x="4267093" y="5637276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19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低时延</a:t>
            </a:r>
          </a:p>
        </p:txBody>
      </p:sp>
      <p:sp>
        <p:nvSpPr>
          <p:cNvPr id="44" name="value-2-text"/>
          <p:cNvSpPr txBox="1"/>
          <p:nvPr/>
        </p:nvSpPr>
        <p:spPr>
          <a:xfrm>
            <a:off x="6949266" y="5637276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19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大上行</a:t>
            </a:r>
          </a:p>
        </p:txBody>
      </p:sp>
      <p:sp>
        <p:nvSpPr>
          <p:cNvPr id="45" name="value-3-text"/>
          <p:cNvSpPr txBox="1"/>
          <p:nvPr/>
        </p:nvSpPr>
        <p:spPr>
          <a:xfrm>
            <a:off x="9631439" y="5637276"/>
            <a:ext cx="219450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19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确定性网络</a:t>
            </a:r>
          </a:p>
        </p:txBody>
      </p:sp>
      <p:sp>
        <p:nvSpPr>
          <p:cNvPr id="46" name="asset-note"/>
          <p:cNvSpPr txBox="1"/>
          <p:nvPr/>
        </p:nvSpPr>
        <p:spPr>
          <a:xfrm>
            <a:off x="8290352" y="6172200"/>
            <a:ext cx="3047923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独立视觉资产边界：轨道、渐变、节点、标签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