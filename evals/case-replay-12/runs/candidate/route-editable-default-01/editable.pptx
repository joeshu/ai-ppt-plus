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low-link-1"/>
          <p:cNvCxnSpPr/>
          <p:nvPr/>
        </p:nvCxnSpPr>
        <p:spPr>
          <a:xfrm>
            <a:off x="2633406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link-2"/>
          <p:cNvCxnSpPr/>
          <p:nvPr/>
        </p:nvCxnSpPr>
        <p:spPr>
          <a:xfrm>
            <a:off x="4705994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link-3"/>
          <p:cNvCxnSpPr/>
          <p:nvPr/>
        </p:nvCxnSpPr>
        <p:spPr>
          <a:xfrm>
            <a:off x="6778582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link-4"/>
          <p:cNvCxnSpPr/>
          <p:nvPr/>
        </p:nvCxnSpPr>
        <p:spPr>
          <a:xfrm>
            <a:off x="8851170" y="3442716"/>
            <a:ext cx="268217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kpi-target" descr="kpi-target"/>
          <p:cNvGrpSpPr/>
          <p:nvPr/>
        </p:nvGrpSpPr>
        <p:grpSpPr>
          <a:xfrm>
            <a:off x="853418" y="1440180"/>
            <a:ext cx="3047923" cy="1028700"/>
            <a:chOff x="853418" y="1440180"/>
            <a:chExt cx="3047923" cy="1028700"/>
          </a:xfrm>
        </p:grpSpPr>
        <p:sp>
          <p:nvSpPr>
            <p:cNvPr id="10" name="kpi-target-fill"/>
            <p:cNvSpPr/>
            <p:nvPr/>
          </p:nvSpPr>
          <p:spPr>
            <a:xfrm>
              <a:off x="853418" y="1440180"/>
              <a:ext cx="3047923" cy="1028700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kpi-target-accent"/>
            <p:cNvSpPr/>
            <p:nvPr/>
          </p:nvSpPr>
          <p:spPr>
            <a:xfrm>
              <a:off x="853418" y="1440180"/>
              <a:ext cx="3047923" cy="56578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kpi-target-rule"/>
            <p:cNvCxnSpPr/>
            <p:nvPr/>
          </p:nvCxnSpPr>
          <p:spPr>
            <a:xfrm>
              <a:off x="944856" y="2366010"/>
              <a:ext cx="2865048" cy="102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kpi-path" descr="kpi-path"/>
          <p:cNvGrpSpPr/>
          <p:nvPr/>
        </p:nvGrpSpPr>
        <p:grpSpPr>
          <a:xfrm>
            <a:off x="4571885" y="1440180"/>
            <a:ext cx="3047923" cy="1028700"/>
            <a:chOff x="4571885" y="1440180"/>
            <a:chExt cx="3047923" cy="1028700"/>
          </a:xfrm>
        </p:grpSpPr>
        <p:sp>
          <p:nvSpPr>
            <p:cNvPr id="14" name="kpi-path-fill"/>
            <p:cNvSpPr/>
            <p:nvPr/>
          </p:nvSpPr>
          <p:spPr>
            <a:xfrm>
              <a:off x="4571885" y="1440180"/>
              <a:ext cx="3047923" cy="1028700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kpi-path-accent"/>
            <p:cNvSpPr/>
            <p:nvPr/>
          </p:nvSpPr>
          <p:spPr>
            <a:xfrm>
              <a:off x="4571885" y="1440180"/>
              <a:ext cx="3047923" cy="56578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kpi-path-rule"/>
            <p:cNvCxnSpPr/>
            <p:nvPr/>
          </p:nvCxnSpPr>
          <p:spPr>
            <a:xfrm>
              <a:off x="4663323" y="2366010"/>
              <a:ext cx="2865048" cy="102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kpi-result" descr="kpi-result"/>
          <p:cNvGrpSpPr/>
          <p:nvPr/>
        </p:nvGrpSpPr>
        <p:grpSpPr>
          <a:xfrm>
            <a:off x="8290352" y="1440180"/>
            <a:ext cx="3047923" cy="1028700"/>
            <a:chOff x="8290352" y="1440180"/>
            <a:chExt cx="3047923" cy="1028700"/>
          </a:xfrm>
        </p:grpSpPr>
        <p:sp>
          <p:nvSpPr>
            <p:cNvPr id="18" name="kpi-result-fill"/>
            <p:cNvSpPr/>
            <p:nvPr/>
          </p:nvSpPr>
          <p:spPr>
            <a:xfrm>
              <a:off x="8290352" y="1440180"/>
              <a:ext cx="3047923" cy="1028700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kpi-result-accent"/>
            <p:cNvSpPr/>
            <p:nvPr/>
          </p:nvSpPr>
          <p:spPr>
            <a:xfrm>
              <a:off x="8290352" y="1440180"/>
              <a:ext cx="3047923" cy="56578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kpi-result-rule"/>
            <p:cNvCxnSpPr/>
            <p:nvPr/>
          </p:nvCxnSpPr>
          <p:spPr>
            <a:xfrm>
              <a:off x="8381790" y="2366010"/>
              <a:ext cx="2865048" cy="102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flow-1" descr="flow-1"/>
          <p:cNvGrpSpPr/>
          <p:nvPr/>
        </p:nvGrpSpPr>
        <p:grpSpPr>
          <a:xfrm>
            <a:off x="853418" y="3086100"/>
            <a:ext cx="1767795" cy="720090"/>
            <a:chOff x="853418" y="3086100"/>
            <a:chExt cx="1767795" cy="720090"/>
          </a:xfrm>
        </p:grpSpPr>
        <p:sp>
          <p:nvSpPr>
            <p:cNvPr id="22" name="flow-1-fill"/>
            <p:cNvSpPr/>
            <p:nvPr/>
          </p:nvSpPr>
          <p:spPr>
            <a:xfrm>
              <a:off x="853418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low-1-accent"/>
            <p:cNvSpPr/>
            <p:nvPr/>
          </p:nvSpPr>
          <p:spPr>
            <a:xfrm>
              <a:off x="853418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flow-1-rule"/>
            <p:cNvCxnSpPr/>
            <p:nvPr/>
          </p:nvCxnSpPr>
          <p:spPr>
            <a:xfrm>
              <a:off x="906452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flow-2" descr="flow-2"/>
          <p:cNvGrpSpPr/>
          <p:nvPr/>
        </p:nvGrpSpPr>
        <p:grpSpPr>
          <a:xfrm>
            <a:off x="2926006" y="3086100"/>
            <a:ext cx="1767795" cy="720090"/>
            <a:chOff x="2926006" y="3086100"/>
            <a:chExt cx="1767795" cy="720090"/>
          </a:xfrm>
        </p:grpSpPr>
        <p:sp>
          <p:nvSpPr>
            <p:cNvPr id="26" name="flow-2-fill"/>
            <p:cNvSpPr/>
            <p:nvPr/>
          </p:nvSpPr>
          <p:spPr>
            <a:xfrm>
              <a:off x="2926006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low-2-accent"/>
            <p:cNvSpPr/>
            <p:nvPr/>
          </p:nvSpPr>
          <p:spPr>
            <a:xfrm>
              <a:off x="2926006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flow-2-rule"/>
            <p:cNvCxnSpPr/>
            <p:nvPr/>
          </p:nvCxnSpPr>
          <p:spPr>
            <a:xfrm>
              <a:off x="2979040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flow-3" descr="flow-3"/>
          <p:cNvGrpSpPr/>
          <p:nvPr/>
        </p:nvGrpSpPr>
        <p:grpSpPr>
          <a:xfrm>
            <a:off x="4998594" y="3086100"/>
            <a:ext cx="1767795" cy="720090"/>
            <a:chOff x="4998594" y="3086100"/>
            <a:chExt cx="1767795" cy="720090"/>
          </a:xfrm>
        </p:grpSpPr>
        <p:sp>
          <p:nvSpPr>
            <p:cNvPr id="30" name="flow-3-fill"/>
            <p:cNvSpPr/>
            <p:nvPr/>
          </p:nvSpPr>
          <p:spPr>
            <a:xfrm>
              <a:off x="4998594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flow-3-accent"/>
            <p:cNvSpPr/>
            <p:nvPr/>
          </p:nvSpPr>
          <p:spPr>
            <a:xfrm>
              <a:off x="4998594" y="3086100"/>
              <a:ext cx="1767795" cy="3960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flow-3-rule"/>
            <p:cNvCxnSpPr/>
            <p:nvPr/>
          </p:nvCxnSpPr>
          <p:spPr>
            <a:xfrm>
              <a:off x="5051628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flow-4" descr="flow-4"/>
          <p:cNvGrpSpPr/>
          <p:nvPr/>
        </p:nvGrpSpPr>
        <p:grpSpPr>
          <a:xfrm>
            <a:off x="7071183" y="3086100"/>
            <a:ext cx="1767795" cy="720090"/>
            <a:chOff x="7071183" y="3086100"/>
            <a:chExt cx="1767795" cy="720090"/>
          </a:xfrm>
        </p:grpSpPr>
        <p:sp>
          <p:nvSpPr>
            <p:cNvPr id="34" name="flow-4-fill"/>
            <p:cNvSpPr/>
            <p:nvPr/>
          </p:nvSpPr>
          <p:spPr>
            <a:xfrm>
              <a:off x="7071183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low-4-accent"/>
            <p:cNvSpPr/>
            <p:nvPr/>
          </p:nvSpPr>
          <p:spPr>
            <a:xfrm>
              <a:off x="7071183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flow-4-rule"/>
            <p:cNvCxnSpPr/>
            <p:nvPr/>
          </p:nvCxnSpPr>
          <p:spPr>
            <a:xfrm>
              <a:off x="7124216" y="3734181"/>
              <a:ext cx="1661729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flow-5" descr="flow-5"/>
          <p:cNvGrpSpPr/>
          <p:nvPr/>
        </p:nvGrpSpPr>
        <p:grpSpPr>
          <a:xfrm>
            <a:off x="9143771" y="3086100"/>
            <a:ext cx="1767795" cy="720090"/>
            <a:chOff x="9143771" y="3086100"/>
            <a:chExt cx="1767795" cy="720090"/>
          </a:xfrm>
        </p:grpSpPr>
        <p:sp>
          <p:nvSpPr>
            <p:cNvPr id="38" name="flow-5-fill"/>
            <p:cNvSpPr/>
            <p:nvPr/>
          </p:nvSpPr>
          <p:spPr>
            <a:xfrm>
              <a:off x="9143771" y="3086100"/>
              <a:ext cx="1767795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flow-5-accent"/>
            <p:cNvSpPr/>
            <p:nvPr/>
          </p:nvSpPr>
          <p:spPr>
            <a:xfrm>
              <a:off x="9143771" y="3086100"/>
              <a:ext cx="1767795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flow-5-rule"/>
            <p:cNvCxnSpPr/>
            <p:nvPr/>
          </p:nvCxnSpPr>
          <p:spPr>
            <a:xfrm>
              <a:off x="9196805" y="3734181"/>
              <a:ext cx="1661728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insight-panel" descr="insight-panel"/>
          <p:cNvGrpSpPr/>
          <p:nvPr/>
        </p:nvGrpSpPr>
        <p:grpSpPr>
          <a:xfrm>
            <a:off x="10241023" y="2674620"/>
            <a:ext cx="1097252" cy="1577340"/>
            <a:chOff x="10241023" y="2674620"/>
            <a:chExt cx="1097252" cy="1577340"/>
          </a:xfrm>
        </p:grpSpPr>
        <p:sp>
          <p:nvSpPr>
            <p:cNvPr id="42" name="insight-panel-fill"/>
            <p:cNvSpPr/>
            <p:nvPr/>
          </p:nvSpPr>
          <p:spPr>
            <a:xfrm>
              <a:off x="10241023" y="2674620"/>
              <a:ext cx="1097252" cy="157734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sight-panel-accent"/>
            <p:cNvSpPr/>
            <p:nvPr/>
          </p:nvSpPr>
          <p:spPr>
            <a:xfrm>
              <a:off x="10241023" y="2674620"/>
              <a:ext cx="1097252" cy="86753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insight-panel-rule"/>
            <p:cNvCxnSpPr/>
            <p:nvPr/>
          </p:nvCxnSpPr>
          <p:spPr>
            <a:xfrm>
              <a:off x="10273941" y="4094226"/>
              <a:ext cx="1031417" cy="15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" name="industry-growth-table"/>
          <p:cNvGraphicFramePr>
            <a:graphicFrameLocks noGrp="1"/>
          </p:cNvGraphicFramePr>
          <p:nvPr/>
        </p:nvGraphicFramePr>
        <p:xfrm>
          <a:off x="853418" y="4046220"/>
          <a:ext cx="512050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5"/>
                <a:gridCol w="1584920"/>
                <a:gridCol w="1097252"/>
                <a:gridCol w="853418"/>
                <a:gridCol w="609584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行业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增长结构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口径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政府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教育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医疗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制造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亿元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46" name="project-progress-table"/>
          <p:cNvGraphicFramePr>
            <a:graphicFrameLocks noGrp="1"/>
          </p:cNvGraphicFramePr>
          <p:nvPr/>
        </p:nvGraphicFramePr>
        <p:xfrm>
          <a:off x="6339681" y="4046220"/>
          <a:ext cx="524242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03"/>
                <a:gridCol w="1097252"/>
                <a:gridCol w="1097252"/>
                <a:gridCol w="975335"/>
                <a:gridCol w="609584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风险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进度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1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2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3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4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重点项目 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经营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可审计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TOP5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47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政企客户增长作战舱</a:t>
            </a:r>
          </a:p>
        </p:txBody>
      </p:sp>
      <p:sp>
        <p:nvSpPr>
          <p:cNvPr id="48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以目标—路径—结果组织经营管理阅读路径</a:t>
            </a:r>
          </a:p>
        </p:txBody>
      </p:sp>
      <p:sp>
        <p:nvSpPr>
          <p:cNvPr id="49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50" name="kpi-target-label"/>
          <p:cNvSpPr txBox="1"/>
          <p:nvPr/>
        </p:nvSpPr>
        <p:spPr>
          <a:xfrm>
            <a:off x="1158211" y="164592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</a:t>
            </a:r>
          </a:p>
        </p:txBody>
      </p:sp>
      <p:sp>
        <p:nvSpPr>
          <p:cNvPr id="51" name="kpi-target-value"/>
          <p:cNvSpPr txBox="1"/>
          <p:nvPr/>
        </p:nvSpPr>
        <p:spPr>
          <a:xfrm>
            <a:off x="2255463" y="1563623"/>
            <a:ext cx="975335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2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28.6</a:t>
            </a:r>
          </a:p>
        </p:txBody>
      </p:sp>
      <p:sp>
        <p:nvSpPr>
          <p:cNvPr id="52" name="kpi-target-unit"/>
          <p:cNvSpPr txBox="1"/>
          <p:nvPr/>
        </p:nvSpPr>
        <p:spPr>
          <a:xfrm>
            <a:off x="3261278" y="1748790"/>
            <a:ext cx="518147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53" name="kpi-path-label"/>
          <p:cNvSpPr txBox="1"/>
          <p:nvPr/>
        </p:nvSpPr>
        <p:spPr>
          <a:xfrm>
            <a:off x="4876678" y="164592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路径</a:t>
            </a:r>
          </a:p>
        </p:txBody>
      </p:sp>
      <p:sp>
        <p:nvSpPr>
          <p:cNvPr id="54" name="kpi-path-value"/>
          <p:cNvSpPr txBox="1"/>
          <p:nvPr/>
        </p:nvSpPr>
        <p:spPr>
          <a:xfrm>
            <a:off x="5973930" y="1563623"/>
            <a:ext cx="975335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2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18.7</a:t>
            </a:r>
          </a:p>
        </p:txBody>
      </p:sp>
      <p:sp>
        <p:nvSpPr>
          <p:cNvPr id="55" name="kpi-path-unit"/>
          <p:cNvSpPr txBox="1"/>
          <p:nvPr/>
        </p:nvSpPr>
        <p:spPr>
          <a:xfrm>
            <a:off x="6979745" y="1748790"/>
            <a:ext cx="518147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56" name="kpi-result-label"/>
          <p:cNvSpPr txBox="1"/>
          <p:nvPr/>
        </p:nvSpPr>
        <p:spPr>
          <a:xfrm>
            <a:off x="8595144" y="164592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57" name="kpi-result-value"/>
          <p:cNvSpPr txBox="1"/>
          <p:nvPr/>
        </p:nvSpPr>
        <p:spPr>
          <a:xfrm>
            <a:off x="9692397" y="1563623"/>
            <a:ext cx="975335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2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17.3</a:t>
            </a:r>
          </a:p>
        </p:txBody>
      </p:sp>
      <p:sp>
        <p:nvSpPr>
          <p:cNvPr id="58" name="kpi-result-unit"/>
          <p:cNvSpPr txBox="1"/>
          <p:nvPr/>
        </p:nvSpPr>
        <p:spPr>
          <a:xfrm>
            <a:off x="10698212" y="1748790"/>
            <a:ext cx="518147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59" name="flow-label"/>
          <p:cNvSpPr txBox="1"/>
          <p:nvPr/>
        </p:nvSpPr>
        <p:spPr>
          <a:xfrm>
            <a:off x="853418" y="2777490"/>
            <a:ext cx="487667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增长路径 / FIVE-STAGE OPERATING LOOP</a:t>
            </a:r>
          </a:p>
        </p:txBody>
      </p:sp>
      <p:sp>
        <p:nvSpPr>
          <p:cNvPr id="60" name="flow-1-index"/>
          <p:cNvSpPr txBox="1"/>
          <p:nvPr/>
        </p:nvSpPr>
        <p:spPr>
          <a:xfrm>
            <a:off x="1072869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1" name="flow-1-label"/>
          <p:cNvSpPr txBox="1"/>
          <p:nvPr/>
        </p:nvSpPr>
        <p:spPr>
          <a:xfrm>
            <a:off x="1767795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目标洞察</a:t>
            </a:r>
          </a:p>
        </p:txBody>
      </p:sp>
      <p:sp>
        <p:nvSpPr>
          <p:cNvPr id="62" name="flow-2-index"/>
          <p:cNvSpPr txBox="1"/>
          <p:nvPr/>
        </p:nvSpPr>
        <p:spPr>
          <a:xfrm>
            <a:off x="3145457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3" name="flow-2-label"/>
          <p:cNvSpPr txBox="1"/>
          <p:nvPr/>
        </p:nvSpPr>
        <p:spPr>
          <a:xfrm>
            <a:off x="3840383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线索获取</a:t>
            </a:r>
          </a:p>
        </p:txBody>
      </p:sp>
      <p:sp>
        <p:nvSpPr>
          <p:cNvPr id="64" name="flow-3-index"/>
          <p:cNvSpPr txBox="1"/>
          <p:nvPr/>
        </p:nvSpPr>
        <p:spPr>
          <a:xfrm>
            <a:off x="5218045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65" name="flow-3-label"/>
          <p:cNvSpPr txBox="1"/>
          <p:nvPr/>
        </p:nvSpPr>
        <p:spPr>
          <a:xfrm>
            <a:off x="5912972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商机转化</a:t>
            </a:r>
          </a:p>
        </p:txBody>
      </p:sp>
      <p:sp>
        <p:nvSpPr>
          <p:cNvPr id="66" name="flow-4-index"/>
          <p:cNvSpPr txBox="1"/>
          <p:nvPr/>
        </p:nvSpPr>
        <p:spPr>
          <a:xfrm>
            <a:off x="7290633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67" name="flow-4-label"/>
          <p:cNvSpPr txBox="1"/>
          <p:nvPr/>
        </p:nvSpPr>
        <p:spPr>
          <a:xfrm>
            <a:off x="7985560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合同签约</a:t>
            </a:r>
          </a:p>
        </p:txBody>
      </p:sp>
      <p:sp>
        <p:nvSpPr>
          <p:cNvPr id="68" name="flow-5-index"/>
          <p:cNvSpPr txBox="1"/>
          <p:nvPr/>
        </p:nvSpPr>
        <p:spPr>
          <a:xfrm>
            <a:off x="9363221" y="327812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69" name="flow-5-label"/>
          <p:cNvSpPr txBox="1"/>
          <p:nvPr/>
        </p:nvSpPr>
        <p:spPr>
          <a:xfrm>
            <a:off x="10058148" y="3271266"/>
            <a:ext cx="670543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交付增值</a:t>
            </a:r>
          </a:p>
        </p:txBody>
      </p:sp>
      <p:sp>
        <p:nvSpPr>
          <p:cNvPr id="70" name="insight-panel-text"/>
          <p:cNvSpPr txBox="1"/>
          <p:nvPr/>
        </p:nvSpPr>
        <p:spPr>
          <a:xfrm>
            <a:off x="10362940" y="3051810"/>
            <a:ext cx="8534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1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TOP5</a:t>
            </a:r>
          </a:p>
          <a:p>
            <a:pPr algn="ctr"/>
            <a:r>
              <a:rPr sz="11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进展</a:t>
            </a:r>
          </a:p>
        </p:txBody>
      </p:sp>
      <p:sp>
        <p:nvSpPr>
          <p:cNvPr id="71" name="dashboard-note"/>
          <p:cNvSpPr txBox="1"/>
          <p:nvPr/>
        </p:nvSpPr>
        <p:spPr>
          <a:xfrm>
            <a:off x="853418" y="6240780"/>
            <a:ext cx="609584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原生KPI卡 / 原生流程节点 / 2张原生表格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