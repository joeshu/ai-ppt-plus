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目标</c:v>
                </c:pt>
              </c:strCache>
            </c:strRef>
          </c:tx>
          <c:spPr>
            <a:solidFill>
              <a:srgbClr val="E60012"/>
            </a:solidFill>
          </c:spPr>
          <c:dLbls>
            <c:txPr>
              <a:bodyPr/>
              <a:lstStyle/>
              <a:p>
                <a:pPr>
                  <a:defRPr sz="700">
                    <a:solidFill>
                      <a:srgbClr val="F4F7FB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政府</c:v>
                </c:pt>
                <c:pt idx="1">
                  <c:v>教育</c:v>
                </c:pt>
                <c:pt idx="2">
                  <c:v>医疗</c:v>
                </c:pt>
                <c:pt idx="3">
                  <c:v>交通</c:v>
                </c:pt>
                <c:pt idx="4">
                  <c:v>制造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8.6</c:v>
                </c:pt>
                <c:pt idx="1">
                  <c:v>5.2</c:v>
                </c:pt>
                <c:pt idx="2">
                  <c:v>4.6</c:v>
                </c:pt>
                <c:pt idx="3">
                  <c:v>3.8</c:v>
                </c:pt>
                <c:pt idx="4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1687FF"/>
            </a:solidFill>
          </c:spPr>
          <c:dLbls>
            <c:txPr>
              <a:bodyPr/>
              <a:lstStyle/>
              <a:p>
                <a:pPr>
                  <a:defRPr sz="700">
                    <a:solidFill>
                      <a:srgbClr val="F4F7FB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政府</c:v>
                </c:pt>
                <c:pt idx="1">
                  <c:v>教育</c:v>
                </c:pt>
                <c:pt idx="2">
                  <c:v>医疗</c:v>
                </c:pt>
                <c:pt idx="3">
                  <c:v>交通</c:v>
                </c:pt>
                <c:pt idx="4">
                  <c:v>制造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5.2</c:v>
                </c:pt>
                <c:pt idx="1">
                  <c:v>3.1</c:v>
                </c:pt>
                <c:pt idx="2">
                  <c:v>2.6</c:v>
                </c:pt>
                <c:pt idx="3">
                  <c:v>2.2</c:v>
                </c:pt>
                <c:pt idx="4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8890">
            <a:solidFill>
              <a:srgbClr val="A9BED5"/>
            </a:solidFill>
          </a:ln>
        </c:spPr>
        <c:txPr>
          <a:bodyPr/>
          <a:lstStyle/>
          <a:p>
            <a:pPr>
              <a:defRPr sz="800">
                <a:solidFill>
                  <a:srgbClr val="F4F7FB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355A7D"/>
              </a:solidFill>
            </a:ln>
          </c:spPr>
        </c:majorGridlines>
        <c:majorTickMark val="out"/>
        <c:minorTickMark val="none"/>
        <c:tickLblPos val="nextTo"/>
        <c:spPr>
          <a:ln w="8890">
            <a:solidFill>
              <a:srgbClr val="A9BED5"/>
            </a:solidFill>
          </a:ln>
        </c:spPr>
        <c:txPr>
          <a:bodyPr/>
          <a:lstStyle/>
          <a:p>
            <a:pPr>
              <a:defRPr sz="800">
                <a:solidFill>
                  <a:srgbClr val="F4F7FB"/>
                </a:solidFill>
                <a:latin typeface="Noto Sans CJK S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F4F7FB"/>
              </a:solidFill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>
          <a:solidFill>
            <a:srgbClr val="F4F7FB"/>
          </a:solidFill>
          <a:latin typeface="Noto Sans CJK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chart-panel" descr="chart-panel"/>
          <p:cNvGrpSpPr/>
          <p:nvPr/>
        </p:nvGrpSpPr>
        <p:grpSpPr>
          <a:xfrm>
            <a:off x="853418" y="1508760"/>
            <a:ext cx="7071183" cy="3977639"/>
            <a:chOff x="853418" y="1508760"/>
            <a:chExt cx="7071183" cy="3977639"/>
          </a:xfrm>
        </p:grpSpPr>
        <p:sp>
          <p:nvSpPr>
            <p:cNvPr id="6" name="chart-panel-fill"/>
            <p:cNvSpPr/>
            <p:nvPr/>
          </p:nvSpPr>
          <p:spPr>
            <a:xfrm>
              <a:off x="853418" y="1508760"/>
              <a:ext cx="7071183" cy="3977639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chart-panel-accent"/>
            <p:cNvSpPr/>
            <p:nvPr/>
          </p:nvSpPr>
          <p:spPr>
            <a:xfrm>
              <a:off x="853418" y="1508760"/>
              <a:ext cx="7071183" cy="218770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hart-panel-rule"/>
            <p:cNvCxnSpPr/>
            <p:nvPr/>
          </p:nvCxnSpPr>
          <p:spPr>
            <a:xfrm>
              <a:off x="1065554" y="5088636"/>
              <a:ext cx="6646912" cy="39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chart-insight-panel" descr="chart-insight-panel"/>
          <p:cNvGrpSpPr/>
          <p:nvPr/>
        </p:nvGrpSpPr>
        <p:grpSpPr>
          <a:xfrm>
            <a:off x="8412269" y="1508760"/>
            <a:ext cx="2926006" cy="3977639"/>
            <a:chOff x="8412269" y="1508760"/>
            <a:chExt cx="2926006" cy="3977639"/>
          </a:xfrm>
        </p:grpSpPr>
        <p:sp>
          <p:nvSpPr>
            <p:cNvPr id="10" name="chart-insight-panel-fill"/>
            <p:cNvSpPr/>
            <p:nvPr/>
          </p:nvSpPr>
          <p:spPr>
            <a:xfrm>
              <a:off x="8412269" y="1508760"/>
              <a:ext cx="2926006" cy="3977639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chart-insight-panel-accent"/>
            <p:cNvSpPr/>
            <p:nvPr/>
          </p:nvSpPr>
          <p:spPr>
            <a:xfrm>
              <a:off x="8412269" y="1508760"/>
              <a:ext cx="2926006" cy="21877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hart-insight-panel-rule"/>
            <p:cNvCxnSpPr/>
            <p:nvPr/>
          </p:nvCxnSpPr>
          <p:spPr>
            <a:xfrm>
              <a:off x="8500049" y="5088636"/>
              <a:ext cx="2750447" cy="39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industry-growth-chart"/>
          <p:cNvGraphicFramePr>
            <a:graphicFrameLocks noGrp="1"/>
          </p:cNvGraphicFramePr>
          <p:nvPr/>
        </p:nvGraphicFramePr>
        <p:xfrm>
          <a:off x="1341086" y="2057400"/>
          <a:ext cx="6095847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2026上半年政企行业增长结构</a:t>
            </a:r>
          </a:p>
        </p:txBody>
      </p:sp>
      <p:sp>
        <p:nvSpPr>
          <p:cNvPr id="15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政府与教育仍是规模增长主引擎</a:t>
            </a:r>
          </a:p>
        </p:txBody>
      </p:sp>
      <p:sp>
        <p:nvSpPr>
          <p:cNvPr id="16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17" name="chart-insight-1"/>
          <p:cNvSpPr txBox="1"/>
          <p:nvPr/>
        </p:nvSpPr>
        <p:spPr>
          <a:xfrm>
            <a:off x="8778020" y="212598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政府 8.6 / 5.2</a:t>
            </a:r>
          </a:p>
        </p:txBody>
      </p:sp>
      <p:sp>
        <p:nvSpPr>
          <p:cNvPr id="18" name="chart-insight-2"/>
          <p:cNvSpPr txBox="1"/>
          <p:nvPr/>
        </p:nvSpPr>
        <p:spPr>
          <a:xfrm>
            <a:off x="8778020" y="264033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教育 5.2 / 3.1</a:t>
            </a:r>
          </a:p>
        </p:txBody>
      </p:sp>
      <p:sp>
        <p:nvSpPr>
          <p:cNvPr id="19" name="chart-insight-3"/>
          <p:cNvSpPr txBox="1"/>
          <p:nvPr/>
        </p:nvSpPr>
        <p:spPr>
          <a:xfrm>
            <a:off x="8778020" y="3154679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5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医疗 4.6 / 2.6</a:t>
            </a:r>
          </a:p>
        </p:txBody>
      </p:sp>
      <p:sp>
        <p:nvSpPr>
          <p:cNvPr id="20" name="chart-insight-4"/>
          <p:cNvSpPr txBox="1"/>
          <p:nvPr/>
        </p:nvSpPr>
        <p:spPr>
          <a:xfrm>
            <a:off x="8778020" y="3669029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5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交通 3.8 / 2.2</a:t>
            </a:r>
          </a:p>
        </p:txBody>
      </p:sp>
      <p:sp>
        <p:nvSpPr>
          <p:cNvPr id="21" name="chart-insight-5"/>
          <p:cNvSpPr txBox="1"/>
          <p:nvPr/>
        </p:nvSpPr>
        <p:spPr>
          <a:xfrm>
            <a:off x="8778020" y="418338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5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制造 3.4 / 1.9</a:t>
            </a:r>
          </a:p>
        </p:txBody>
      </p:sp>
      <p:sp>
        <p:nvSpPr>
          <p:cNvPr id="22" name="chart-legend-note"/>
          <p:cNvSpPr txBox="1"/>
          <p:nvPr/>
        </p:nvSpPr>
        <p:spPr>
          <a:xfrm>
            <a:off x="1219169" y="5143500"/>
            <a:ext cx="3657508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目标 / 实际（亿元）</a:t>
            </a:r>
          </a:p>
        </p:txBody>
      </p:sp>
      <p:sp>
        <p:nvSpPr>
          <p:cNvPr id="23" name="chart-source-note"/>
          <p:cNvSpPr txBox="1"/>
          <p:nvPr/>
        </p:nvSpPr>
        <p:spPr>
          <a:xfrm>
            <a:off x="7071183" y="6172200"/>
            <a:ext cx="4267093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数据口径：case-suite.json / exact data snapshot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