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pipeline-link-1"/>
          <p:cNvCxnSpPr/>
          <p:nvPr/>
        </p:nvCxnSpPr>
        <p:spPr>
          <a:xfrm>
            <a:off x="2560255" y="3031236"/>
            <a:ext cx="365751" cy="0"/>
          </a:xfrm>
          <a:prstGeom prst="line">
            <a:avLst/>
          </a:prstGeom>
          <a:ln w="2032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pipeline-link-2"/>
          <p:cNvCxnSpPr/>
          <p:nvPr/>
        </p:nvCxnSpPr>
        <p:spPr>
          <a:xfrm>
            <a:off x="4632844" y="3031236"/>
            <a:ext cx="365750" cy="0"/>
          </a:xfrm>
          <a:prstGeom prst="line">
            <a:avLst/>
          </a:prstGeom>
          <a:ln w="2032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ipeline-link-3"/>
          <p:cNvCxnSpPr/>
          <p:nvPr/>
        </p:nvCxnSpPr>
        <p:spPr>
          <a:xfrm>
            <a:off x="6705432" y="3031236"/>
            <a:ext cx="365751" cy="0"/>
          </a:xfrm>
          <a:prstGeom prst="line">
            <a:avLst/>
          </a:prstGeom>
          <a:ln w="2032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ipeline-link-4"/>
          <p:cNvCxnSpPr/>
          <p:nvPr/>
        </p:nvCxnSpPr>
        <p:spPr>
          <a:xfrm>
            <a:off x="8778020" y="3031236"/>
            <a:ext cx="365751" cy="0"/>
          </a:xfrm>
          <a:prstGeom prst="line">
            <a:avLst/>
          </a:prstGeom>
          <a:ln w="2032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arallel-link-1"/>
          <p:cNvCxnSpPr/>
          <p:nvPr/>
        </p:nvCxnSpPr>
        <p:spPr>
          <a:xfrm>
            <a:off x="4998594" y="3394710"/>
            <a:ext cx="121917" cy="582929"/>
          </a:xfrm>
          <a:prstGeom prst="line">
            <a:avLst/>
          </a:prstGeom>
          <a:ln w="1270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arallel-link-2"/>
          <p:cNvCxnSpPr/>
          <p:nvPr/>
        </p:nvCxnSpPr>
        <p:spPr>
          <a:xfrm>
            <a:off x="4998594" y="3394710"/>
            <a:ext cx="121917" cy="1131569"/>
          </a:xfrm>
          <a:prstGeom prst="line">
            <a:avLst/>
          </a:prstGeom>
          <a:ln w="1270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arallel-link-3"/>
          <p:cNvCxnSpPr/>
          <p:nvPr/>
        </p:nvCxnSpPr>
        <p:spPr>
          <a:xfrm>
            <a:off x="4998594" y="3394710"/>
            <a:ext cx="121917" cy="1680210"/>
          </a:xfrm>
          <a:prstGeom prst="line">
            <a:avLst/>
          </a:prstGeom>
          <a:ln w="12700">
            <a:solidFill>
              <a:srgbClr val="168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pipeline-1" descr="pipeline-1"/>
          <p:cNvGrpSpPr/>
          <p:nvPr/>
        </p:nvGrpSpPr>
        <p:grpSpPr>
          <a:xfrm>
            <a:off x="853418" y="2674620"/>
            <a:ext cx="1706837" cy="720090"/>
            <a:chOff x="853418" y="2674620"/>
            <a:chExt cx="1706837" cy="720090"/>
          </a:xfrm>
        </p:grpSpPr>
        <p:sp>
          <p:nvSpPr>
            <p:cNvPr id="13" name="pipeline-1-fill"/>
            <p:cNvSpPr/>
            <p:nvPr/>
          </p:nvSpPr>
          <p:spPr>
            <a:xfrm>
              <a:off x="853418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pipeline-1-accent"/>
            <p:cNvSpPr/>
            <p:nvPr/>
          </p:nvSpPr>
          <p:spPr>
            <a:xfrm>
              <a:off x="853418" y="2674620"/>
              <a:ext cx="1706837" cy="39604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pipeline-1-rule"/>
            <p:cNvCxnSpPr/>
            <p:nvPr/>
          </p:nvCxnSpPr>
          <p:spPr>
            <a:xfrm>
              <a:off x="904623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pipeline-2" descr="pipeline-2"/>
          <p:cNvGrpSpPr/>
          <p:nvPr/>
        </p:nvGrpSpPr>
        <p:grpSpPr>
          <a:xfrm>
            <a:off x="2926006" y="2674620"/>
            <a:ext cx="1706837" cy="720090"/>
            <a:chOff x="2926006" y="2674620"/>
            <a:chExt cx="1706837" cy="720090"/>
          </a:xfrm>
        </p:grpSpPr>
        <p:sp>
          <p:nvSpPr>
            <p:cNvPr id="17" name="pipeline-2-fill"/>
            <p:cNvSpPr/>
            <p:nvPr/>
          </p:nvSpPr>
          <p:spPr>
            <a:xfrm>
              <a:off x="2926006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pipeline-2-accent"/>
            <p:cNvSpPr/>
            <p:nvPr/>
          </p:nvSpPr>
          <p:spPr>
            <a:xfrm>
              <a:off x="2926006" y="2674620"/>
              <a:ext cx="1706837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pipeline-2-rule"/>
            <p:cNvCxnSpPr/>
            <p:nvPr/>
          </p:nvCxnSpPr>
          <p:spPr>
            <a:xfrm>
              <a:off x="2977211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pipeline-3" descr="pipeline-3"/>
          <p:cNvGrpSpPr/>
          <p:nvPr/>
        </p:nvGrpSpPr>
        <p:grpSpPr>
          <a:xfrm>
            <a:off x="4998594" y="2674620"/>
            <a:ext cx="1706837" cy="720090"/>
            <a:chOff x="4998594" y="2674620"/>
            <a:chExt cx="1706837" cy="720090"/>
          </a:xfrm>
        </p:grpSpPr>
        <p:sp>
          <p:nvSpPr>
            <p:cNvPr id="21" name="pipeline-3-fill"/>
            <p:cNvSpPr/>
            <p:nvPr/>
          </p:nvSpPr>
          <p:spPr>
            <a:xfrm>
              <a:off x="4998594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pipeline-3-accent"/>
            <p:cNvSpPr/>
            <p:nvPr/>
          </p:nvSpPr>
          <p:spPr>
            <a:xfrm>
              <a:off x="4998594" y="2674620"/>
              <a:ext cx="1706837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pipeline-3-rule"/>
            <p:cNvCxnSpPr/>
            <p:nvPr/>
          </p:nvCxnSpPr>
          <p:spPr>
            <a:xfrm>
              <a:off x="5049800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pipeline-4" descr="pipeline-4"/>
          <p:cNvGrpSpPr/>
          <p:nvPr/>
        </p:nvGrpSpPr>
        <p:grpSpPr>
          <a:xfrm>
            <a:off x="7071183" y="2674620"/>
            <a:ext cx="1706837" cy="720090"/>
            <a:chOff x="7071183" y="2674620"/>
            <a:chExt cx="1706837" cy="720090"/>
          </a:xfrm>
        </p:grpSpPr>
        <p:sp>
          <p:nvSpPr>
            <p:cNvPr id="25" name="pipeline-4-fill"/>
            <p:cNvSpPr/>
            <p:nvPr/>
          </p:nvSpPr>
          <p:spPr>
            <a:xfrm>
              <a:off x="7071183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ipeline-4-accent"/>
            <p:cNvSpPr/>
            <p:nvPr/>
          </p:nvSpPr>
          <p:spPr>
            <a:xfrm>
              <a:off x="7071183" y="2674620"/>
              <a:ext cx="1706837" cy="39604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pipeline-4-rule"/>
            <p:cNvCxnSpPr/>
            <p:nvPr/>
          </p:nvCxnSpPr>
          <p:spPr>
            <a:xfrm>
              <a:off x="7122388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pipeline-5" descr="pipeline-5"/>
          <p:cNvGrpSpPr/>
          <p:nvPr/>
        </p:nvGrpSpPr>
        <p:grpSpPr>
          <a:xfrm>
            <a:off x="9143771" y="2674620"/>
            <a:ext cx="1706837" cy="720090"/>
            <a:chOff x="9143771" y="2674620"/>
            <a:chExt cx="1706837" cy="720090"/>
          </a:xfrm>
        </p:grpSpPr>
        <p:sp>
          <p:nvSpPr>
            <p:cNvPr id="29" name="pipeline-5-fill"/>
            <p:cNvSpPr/>
            <p:nvPr/>
          </p:nvSpPr>
          <p:spPr>
            <a:xfrm>
              <a:off x="9143771" y="2674620"/>
              <a:ext cx="1706837" cy="72009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pipeline-5-accent"/>
            <p:cNvSpPr/>
            <p:nvPr/>
          </p:nvSpPr>
          <p:spPr>
            <a:xfrm>
              <a:off x="9143771" y="2674620"/>
              <a:ext cx="1706837" cy="39604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pipeline-5-rule"/>
            <p:cNvCxnSpPr/>
            <p:nvPr/>
          </p:nvCxnSpPr>
          <p:spPr>
            <a:xfrm>
              <a:off x="9194976" y="3322701"/>
              <a:ext cx="1604427" cy="72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parallel-1" descr="parallel-1"/>
          <p:cNvGrpSpPr/>
          <p:nvPr/>
        </p:nvGrpSpPr>
        <p:grpSpPr>
          <a:xfrm>
            <a:off x="4145176" y="3977639"/>
            <a:ext cx="1950671" cy="377190"/>
            <a:chOff x="4145176" y="3977639"/>
            <a:chExt cx="1950671" cy="377190"/>
          </a:xfrm>
        </p:grpSpPr>
        <p:sp>
          <p:nvSpPr>
            <p:cNvPr id="33" name="parallel-1-fill"/>
            <p:cNvSpPr/>
            <p:nvPr/>
          </p:nvSpPr>
          <p:spPr>
            <a:xfrm>
              <a:off x="4145176" y="3977639"/>
              <a:ext cx="1950671" cy="37719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parallel-1-accent"/>
            <p:cNvSpPr/>
            <p:nvPr/>
          </p:nvSpPr>
          <p:spPr>
            <a:xfrm>
              <a:off x="4145176" y="3977639"/>
              <a:ext cx="1950671" cy="2074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parallel-1-rule"/>
            <p:cNvCxnSpPr/>
            <p:nvPr/>
          </p:nvCxnSpPr>
          <p:spPr>
            <a:xfrm>
              <a:off x="4203696" y="4317111"/>
              <a:ext cx="1833631" cy="3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parallel-2" descr="parallel-2"/>
          <p:cNvGrpSpPr/>
          <p:nvPr/>
        </p:nvGrpSpPr>
        <p:grpSpPr>
          <a:xfrm>
            <a:off x="4145176" y="4526279"/>
            <a:ext cx="1950671" cy="377190"/>
            <a:chOff x="4145176" y="4526279"/>
            <a:chExt cx="1950671" cy="377190"/>
          </a:xfrm>
        </p:grpSpPr>
        <p:sp>
          <p:nvSpPr>
            <p:cNvPr id="37" name="parallel-2-fill"/>
            <p:cNvSpPr/>
            <p:nvPr/>
          </p:nvSpPr>
          <p:spPr>
            <a:xfrm>
              <a:off x="4145176" y="4526279"/>
              <a:ext cx="1950671" cy="37719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arallel-2-accent"/>
            <p:cNvSpPr/>
            <p:nvPr/>
          </p:nvSpPr>
          <p:spPr>
            <a:xfrm>
              <a:off x="4145176" y="4526279"/>
              <a:ext cx="1950671" cy="2074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parallel-2-rule"/>
            <p:cNvCxnSpPr/>
            <p:nvPr/>
          </p:nvCxnSpPr>
          <p:spPr>
            <a:xfrm>
              <a:off x="4203696" y="4865750"/>
              <a:ext cx="1833631" cy="378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parallel-3" descr="parallel-3"/>
          <p:cNvGrpSpPr/>
          <p:nvPr/>
        </p:nvGrpSpPr>
        <p:grpSpPr>
          <a:xfrm>
            <a:off x="4145176" y="5074920"/>
            <a:ext cx="1950671" cy="377190"/>
            <a:chOff x="4145176" y="5074920"/>
            <a:chExt cx="1950671" cy="377190"/>
          </a:xfrm>
        </p:grpSpPr>
        <p:sp>
          <p:nvSpPr>
            <p:cNvPr id="41" name="parallel-3-fill"/>
            <p:cNvSpPr/>
            <p:nvPr/>
          </p:nvSpPr>
          <p:spPr>
            <a:xfrm>
              <a:off x="4145176" y="5074920"/>
              <a:ext cx="1950671" cy="377190"/>
            </a:xfrm>
            <a:prstGeom prst="roundRect">
              <a:avLst/>
            </a:prstGeom>
            <a:solidFill>
              <a:srgbClr val="102F4F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parallel-3-accent"/>
            <p:cNvSpPr/>
            <p:nvPr/>
          </p:nvSpPr>
          <p:spPr>
            <a:xfrm>
              <a:off x="4145176" y="5074920"/>
              <a:ext cx="1950671" cy="20745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parallel-3-rule"/>
            <p:cNvCxnSpPr/>
            <p:nvPr/>
          </p:nvCxnSpPr>
          <p:spPr>
            <a:xfrm>
              <a:off x="4203696" y="5414391"/>
              <a:ext cx="1833631" cy="3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metric-1" descr="metric-1"/>
          <p:cNvGrpSpPr/>
          <p:nvPr/>
        </p:nvGrpSpPr>
        <p:grpSpPr>
          <a:xfrm>
            <a:off x="7802684" y="4114800"/>
            <a:ext cx="975335" cy="960120"/>
            <a:chOff x="7802684" y="4114800"/>
            <a:chExt cx="975335" cy="960120"/>
          </a:xfrm>
        </p:grpSpPr>
        <p:sp>
          <p:nvSpPr>
            <p:cNvPr id="45" name="metric-1-fill"/>
            <p:cNvSpPr/>
            <p:nvPr/>
          </p:nvSpPr>
          <p:spPr>
            <a:xfrm>
              <a:off x="7802684" y="4114800"/>
              <a:ext cx="975335" cy="96012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metric-1-accent"/>
            <p:cNvSpPr/>
            <p:nvPr/>
          </p:nvSpPr>
          <p:spPr>
            <a:xfrm>
              <a:off x="7802684" y="4114800"/>
              <a:ext cx="975335" cy="52806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metric-1-rule"/>
            <p:cNvCxnSpPr/>
            <p:nvPr/>
          </p:nvCxnSpPr>
          <p:spPr>
            <a:xfrm>
              <a:off x="7831944" y="4978908"/>
              <a:ext cx="916816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metric-2" descr="metric-2"/>
          <p:cNvGrpSpPr/>
          <p:nvPr/>
        </p:nvGrpSpPr>
        <p:grpSpPr>
          <a:xfrm>
            <a:off x="9021854" y="4114800"/>
            <a:ext cx="975335" cy="960120"/>
            <a:chOff x="9021854" y="4114800"/>
            <a:chExt cx="975335" cy="960120"/>
          </a:xfrm>
        </p:grpSpPr>
        <p:sp>
          <p:nvSpPr>
            <p:cNvPr id="49" name="metric-2-fill"/>
            <p:cNvSpPr/>
            <p:nvPr/>
          </p:nvSpPr>
          <p:spPr>
            <a:xfrm>
              <a:off x="9021854" y="4114800"/>
              <a:ext cx="975335" cy="96012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metric-2-accent"/>
            <p:cNvSpPr/>
            <p:nvPr/>
          </p:nvSpPr>
          <p:spPr>
            <a:xfrm>
              <a:off x="9021854" y="4114800"/>
              <a:ext cx="975335" cy="52806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1" name="metric-2-rule"/>
            <p:cNvCxnSpPr/>
            <p:nvPr/>
          </p:nvCxnSpPr>
          <p:spPr>
            <a:xfrm>
              <a:off x="9051114" y="4978908"/>
              <a:ext cx="916815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metric-3" descr="metric-3"/>
          <p:cNvGrpSpPr/>
          <p:nvPr/>
        </p:nvGrpSpPr>
        <p:grpSpPr>
          <a:xfrm>
            <a:off x="10241023" y="4114800"/>
            <a:ext cx="975335" cy="960120"/>
            <a:chOff x="10241023" y="4114800"/>
            <a:chExt cx="975335" cy="960120"/>
          </a:xfrm>
        </p:grpSpPr>
        <p:sp>
          <p:nvSpPr>
            <p:cNvPr id="53" name="metric-3-fill"/>
            <p:cNvSpPr/>
            <p:nvPr/>
          </p:nvSpPr>
          <p:spPr>
            <a:xfrm>
              <a:off x="10241023" y="4114800"/>
              <a:ext cx="975335" cy="960120"/>
            </a:xfrm>
            <a:prstGeom prst="roundRect">
              <a:avLst/>
            </a:prstGeom>
            <a:solidFill>
              <a:srgbClr val="103B4B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metric-3-accent"/>
            <p:cNvSpPr/>
            <p:nvPr/>
          </p:nvSpPr>
          <p:spPr>
            <a:xfrm>
              <a:off x="10241023" y="4114800"/>
              <a:ext cx="975335" cy="52806"/>
            </a:xfrm>
            <a:prstGeom prst="rect">
              <a:avLst/>
            </a:prstGeom>
            <a:solidFill>
              <a:srgbClr val="55D6A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metric-3-rule"/>
            <p:cNvCxnSpPr/>
            <p:nvPr/>
          </p:nvCxnSpPr>
          <p:spPr>
            <a:xfrm>
              <a:off x="10270283" y="4978908"/>
              <a:ext cx="916816" cy="960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增量渲染与缓存幂等流水线</a:t>
            </a:r>
          </a:p>
        </p:txBody>
      </p:sp>
      <p:sp>
        <p:nvSpPr>
          <p:cNvPr id="57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页面级缓存、并行QA、重复运行结果稳定</a:t>
            </a:r>
          </a:p>
        </p:txBody>
      </p:sp>
      <p:sp>
        <p:nvSpPr>
          <p:cNvPr id="58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59" name="pipeline-1-index"/>
          <p:cNvSpPr txBox="1"/>
          <p:nvPr/>
        </p:nvSpPr>
        <p:spPr>
          <a:xfrm>
            <a:off x="1072869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60" name="pipeline-1-label"/>
          <p:cNvSpPr txBox="1"/>
          <p:nvPr/>
        </p:nvSpPr>
        <p:spPr>
          <a:xfrm>
            <a:off x="1767795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源文件哈希</a:t>
            </a:r>
          </a:p>
        </p:txBody>
      </p:sp>
      <p:sp>
        <p:nvSpPr>
          <p:cNvPr id="61" name="pipeline-2-index"/>
          <p:cNvSpPr txBox="1"/>
          <p:nvPr/>
        </p:nvSpPr>
        <p:spPr>
          <a:xfrm>
            <a:off x="3145457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2" name="pipeline-2-label"/>
          <p:cNvSpPr txBox="1"/>
          <p:nvPr/>
        </p:nvSpPr>
        <p:spPr>
          <a:xfrm>
            <a:off x="3840383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页面级缓存</a:t>
            </a:r>
          </a:p>
        </p:txBody>
      </p:sp>
      <p:sp>
        <p:nvSpPr>
          <p:cNvPr id="63" name="pipeline-3-index"/>
          <p:cNvSpPr txBox="1"/>
          <p:nvPr/>
        </p:nvSpPr>
        <p:spPr>
          <a:xfrm>
            <a:off x="5218045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64" name="pipeline-3-label"/>
          <p:cNvSpPr txBox="1"/>
          <p:nvPr/>
        </p:nvSpPr>
        <p:spPr>
          <a:xfrm>
            <a:off x="5912972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受影响区域</a:t>
            </a:r>
          </a:p>
        </p:txBody>
      </p:sp>
      <p:sp>
        <p:nvSpPr>
          <p:cNvPr id="65" name="pipeline-4-index"/>
          <p:cNvSpPr txBox="1"/>
          <p:nvPr/>
        </p:nvSpPr>
        <p:spPr>
          <a:xfrm>
            <a:off x="7290633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66" name="pipeline-4-label"/>
          <p:cNvSpPr txBox="1"/>
          <p:nvPr/>
        </p:nvSpPr>
        <p:spPr>
          <a:xfrm>
            <a:off x="7985560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并行QA</a:t>
            </a:r>
          </a:p>
        </p:txBody>
      </p:sp>
      <p:sp>
        <p:nvSpPr>
          <p:cNvPr id="67" name="pipeline-5-index"/>
          <p:cNvSpPr txBox="1"/>
          <p:nvPr/>
        </p:nvSpPr>
        <p:spPr>
          <a:xfrm>
            <a:off x="9363221" y="2866644"/>
            <a:ext cx="609584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68" name="pipeline-5-label"/>
          <p:cNvSpPr txBox="1"/>
          <p:nvPr/>
        </p:nvSpPr>
        <p:spPr>
          <a:xfrm>
            <a:off x="10058148" y="2859786"/>
            <a:ext cx="609584" cy="30861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0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重复运行</a:t>
            </a:r>
          </a:p>
        </p:txBody>
      </p:sp>
      <p:sp>
        <p:nvSpPr>
          <p:cNvPr id="69" name="parallel-1-text"/>
          <p:cNvSpPr txBox="1"/>
          <p:nvPr/>
        </p:nvSpPr>
        <p:spPr>
          <a:xfrm>
            <a:off x="4145176" y="4046220"/>
            <a:ext cx="1950671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视觉比较</a:t>
            </a:r>
          </a:p>
        </p:txBody>
      </p:sp>
      <p:sp>
        <p:nvSpPr>
          <p:cNvPr id="70" name="parallel-2-text"/>
          <p:cNvSpPr txBox="1"/>
          <p:nvPr/>
        </p:nvSpPr>
        <p:spPr>
          <a:xfrm>
            <a:off x="4145176" y="4594859"/>
            <a:ext cx="1950671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对象审计</a:t>
            </a:r>
          </a:p>
        </p:txBody>
      </p:sp>
      <p:sp>
        <p:nvSpPr>
          <p:cNvPr id="71" name="parallel-3-text"/>
          <p:cNvSpPr txBox="1"/>
          <p:nvPr/>
        </p:nvSpPr>
        <p:spPr>
          <a:xfrm>
            <a:off x="4145176" y="5143500"/>
            <a:ext cx="1950671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8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字体检查</a:t>
            </a:r>
          </a:p>
        </p:txBody>
      </p:sp>
      <p:sp>
        <p:nvSpPr>
          <p:cNvPr id="72" name="metric-1-value"/>
          <p:cNvSpPr txBox="1"/>
          <p:nvPr/>
        </p:nvSpPr>
        <p:spPr>
          <a:xfrm>
            <a:off x="7802684" y="4286250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20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86%</a:t>
            </a:r>
          </a:p>
        </p:txBody>
      </p:sp>
      <p:sp>
        <p:nvSpPr>
          <p:cNvPr id="73" name="metric-1-label"/>
          <p:cNvSpPr txBox="1"/>
          <p:nvPr/>
        </p:nvSpPr>
        <p:spPr>
          <a:xfrm>
            <a:off x="7619809" y="4732020"/>
            <a:ext cx="1341086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缓存命中率</a:t>
            </a:r>
          </a:p>
        </p:txBody>
      </p:sp>
      <p:sp>
        <p:nvSpPr>
          <p:cNvPr id="74" name="metric-2-value"/>
          <p:cNvSpPr txBox="1"/>
          <p:nvPr/>
        </p:nvSpPr>
        <p:spPr>
          <a:xfrm>
            <a:off x="9021854" y="4286250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2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75" name="metric-2-label"/>
          <p:cNvSpPr txBox="1"/>
          <p:nvPr/>
        </p:nvSpPr>
        <p:spPr>
          <a:xfrm>
            <a:off x="8838978" y="4732020"/>
            <a:ext cx="1341086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返工次数</a:t>
            </a:r>
          </a:p>
        </p:txBody>
      </p:sp>
      <p:sp>
        <p:nvSpPr>
          <p:cNvPr id="76" name="metric-3-value"/>
          <p:cNvSpPr txBox="1"/>
          <p:nvPr/>
        </p:nvSpPr>
        <p:spPr>
          <a:xfrm>
            <a:off x="10241023" y="4286250"/>
            <a:ext cx="975335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200" b="1" i="0">
                <a:solidFill>
                  <a:srgbClr val="55D6A1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100%</a:t>
            </a:r>
          </a:p>
        </p:txBody>
      </p:sp>
      <p:sp>
        <p:nvSpPr>
          <p:cNvPr id="77" name="metric-3-label"/>
          <p:cNvSpPr txBox="1"/>
          <p:nvPr/>
        </p:nvSpPr>
        <p:spPr>
          <a:xfrm>
            <a:off x="10058148" y="4732020"/>
            <a:ext cx="1341086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70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结果稳定</a:t>
            </a:r>
          </a:p>
        </p:txBody>
      </p:sp>
      <p:sp>
        <p:nvSpPr>
          <p:cNvPr id="78" name="pipeline-timeline"/>
          <p:cNvSpPr txBox="1"/>
          <p:nvPr/>
        </p:nvSpPr>
        <p:spPr>
          <a:xfrm>
            <a:off x="853418" y="5897880"/>
            <a:ext cx="4389010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首轮 → 修复轮 → 回归轮</a:t>
            </a:r>
          </a:p>
        </p:txBody>
      </p:sp>
      <p:sp>
        <p:nvSpPr>
          <p:cNvPr id="79" name="pipeline-note"/>
          <p:cNvSpPr txBox="1"/>
          <p:nvPr/>
        </p:nvSpPr>
        <p:spPr>
          <a:xfrm>
            <a:off x="5973930" y="6172200"/>
            <a:ext cx="5364345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5-stage pipeline / 3 parallel QA branches / idempotent replay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