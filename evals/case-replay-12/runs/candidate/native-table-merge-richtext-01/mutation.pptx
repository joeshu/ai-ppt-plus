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8168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ection-divider"/>
          <p:cNvSpPr/>
          <p:nvPr/>
        </p:nvSpPr>
        <p:spPr>
          <a:xfrm>
            <a:off x="853418" y="2948940"/>
            <a:ext cx="10484857" cy="1714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principle-badge" descr="principle-badge"/>
          <p:cNvGrpSpPr/>
          <p:nvPr/>
        </p:nvGrpSpPr>
        <p:grpSpPr>
          <a:xfrm>
            <a:off x="9265688" y="377190"/>
            <a:ext cx="2072588" cy="754380"/>
            <a:chOff x="9265688" y="377190"/>
            <a:chExt cx="2072588" cy="754380"/>
          </a:xfrm>
        </p:grpSpPr>
        <p:sp>
          <p:nvSpPr>
            <p:cNvPr id="7" name="principle-badge-fill"/>
            <p:cNvSpPr/>
            <p:nvPr/>
          </p:nvSpPr>
          <p:spPr>
            <a:xfrm>
              <a:off x="9265688" y="377190"/>
              <a:ext cx="2072588" cy="754380"/>
            </a:xfrm>
            <a:prstGeom prst="roundRect">
              <a:avLst/>
            </a:prstGeom>
            <a:solidFill>
              <a:srgbClr val="5C1120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principle-badge-accent"/>
            <p:cNvSpPr/>
            <p:nvPr/>
          </p:nvSpPr>
          <p:spPr>
            <a:xfrm>
              <a:off x="9265688" y="377190"/>
              <a:ext cx="2072588" cy="41490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principle-badge-rule"/>
            <p:cNvCxnSpPr/>
            <p:nvPr/>
          </p:nvCxnSpPr>
          <p:spPr>
            <a:xfrm>
              <a:off x="9327865" y="1056132"/>
              <a:ext cx="1948233" cy="754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commission-card-1" descr="commission-card-1"/>
          <p:cNvGrpSpPr/>
          <p:nvPr/>
        </p:nvGrpSpPr>
        <p:grpSpPr>
          <a:xfrm>
            <a:off x="853418" y="1508760"/>
            <a:ext cx="3047923" cy="1165860"/>
            <a:chOff x="853418" y="1508760"/>
            <a:chExt cx="3047923" cy="1165860"/>
          </a:xfrm>
        </p:grpSpPr>
        <p:sp>
          <p:nvSpPr>
            <p:cNvPr id="11" name="commission-card-1-fill"/>
            <p:cNvSpPr/>
            <p:nvPr/>
          </p:nvSpPr>
          <p:spPr>
            <a:xfrm>
              <a:off x="853418" y="1508760"/>
              <a:ext cx="3047923" cy="11658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commission-card-1-accent"/>
            <p:cNvSpPr/>
            <p:nvPr/>
          </p:nvSpPr>
          <p:spPr>
            <a:xfrm>
              <a:off x="853418" y="1508760"/>
              <a:ext cx="3047923" cy="64122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mmission-card-1-rule"/>
            <p:cNvCxnSpPr/>
            <p:nvPr/>
          </p:nvCxnSpPr>
          <p:spPr>
            <a:xfrm>
              <a:off x="944856" y="2558034"/>
              <a:ext cx="2865048" cy="116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commission-card-2" descr="commission-card-2"/>
          <p:cNvGrpSpPr/>
          <p:nvPr/>
        </p:nvGrpSpPr>
        <p:grpSpPr>
          <a:xfrm>
            <a:off x="4389010" y="1508760"/>
            <a:ext cx="3047923" cy="1165860"/>
            <a:chOff x="4389010" y="1508760"/>
            <a:chExt cx="3047923" cy="1165860"/>
          </a:xfrm>
        </p:grpSpPr>
        <p:sp>
          <p:nvSpPr>
            <p:cNvPr id="15" name="commission-card-2-fill"/>
            <p:cNvSpPr/>
            <p:nvPr/>
          </p:nvSpPr>
          <p:spPr>
            <a:xfrm>
              <a:off x="4389010" y="1508760"/>
              <a:ext cx="3047923" cy="11658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commission-card-2-accent"/>
            <p:cNvSpPr/>
            <p:nvPr/>
          </p:nvSpPr>
          <p:spPr>
            <a:xfrm>
              <a:off x="4389010" y="1508760"/>
              <a:ext cx="3047923" cy="64122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commission-card-2-rule"/>
            <p:cNvCxnSpPr/>
            <p:nvPr/>
          </p:nvCxnSpPr>
          <p:spPr>
            <a:xfrm>
              <a:off x="4480447" y="2558034"/>
              <a:ext cx="2865049" cy="116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commission-card-3" descr="commission-card-3"/>
          <p:cNvGrpSpPr/>
          <p:nvPr/>
        </p:nvGrpSpPr>
        <p:grpSpPr>
          <a:xfrm>
            <a:off x="7924601" y="1508760"/>
            <a:ext cx="3047923" cy="1165860"/>
            <a:chOff x="7924601" y="1508760"/>
            <a:chExt cx="3047923" cy="1165860"/>
          </a:xfrm>
        </p:grpSpPr>
        <p:sp>
          <p:nvSpPr>
            <p:cNvPr id="19" name="commission-card-3-fill"/>
            <p:cNvSpPr/>
            <p:nvPr/>
          </p:nvSpPr>
          <p:spPr>
            <a:xfrm>
              <a:off x="7924601" y="1508760"/>
              <a:ext cx="3047923" cy="11658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commission-card-3-accent"/>
            <p:cNvSpPr/>
            <p:nvPr/>
          </p:nvSpPr>
          <p:spPr>
            <a:xfrm>
              <a:off x="7924601" y="1508760"/>
              <a:ext cx="3047923" cy="64122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" name="commission-card-3-rule"/>
            <p:cNvCxnSpPr/>
            <p:nvPr/>
          </p:nvCxnSpPr>
          <p:spPr>
            <a:xfrm>
              <a:off x="8016039" y="2558034"/>
              <a:ext cx="2865048" cy="116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2" name="policy-merged-table"/>
          <p:cNvGraphicFramePr>
            <a:graphicFrameLocks noGrp="1"/>
          </p:cNvGraphicFramePr>
          <p:nvPr/>
        </p:nvGraphicFramePr>
        <p:xfrm>
          <a:off x="853418" y="3429000"/>
          <a:ext cx="6217763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03"/>
                <a:gridCol w="1463003"/>
                <a:gridCol w="2072588"/>
                <a:gridCol w="1219169"/>
              </a:tblGrid>
              <a:tr h="274320">
                <a:tc>
                  <a:txBody>
                    <a:bodyPr/>
                    <a:lstStyle/>
                    <a:p>
                      <a:r>
                        <a:t>MUTATION_OK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收入变化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服务费标准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计提周期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 rowSpan="2"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月度发展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增收有奖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6001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达量补贴标准</a:t>
                      </a:r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 / 已绑定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减收不罚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按政策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 rowSpan="2"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适用渠道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增收有奖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6001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</a:t>
                      </a:r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周期锁定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减收不罚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统一标准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 rowSpan="2"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场景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增收有奖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来源绑定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减收不罚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可追溯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 rowSpan="2"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按政策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可追溯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复核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graphicFrame>
        <p:nvGraphicFramePr>
          <p:cNvPr id="23" name="monthly-incentive-table"/>
          <p:cNvGraphicFramePr>
            <a:graphicFrameLocks noGrp="1"/>
          </p:cNvGraphicFramePr>
          <p:nvPr/>
        </p:nvGraphicFramePr>
        <p:xfrm>
          <a:off x="7436933" y="3429000"/>
          <a:ext cx="390134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169"/>
                <a:gridCol w="1706837"/>
                <a:gridCol w="975335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月度发展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达量补贴标准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适用渠道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增收有奖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结果可核对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渠道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减收不罚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统一标准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渠道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全部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graphicFrame>
        <p:nvGraphicFramePr>
          <p:cNvPr id="24" name="policy-summary-table"/>
          <p:cNvGraphicFramePr>
            <a:graphicFrameLocks noGrp="1"/>
          </p:cNvGraphicFramePr>
          <p:nvPr/>
        </p:nvGraphicFramePr>
        <p:xfrm>
          <a:off x="7436933" y="4937760"/>
          <a:ext cx="3291757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54"/>
                <a:gridCol w="1463003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状态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合并单元格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富文本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sp>
        <p:nvSpPr>
          <p:cNvPr id="25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FTTR渠道激励政策明白卡</a:t>
            </a:r>
          </a:p>
        </p:txBody>
      </p:sp>
      <p:sp>
        <p:nvSpPr>
          <p:cNvPr id="26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增收有奖｜减收不罚</a:t>
            </a:r>
          </a:p>
        </p:txBody>
      </p:sp>
      <p:sp>
        <p:nvSpPr>
          <p:cNvPr id="27" name="case-label"/>
          <p:cNvSpPr txBox="1"/>
          <p:nvPr/>
        </p:nvSpPr>
        <p:spPr>
          <a:xfrm>
            <a:off x="6461598" y="514350"/>
            <a:ext cx="219450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28" name="principle-badge-text"/>
          <p:cNvSpPr txBox="1"/>
          <p:nvPr/>
        </p:nvSpPr>
        <p:spPr>
          <a:xfrm>
            <a:off x="9448563" y="534924"/>
            <a:ext cx="1706837" cy="44577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增收有奖</a:t>
            </a:r>
          </a:p>
          <a:p>
            <a:pPr algn="ctr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减收不罚</a:t>
            </a:r>
          </a:p>
        </p:txBody>
      </p:sp>
      <p:sp>
        <p:nvSpPr>
          <p:cNvPr id="29" name="commission-card-1-title"/>
          <p:cNvSpPr txBox="1"/>
          <p:nvPr/>
        </p:nvSpPr>
        <p:spPr>
          <a:xfrm>
            <a:off x="1097252" y="1714500"/>
            <a:ext cx="2560255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核心原则</a:t>
            </a:r>
          </a:p>
        </p:txBody>
      </p:sp>
      <p:sp>
        <p:nvSpPr>
          <p:cNvPr id="30" name="commission-card-1-copy"/>
          <p:cNvSpPr txBox="1"/>
          <p:nvPr/>
        </p:nvSpPr>
        <p:spPr>
          <a:xfrm>
            <a:off x="1097252" y="2125980"/>
            <a:ext cx="256025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增收有奖</a:t>
            </a:r>
          </a:p>
        </p:txBody>
      </p:sp>
      <p:sp>
        <p:nvSpPr>
          <p:cNvPr id="31" name="commission-card-2-title"/>
          <p:cNvSpPr txBox="1"/>
          <p:nvPr/>
        </p:nvSpPr>
        <p:spPr>
          <a:xfrm>
            <a:off x="4632844" y="1714500"/>
            <a:ext cx="2560255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</p:txBody>
      </p:sp>
      <p:sp>
        <p:nvSpPr>
          <p:cNvPr id="32" name="commission-card-2-copy"/>
          <p:cNvSpPr txBox="1"/>
          <p:nvPr/>
        </p:nvSpPr>
        <p:spPr>
          <a:xfrm>
            <a:off x="4632844" y="2125980"/>
            <a:ext cx="256025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达量补贴标准</a:t>
            </a:r>
          </a:p>
        </p:txBody>
      </p:sp>
      <p:sp>
        <p:nvSpPr>
          <p:cNvPr id="33" name="commission-card-3-title"/>
          <p:cNvSpPr txBox="1"/>
          <p:nvPr/>
        </p:nvSpPr>
        <p:spPr>
          <a:xfrm>
            <a:off x="8168435" y="1714500"/>
            <a:ext cx="2560255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34" name="commission-card-3-copy"/>
          <p:cNvSpPr txBox="1"/>
          <p:nvPr/>
        </p:nvSpPr>
        <p:spPr>
          <a:xfrm>
            <a:off x="8168435" y="2125980"/>
            <a:ext cx="256025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结果可核对</a:t>
            </a:r>
          </a:p>
        </p:txBody>
      </p:sp>
      <p:sp>
        <p:nvSpPr>
          <p:cNvPr id="35" name="merge-note"/>
          <p:cNvSpPr txBox="1"/>
          <p:nvPr/>
        </p:nvSpPr>
        <p:spPr>
          <a:xfrm>
            <a:off x="853418" y="6172200"/>
            <a:ext cx="1048485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3 native tables / merged first column / rich-text runs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