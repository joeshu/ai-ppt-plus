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background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61A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itle-accent"/>
          <p:cNvSpPr/>
          <p:nvPr/>
        </p:nvSpPr>
        <p:spPr>
          <a:xfrm>
            <a:off x="670543" y="445770"/>
            <a:ext cx="73150" cy="514350"/>
          </a:xfrm>
          <a:prstGeom prst="rect">
            <a:avLst/>
          </a:prstGeom>
          <a:solidFill>
            <a:srgbClr val="E600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4" name="title-rule"/>
          <p:cNvCxnSpPr/>
          <p:nvPr/>
        </p:nvCxnSpPr>
        <p:spPr>
          <a:xfrm>
            <a:off x="670543" y="1165860"/>
            <a:ext cx="10850608" cy="0"/>
          </a:xfrm>
          <a:prstGeom prst="line">
            <a:avLst/>
          </a:prstGeom>
          <a:ln w="8890">
            <a:solidFill>
              <a:srgbClr val="355A7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section-divider"/>
          <p:cNvSpPr/>
          <p:nvPr/>
        </p:nvSpPr>
        <p:spPr>
          <a:xfrm>
            <a:off x="853418" y="2948940"/>
            <a:ext cx="10484857" cy="171450"/>
          </a:xfrm>
          <a:prstGeom prst="rect">
            <a:avLst/>
          </a:prstGeom>
          <a:solidFill>
            <a:srgbClr val="E600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pSp>
        <p:nvGrpSpPr>
          <p:cNvPr id="6" name="principle-badge" descr="principle-badge"/>
          <p:cNvGrpSpPr/>
          <p:nvPr/>
        </p:nvGrpSpPr>
        <p:grpSpPr>
          <a:xfrm>
            <a:off x="9265688" y="377190"/>
            <a:ext cx="2072588" cy="754380"/>
            <a:chOff x="9265688" y="377190"/>
            <a:chExt cx="2072588" cy="754380"/>
          </a:xfrm>
        </p:grpSpPr>
        <p:sp>
          <p:nvSpPr>
            <p:cNvPr id="7" name="principle-badge-fill"/>
            <p:cNvSpPr/>
            <p:nvPr/>
          </p:nvSpPr>
          <p:spPr>
            <a:xfrm>
              <a:off x="9265688" y="377190"/>
              <a:ext cx="2072588" cy="754380"/>
            </a:xfrm>
            <a:prstGeom prst="roundRect">
              <a:avLst/>
            </a:prstGeom>
            <a:solidFill>
              <a:srgbClr val="5C1120"/>
            </a:solidFill>
            <a:ln w="10160">
              <a:solidFill>
                <a:srgbClr val="355A7D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8" name="principle-badge-accent"/>
            <p:cNvSpPr/>
            <p:nvPr/>
          </p:nvSpPr>
          <p:spPr>
            <a:xfrm>
              <a:off x="9265688" y="377190"/>
              <a:ext cx="2072588" cy="41490"/>
            </a:xfrm>
            <a:prstGeom prst="rect">
              <a:avLst/>
            </a:prstGeom>
            <a:solidFill>
              <a:srgbClr val="E60012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cxnSp>
          <p:nvCxnSpPr>
            <p:cNvPr id="9" name="principle-badge-rule"/>
            <p:cNvCxnSpPr/>
            <p:nvPr/>
          </p:nvCxnSpPr>
          <p:spPr>
            <a:xfrm>
              <a:off x="9327865" y="1056132"/>
              <a:ext cx="1948233" cy="754"/>
            </a:xfrm>
            <a:prstGeom prst="line">
              <a:avLst/>
            </a:prstGeom>
            <a:ln w="7620">
              <a:solidFill>
                <a:srgbClr val="355A7D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0" name="commission-card-1" descr="commission-card-1"/>
          <p:cNvGrpSpPr/>
          <p:nvPr/>
        </p:nvGrpSpPr>
        <p:grpSpPr>
          <a:xfrm>
            <a:off x="853418" y="1508760"/>
            <a:ext cx="3047923" cy="1165860"/>
            <a:chOff x="853418" y="1508760"/>
            <a:chExt cx="3047923" cy="1165860"/>
          </a:xfrm>
        </p:grpSpPr>
        <p:sp>
          <p:nvSpPr>
            <p:cNvPr id="11" name="commission-card-1-fill"/>
            <p:cNvSpPr/>
            <p:nvPr/>
          </p:nvSpPr>
          <p:spPr>
            <a:xfrm>
              <a:off x="853418" y="1508760"/>
              <a:ext cx="3047923" cy="1165860"/>
            </a:xfrm>
            <a:prstGeom prst="roundRect">
              <a:avLst/>
            </a:prstGeom>
            <a:solidFill>
              <a:srgbClr val="0D2F52"/>
            </a:solidFill>
            <a:ln w="10160">
              <a:solidFill>
                <a:srgbClr val="355A7D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2" name="commission-card-1-accent"/>
            <p:cNvSpPr/>
            <p:nvPr/>
          </p:nvSpPr>
          <p:spPr>
            <a:xfrm>
              <a:off x="853418" y="1508760"/>
              <a:ext cx="3047923" cy="64122"/>
            </a:xfrm>
            <a:prstGeom prst="rect">
              <a:avLst/>
            </a:prstGeom>
            <a:solidFill>
              <a:srgbClr val="E60012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cxnSp>
          <p:nvCxnSpPr>
            <p:cNvPr id="13" name="commission-card-1-rule"/>
            <p:cNvCxnSpPr/>
            <p:nvPr/>
          </p:nvCxnSpPr>
          <p:spPr>
            <a:xfrm>
              <a:off x="944856" y="2558034"/>
              <a:ext cx="2865048" cy="1165"/>
            </a:xfrm>
            <a:prstGeom prst="line">
              <a:avLst/>
            </a:prstGeom>
            <a:ln w="7620">
              <a:solidFill>
                <a:srgbClr val="355A7D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4" name="commission-card-2" descr="commission-card-2"/>
          <p:cNvGrpSpPr/>
          <p:nvPr/>
        </p:nvGrpSpPr>
        <p:grpSpPr>
          <a:xfrm>
            <a:off x="4389010" y="1508760"/>
            <a:ext cx="3047923" cy="1165860"/>
            <a:chOff x="4389010" y="1508760"/>
            <a:chExt cx="3047923" cy="1165860"/>
          </a:xfrm>
        </p:grpSpPr>
        <p:sp>
          <p:nvSpPr>
            <p:cNvPr id="15" name="commission-card-2-fill"/>
            <p:cNvSpPr/>
            <p:nvPr/>
          </p:nvSpPr>
          <p:spPr>
            <a:xfrm>
              <a:off x="4389010" y="1508760"/>
              <a:ext cx="3047923" cy="1165860"/>
            </a:xfrm>
            <a:prstGeom prst="roundRect">
              <a:avLst/>
            </a:prstGeom>
            <a:solidFill>
              <a:srgbClr val="0D2F52"/>
            </a:solidFill>
            <a:ln w="10160">
              <a:solidFill>
                <a:srgbClr val="355A7D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6" name="commission-card-2-accent"/>
            <p:cNvSpPr/>
            <p:nvPr/>
          </p:nvSpPr>
          <p:spPr>
            <a:xfrm>
              <a:off x="4389010" y="1508760"/>
              <a:ext cx="3047923" cy="64122"/>
            </a:xfrm>
            <a:prstGeom prst="rect">
              <a:avLst/>
            </a:prstGeom>
            <a:solidFill>
              <a:srgbClr val="1687FF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cxnSp>
          <p:nvCxnSpPr>
            <p:cNvPr id="17" name="commission-card-2-rule"/>
            <p:cNvCxnSpPr/>
            <p:nvPr/>
          </p:nvCxnSpPr>
          <p:spPr>
            <a:xfrm>
              <a:off x="4480447" y="2558034"/>
              <a:ext cx="2865049" cy="1165"/>
            </a:xfrm>
            <a:prstGeom prst="line">
              <a:avLst/>
            </a:prstGeom>
            <a:ln w="7620">
              <a:solidFill>
                <a:srgbClr val="355A7D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8" name="commission-card-3" descr="commission-card-3"/>
          <p:cNvGrpSpPr/>
          <p:nvPr/>
        </p:nvGrpSpPr>
        <p:grpSpPr>
          <a:xfrm>
            <a:off x="7924601" y="1508760"/>
            <a:ext cx="3047923" cy="1165860"/>
            <a:chOff x="7924601" y="1508760"/>
            <a:chExt cx="3047923" cy="1165860"/>
          </a:xfrm>
        </p:grpSpPr>
        <p:sp>
          <p:nvSpPr>
            <p:cNvPr id="19" name="commission-card-3-fill"/>
            <p:cNvSpPr/>
            <p:nvPr/>
          </p:nvSpPr>
          <p:spPr>
            <a:xfrm>
              <a:off x="7924601" y="1508760"/>
              <a:ext cx="3047923" cy="1165860"/>
            </a:xfrm>
            <a:prstGeom prst="roundRect">
              <a:avLst/>
            </a:prstGeom>
            <a:solidFill>
              <a:srgbClr val="0D2F52"/>
            </a:solidFill>
            <a:ln w="10160">
              <a:solidFill>
                <a:srgbClr val="355A7D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0" name="commission-card-3-accent"/>
            <p:cNvSpPr/>
            <p:nvPr/>
          </p:nvSpPr>
          <p:spPr>
            <a:xfrm>
              <a:off x="7924601" y="1508760"/>
              <a:ext cx="3047923" cy="64122"/>
            </a:xfrm>
            <a:prstGeom prst="rect">
              <a:avLst/>
            </a:prstGeom>
            <a:solidFill>
              <a:srgbClr val="1687FF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cxnSp>
          <p:nvCxnSpPr>
            <p:cNvPr id="21" name="commission-card-3-rule"/>
            <p:cNvCxnSpPr/>
            <p:nvPr/>
          </p:nvCxnSpPr>
          <p:spPr>
            <a:xfrm>
              <a:off x="8016039" y="2558034"/>
              <a:ext cx="2865048" cy="1165"/>
            </a:xfrm>
            <a:prstGeom prst="line">
              <a:avLst/>
            </a:prstGeom>
            <a:ln w="7620">
              <a:solidFill>
                <a:srgbClr val="355A7D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aphicFrame>
        <p:nvGraphicFramePr>
          <p:cNvPr id="22" name="policy-merged-table"/>
          <p:cNvGraphicFramePr>
            <a:graphicFrameLocks noGrp="1"/>
          </p:cNvGraphicFramePr>
          <p:nvPr/>
        </p:nvGraphicFramePr>
        <p:xfrm>
          <a:off x="853418" y="3429000"/>
          <a:ext cx="6217763" cy="24688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63003"/>
                <a:gridCol w="1463003"/>
                <a:gridCol w="2072588"/>
                <a:gridCol w="1219169"/>
              </a:tblGrid>
              <a:tr h="274320">
                <a:tc>
                  <a:txBody>
                    <a:bodyPr/>
                    <a:lstStyle/>
                    <a:p>
                      <a:r>
                        <a:rPr sz="900" b="1">
                          <a:solidFill>
                            <a:srgbClr val="FFFFFF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场景</a:t>
                      </a:r>
                    </a:p>
                  </a:txBody>
                  <a:tcPr>
                    <a:solidFill>
                      <a:srgbClr val="9B0B1B"/>
                    </a:solidFill>
                    <a:lnL w="8890">
                      <a:solidFill>
                        <a:srgbClr val="9EB3C8"/>
                      </a:solidFill>
                      <a:prstDash val="solid"/>
                    </a:lnL>
                    <a:lnR w="8890">
                      <a:solidFill>
                        <a:srgbClr val="9EB3C8"/>
                      </a:solidFill>
                      <a:prstDash val="solid"/>
                    </a:lnR>
                    <a:lnT w="8890">
                      <a:solidFill>
                        <a:srgbClr val="9EB3C8"/>
                      </a:solidFill>
                      <a:prstDash val="solid"/>
                    </a:lnT>
                    <a:lnB w="8890">
                      <a:solidFill>
                        <a:srgbClr val="9EB3C8"/>
                      </a:solidFill>
                      <a:prstDash val="solid"/>
                    </a:lnB>
                    <a:tcMar>
                      <a:marL w="508" type="dxa"/>
                      <a:marR w="508" type="dxa"/>
                      <a:marT w="317" type="dxa"/>
                      <a:marB w="317" type="dxa"/>
                    </a:tcMar>
                  </a:tcPr>
                </a:tc>
                <a:tc>
                  <a:txBody>
                    <a:bodyPr/>
                    <a:lstStyle/>
                    <a:p>
                      <a:r>
                        <a:rPr sz="900" b="1">
                          <a:solidFill>
                            <a:srgbClr val="FFFFFF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收入变化</a:t>
                      </a:r>
                    </a:p>
                  </a:txBody>
                  <a:tcPr>
                    <a:solidFill>
                      <a:srgbClr val="9B0B1B"/>
                    </a:solidFill>
                    <a:lnL w="8890">
                      <a:solidFill>
                        <a:srgbClr val="9EB3C8"/>
                      </a:solidFill>
                      <a:prstDash val="solid"/>
                    </a:lnL>
                    <a:lnR w="8890">
                      <a:solidFill>
                        <a:srgbClr val="9EB3C8"/>
                      </a:solidFill>
                      <a:prstDash val="solid"/>
                    </a:lnR>
                    <a:lnT w="8890">
                      <a:solidFill>
                        <a:srgbClr val="9EB3C8"/>
                      </a:solidFill>
                      <a:prstDash val="solid"/>
                    </a:lnT>
                    <a:lnB w="8890">
                      <a:solidFill>
                        <a:srgbClr val="9EB3C8"/>
                      </a:solidFill>
                      <a:prstDash val="solid"/>
                    </a:lnB>
                    <a:tcMar>
                      <a:marL w="508" type="dxa"/>
                      <a:marR w="508" type="dxa"/>
                      <a:marT w="317" type="dxa"/>
                      <a:marB w="317" type="dxa"/>
                    </a:tcMar>
                  </a:tcPr>
                </a:tc>
                <a:tc>
                  <a:txBody>
                    <a:bodyPr/>
                    <a:lstStyle/>
                    <a:p>
                      <a:r>
                        <a:rPr sz="900" b="1">
                          <a:solidFill>
                            <a:srgbClr val="FFFFFF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服务费标准</a:t>
                      </a:r>
                    </a:p>
                  </a:txBody>
                  <a:tcPr>
                    <a:solidFill>
                      <a:srgbClr val="9B0B1B"/>
                    </a:solidFill>
                    <a:lnL w="8890">
                      <a:solidFill>
                        <a:srgbClr val="9EB3C8"/>
                      </a:solidFill>
                      <a:prstDash val="solid"/>
                    </a:lnL>
                    <a:lnR w="8890">
                      <a:solidFill>
                        <a:srgbClr val="9EB3C8"/>
                      </a:solidFill>
                      <a:prstDash val="solid"/>
                    </a:lnR>
                    <a:lnT w="8890">
                      <a:solidFill>
                        <a:srgbClr val="9EB3C8"/>
                      </a:solidFill>
                      <a:prstDash val="solid"/>
                    </a:lnT>
                    <a:lnB w="8890">
                      <a:solidFill>
                        <a:srgbClr val="9EB3C8"/>
                      </a:solidFill>
                      <a:prstDash val="solid"/>
                    </a:lnB>
                    <a:tcMar>
                      <a:marL w="508" type="dxa"/>
                      <a:marR w="508" type="dxa"/>
                      <a:marT w="317" type="dxa"/>
                      <a:marB w="317" type="dxa"/>
                    </a:tcMar>
                  </a:tcPr>
                </a:tc>
                <a:tc>
                  <a:txBody>
                    <a:bodyPr/>
                    <a:lstStyle/>
                    <a:p>
                      <a:r>
                        <a:rPr sz="900" b="1">
                          <a:solidFill>
                            <a:srgbClr val="FFFFFF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计提周期</a:t>
                      </a:r>
                    </a:p>
                  </a:txBody>
                  <a:tcPr>
                    <a:solidFill>
                      <a:srgbClr val="9B0B1B"/>
                    </a:solidFill>
                    <a:lnL w="8890">
                      <a:solidFill>
                        <a:srgbClr val="9EB3C8"/>
                      </a:solidFill>
                      <a:prstDash val="solid"/>
                    </a:lnL>
                    <a:lnR w="8890">
                      <a:solidFill>
                        <a:srgbClr val="9EB3C8"/>
                      </a:solidFill>
                      <a:prstDash val="solid"/>
                    </a:lnR>
                    <a:lnT w="8890">
                      <a:solidFill>
                        <a:srgbClr val="9EB3C8"/>
                      </a:solidFill>
                      <a:prstDash val="solid"/>
                    </a:lnT>
                    <a:lnB w="8890">
                      <a:solidFill>
                        <a:srgbClr val="9EB3C8"/>
                      </a:solidFill>
                      <a:prstDash val="solid"/>
                    </a:lnB>
                    <a:tcMar>
                      <a:marL w="508" type="dxa"/>
                      <a:marR w="508" type="dxa"/>
                      <a:marT w="317" type="dxa"/>
                      <a:marB w="317" type="dxa"/>
                    </a:tcMar>
                  </a:tcPr>
                </a:tc>
              </a:tr>
              <a:tr h="274320">
                <a:tc rowSpan="2">
                  <a:txBody>
                    <a:bodyPr/>
                    <a:lstStyle/>
                    <a:p>
                      <a:r>
                        <a:rPr sz="850" b="0">
                          <a:solidFill>
                            <a:srgbClr val="061A35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月度发展</a:t>
                      </a:r>
                    </a:p>
                  </a:txBody>
                  <a:tcPr>
                    <a:solidFill>
                      <a:srgbClr val="F5F8FC"/>
                    </a:solidFill>
                    <a:lnL w="8890">
                      <a:solidFill>
                        <a:srgbClr val="9EB3C8"/>
                      </a:solidFill>
                      <a:prstDash val="solid"/>
                    </a:lnL>
                    <a:lnR w="8890">
                      <a:solidFill>
                        <a:srgbClr val="9EB3C8"/>
                      </a:solidFill>
                      <a:prstDash val="solid"/>
                    </a:lnR>
                    <a:lnT w="8890">
                      <a:solidFill>
                        <a:srgbClr val="9EB3C8"/>
                      </a:solidFill>
                      <a:prstDash val="solid"/>
                    </a:lnT>
                    <a:lnB w="8890">
                      <a:solidFill>
                        <a:srgbClr val="9EB3C8"/>
                      </a:solidFill>
                      <a:prstDash val="solid"/>
                    </a:lnB>
                    <a:tcMar>
                      <a:marL w="508" type="dxa"/>
                      <a:marR w="508" type="dxa"/>
                      <a:marT w="317" type="dxa"/>
                      <a:marB w="317" type="dxa"/>
                    </a:tcMar>
                  </a:tcPr>
                </a:tc>
                <a:tc>
                  <a:txBody>
                    <a:bodyPr/>
                    <a:lstStyle/>
                    <a:p>
                      <a:r>
                        <a:rPr sz="850" b="0">
                          <a:solidFill>
                            <a:srgbClr val="061A35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增收有奖</a:t>
                      </a:r>
                    </a:p>
                  </a:txBody>
                  <a:tcPr>
                    <a:solidFill>
                      <a:srgbClr val="F5F8FC"/>
                    </a:solidFill>
                    <a:lnL w="8890">
                      <a:solidFill>
                        <a:srgbClr val="9EB3C8"/>
                      </a:solidFill>
                      <a:prstDash val="solid"/>
                    </a:lnL>
                    <a:lnR w="8890">
                      <a:solidFill>
                        <a:srgbClr val="9EB3C8"/>
                      </a:solidFill>
                      <a:prstDash val="solid"/>
                    </a:lnR>
                    <a:lnT w="8890">
                      <a:solidFill>
                        <a:srgbClr val="9EB3C8"/>
                      </a:solidFill>
                      <a:prstDash val="solid"/>
                    </a:lnT>
                    <a:lnB w="8890">
                      <a:solidFill>
                        <a:srgbClr val="9EB3C8"/>
                      </a:solidFill>
                      <a:prstDash val="solid"/>
                    </a:lnB>
                    <a:tcMar>
                      <a:marL w="508" type="dxa"/>
                      <a:marR w="508" type="dxa"/>
                      <a:marT w="317" type="dxa"/>
                      <a:marB w="317" type="dxa"/>
                    </a:tcMar>
                  </a:tcPr>
                </a:tc>
                <a:tc>
                  <a:txBody>
                    <a:bodyPr/>
                    <a:lstStyle/>
                    <a:p>
                      <a:r>
                        <a:rPr sz="850" b="1">
                          <a:solidFill>
                            <a:srgbClr val="E60012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达量补贴标准</a:t>
                      </a:r>
                      <a:r>
                        <a:rPr sz="850" b="0">
                          <a:solidFill>
                            <a:srgbClr val="061A35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 / 已绑定</a:t>
                      </a:r>
                    </a:p>
                  </a:txBody>
                  <a:tcPr>
                    <a:solidFill>
                      <a:srgbClr val="F5F8FC"/>
                    </a:solidFill>
                    <a:lnL w="8890">
                      <a:solidFill>
                        <a:srgbClr val="9EB3C8"/>
                      </a:solidFill>
                      <a:prstDash val="solid"/>
                    </a:lnL>
                    <a:lnR w="8890">
                      <a:solidFill>
                        <a:srgbClr val="9EB3C8"/>
                      </a:solidFill>
                      <a:prstDash val="solid"/>
                    </a:lnR>
                    <a:lnT w="8890">
                      <a:solidFill>
                        <a:srgbClr val="9EB3C8"/>
                      </a:solidFill>
                      <a:prstDash val="solid"/>
                    </a:lnT>
                    <a:lnB w="8890">
                      <a:solidFill>
                        <a:srgbClr val="9EB3C8"/>
                      </a:solidFill>
                      <a:prstDash val="solid"/>
                    </a:lnB>
                    <a:tcMar>
                      <a:marL w="508" type="dxa"/>
                      <a:marR w="508" type="dxa"/>
                      <a:marT w="317" type="dxa"/>
                      <a:marB w="317" type="dxa"/>
                    </a:tcMar>
                  </a:tcPr>
                </a:tc>
                <a:tc>
                  <a:txBody>
                    <a:bodyPr/>
                    <a:lstStyle/>
                    <a:p>
                      <a:r>
                        <a:rPr sz="850" b="0">
                          <a:solidFill>
                            <a:srgbClr val="061A35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月度</a:t>
                      </a:r>
                    </a:p>
                  </a:txBody>
                  <a:tcPr>
                    <a:solidFill>
                      <a:srgbClr val="F5F8FC"/>
                    </a:solidFill>
                    <a:lnL w="8890">
                      <a:solidFill>
                        <a:srgbClr val="9EB3C8"/>
                      </a:solidFill>
                      <a:prstDash val="solid"/>
                    </a:lnL>
                    <a:lnR w="8890">
                      <a:solidFill>
                        <a:srgbClr val="9EB3C8"/>
                      </a:solidFill>
                      <a:prstDash val="solid"/>
                    </a:lnR>
                    <a:lnT w="8890">
                      <a:solidFill>
                        <a:srgbClr val="9EB3C8"/>
                      </a:solidFill>
                      <a:prstDash val="solid"/>
                    </a:lnT>
                    <a:lnB w="8890">
                      <a:solidFill>
                        <a:srgbClr val="9EB3C8"/>
                      </a:solidFill>
                      <a:prstDash val="solid"/>
                    </a:lnB>
                    <a:tcMar>
                      <a:marL w="508" type="dxa"/>
                      <a:marR w="508" type="dxa"/>
                      <a:marT w="317" type="dxa"/>
                      <a:marB w="317" type="dxa"/>
                    </a:tcMar>
                  </a:tcPr>
                </a:tc>
              </a:tr>
              <a:tr h="274320">
                <a:tc vMerge="1">
                  <a:txBody>
                    <a:bodyPr/>
                    <a:lstStyle/>
                    <a:p>
                      <a:r>
                        <a:rPr sz="850" b="0">
                          <a:solidFill>
                            <a:srgbClr val="061A35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/>
                      </a:r>
                    </a:p>
                  </a:txBody>
                  <a:tcPr>
                    <a:solidFill>
                      <a:srgbClr val="EAF1F8"/>
                    </a:solidFill>
                    <a:lnL w="8890">
                      <a:solidFill>
                        <a:srgbClr val="9EB3C8"/>
                      </a:solidFill>
                      <a:prstDash val="solid"/>
                    </a:lnL>
                    <a:lnR w="8890">
                      <a:solidFill>
                        <a:srgbClr val="9EB3C8"/>
                      </a:solidFill>
                      <a:prstDash val="solid"/>
                    </a:lnR>
                    <a:lnT w="8890">
                      <a:solidFill>
                        <a:srgbClr val="9EB3C8"/>
                      </a:solidFill>
                      <a:prstDash val="solid"/>
                    </a:lnT>
                    <a:lnB w="8890">
                      <a:solidFill>
                        <a:srgbClr val="9EB3C8"/>
                      </a:solidFill>
                      <a:prstDash val="solid"/>
                    </a:lnB>
                    <a:tcMar>
                      <a:marL w="508" type="dxa"/>
                      <a:marR w="508" type="dxa"/>
                      <a:marT w="317" type="dxa"/>
                      <a:marB w="317" type="dxa"/>
                    </a:tcMar>
                  </a:tcPr>
                </a:tc>
                <a:tc>
                  <a:txBody>
                    <a:bodyPr/>
                    <a:lstStyle/>
                    <a:p>
                      <a:r>
                        <a:rPr sz="850" b="0">
                          <a:solidFill>
                            <a:srgbClr val="061A35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减收不罚</a:t>
                      </a:r>
                    </a:p>
                  </a:txBody>
                  <a:tcPr>
                    <a:solidFill>
                      <a:srgbClr val="EAF1F8"/>
                    </a:solidFill>
                    <a:lnL w="8890">
                      <a:solidFill>
                        <a:srgbClr val="9EB3C8"/>
                      </a:solidFill>
                      <a:prstDash val="solid"/>
                    </a:lnL>
                    <a:lnR w="8890">
                      <a:solidFill>
                        <a:srgbClr val="9EB3C8"/>
                      </a:solidFill>
                      <a:prstDash val="solid"/>
                    </a:lnR>
                    <a:lnT w="8890">
                      <a:solidFill>
                        <a:srgbClr val="9EB3C8"/>
                      </a:solidFill>
                      <a:prstDash val="solid"/>
                    </a:lnT>
                    <a:lnB w="8890">
                      <a:solidFill>
                        <a:srgbClr val="9EB3C8"/>
                      </a:solidFill>
                      <a:prstDash val="solid"/>
                    </a:lnB>
                    <a:tcMar>
                      <a:marL w="508" type="dxa"/>
                      <a:marR w="508" type="dxa"/>
                      <a:marT w="317" type="dxa"/>
                      <a:marB w="317" type="dxa"/>
                    </a:tcMar>
                  </a:tcPr>
                </a:tc>
                <a:tc>
                  <a:txBody>
                    <a:bodyPr/>
                    <a:lstStyle/>
                    <a:p>
                      <a:r>
                        <a:rPr sz="850" b="0">
                          <a:solidFill>
                            <a:srgbClr val="061A35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按政策</a:t>
                      </a:r>
                    </a:p>
                  </a:txBody>
                  <a:tcPr>
                    <a:solidFill>
                      <a:srgbClr val="EAF1F8"/>
                    </a:solidFill>
                    <a:lnL w="8890">
                      <a:solidFill>
                        <a:srgbClr val="9EB3C8"/>
                      </a:solidFill>
                      <a:prstDash val="solid"/>
                    </a:lnL>
                    <a:lnR w="8890">
                      <a:solidFill>
                        <a:srgbClr val="9EB3C8"/>
                      </a:solidFill>
                      <a:prstDash val="solid"/>
                    </a:lnR>
                    <a:lnT w="8890">
                      <a:solidFill>
                        <a:srgbClr val="9EB3C8"/>
                      </a:solidFill>
                      <a:prstDash val="solid"/>
                    </a:lnT>
                    <a:lnB w="8890">
                      <a:solidFill>
                        <a:srgbClr val="9EB3C8"/>
                      </a:solidFill>
                      <a:prstDash val="solid"/>
                    </a:lnB>
                    <a:tcMar>
                      <a:marL w="508" type="dxa"/>
                      <a:marR w="508" type="dxa"/>
                      <a:marT w="317" type="dxa"/>
                      <a:marB w="317" type="dxa"/>
                    </a:tcMar>
                  </a:tcPr>
                </a:tc>
                <a:tc>
                  <a:txBody>
                    <a:bodyPr/>
                    <a:lstStyle/>
                    <a:p>
                      <a:r>
                        <a:rPr sz="850" b="0">
                          <a:solidFill>
                            <a:srgbClr val="061A35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月度</a:t>
                      </a:r>
                    </a:p>
                  </a:txBody>
                  <a:tcPr>
                    <a:solidFill>
                      <a:srgbClr val="EAF1F8"/>
                    </a:solidFill>
                    <a:lnL w="8890">
                      <a:solidFill>
                        <a:srgbClr val="9EB3C8"/>
                      </a:solidFill>
                      <a:prstDash val="solid"/>
                    </a:lnL>
                    <a:lnR w="8890">
                      <a:solidFill>
                        <a:srgbClr val="9EB3C8"/>
                      </a:solidFill>
                      <a:prstDash val="solid"/>
                    </a:lnR>
                    <a:lnT w="8890">
                      <a:solidFill>
                        <a:srgbClr val="9EB3C8"/>
                      </a:solidFill>
                      <a:prstDash val="solid"/>
                    </a:lnT>
                    <a:lnB w="8890">
                      <a:solidFill>
                        <a:srgbClr val="9EB3C8"/>
                      </a:solidFill>
                      <a:prstDash val="solid"/>
                    </a:lnB>
                    <a:tcMar>
                      <a:marL w="508" type="dxa"/>
                      <a:marR w="508" type="dxa"/>
                      <a:marT w="317" type="dxa"/>
                      <a:marB w="317" type="dxa"/>
                    </a:tcMar>
                  </a:tcPr>
                </a:tc>
              </a:tr>
              <a:tr h="274320">
                <a:tc rowSpan="2">
                  <a:txBody>
                    <a:bodyPr/>
                    <a:lstStyle/>
                    <a:p>
                      <a:r>
                        <a:rPr sz="850" b="0">
                          <a:solidFill>
                            <a:srgbClr val="061A35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适用渠道</a:t>
                      </a:r>
                    </a:p>
                  </a:txBody>
                  <a:tcPr>
                    <a:solidFill>
                      <a:srgbClr val="F5F8FC"/>
                    </a:solidFill>
                    <a:lnL w="8890">
                      <a:solidFill>
                        <a:srgbClr val="9EB3C8"/>
                      </a:solidFill>
                      <a:prstDash val="solid"/>
                    </a:lnL>
                    <a:lnR w="8890">
                      <a:solidFill>
                        <a:srgbClr val="9EB3C8"/>
                      </a:solidFill>
                      <a:prstDash val="solid"/>
                    </a:lnR>
                    <a:lnT w="8890">
                      <a:solidFill>
                        <a:srgbClr val="9EB3C8"/>
                      </a:solidFill>
                      <a:prstDash val="solid"/>
                    </a:lnT>
                    <a:lnB w="8890">
                      <a:solidFill>
                        <a:srgbClr val="9EB3C8"/>
                      </a:solidFill>
                      <a:prstDash val="solid"/>
                    </a:lnB>
                    <a:tcMar>
                      <a:marL w="508" type="dxa"/>
                      <a:marR w="508" type="dxa"/>
                      <a:marT w="317" type="dxa"/>
                      <a:marB w="317" type="dxa"/>
                    </a:tcMar>
                  </a:tcPr>
                </a:tc>
                <a:tc>
                  <a:txBody>
                    <a:bodyPr/>
                    <a:lstStyle/>
                    <a:p>
                      <a:r>
                        <a:rPr sz="850" b="0">
                          <a:solidFill>
                            <a:srgbClr val="061A35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增收有奖</a:t>
                      </a:r>
                    </a:p>
                  </a:txBody>
                  <a:tcPr>
                    <a:solidFill>
                      <a:srgbClr val="F5F8FC"/>
                    </a:solidFill>
                    <a:lnL w="8890">
                      <a:solidFill>
                        <a:srgbClr val="9EB3C8"/>
                      </a:solidFill>
                      <a:prstDash val="solid"/>
                    </a:lnL>
                    <a:lnR w="8890">
                      <a:solidFill>
                        <a:srgbClr val="9EB3C8"/>
                      </a:solidFill>
                      <a:prstDash val="solid"/>
                    </a:lnR>
                    <a:lnT w="8890">
                      <a:solidFill>
                        <a:srgbClr val="9EB3C8"/>
                      </a:solidFill>
                      <a:prstDash val="solid"/>
                    </a:lnT>
                    <a:lnB w="8890">
                      <a:solidFill>
                        <a:srgbClr val="9EB3C8"/>
                      </a:solidFill>
                      <a:prstDash val="solid"/>
                    </a:lnB>
                    <a:tcMar>
                      <a:marL w="508" type="dxa"/>
                      <a:marR w="508" type="dxa"/>
                      <a:marT w="317" type="dxa"/>
                      <a:marB w="317" type="dxa"/>
                    </a:tcMar>
                  </a:tcPr>
                </a:tc>
                <a:tc>
                  <a:txBody>
                    <a:bodyPr/>
                    <a:lstStyle/>
                    <a:p>
                      <a:r>
                        <a:rPr sz="850" b="1">
                          <a:solidFill>
                            <a:srgbClr val="E60012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结果</a:t>
                      </a:r>
                      <a:r>
                        <a:rPr sz="850" b="0">
                          <a:solidFill>
                            <a:srgbClr val="061A35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可核对</a:t>
                      </a:r>
                    </a:p>
                  </a:txBody>
                  <a:tcPr>
                    <a:solidFill>
                      <a:srgbClr val="F5F8FC"/>
                    </a:solidFill>
                    <a:lnL w="8890">
                      <a:solidFill>
                        <a:srgbClr val="9EB3C8"/>
                      </a:solidFill>
                      <a:prstDash val="solid"/>
                    </a:lnL>
                    <a:lnR w="8890">
                      <a:solidFill>
                        <a:srgbClr val="9EB3C8"/>
                      </a:solidFill>
                      <a:prstDash val="solid"/>
                    </a:lnR>
                    <a:lnT w="8890">
                      <a:solidFill>
                        <a:srgbClr val="9EB3C8"/>
                      </a:solidFill>
                      <a:prstDash val="solid"/>
                    </a:lnT>
                    <a:lnB w="8890">
                      <a:solidFill>
                        <a:srgbClr val="9EB3C8"/>
                      </a:solidFill>
                      <a:prstDash val="solid"/>
                    </a:lnB>
                    <a:tcMar>
                      <a:marL w="508" type="dxa"/>
                      <a:marR w="508" type="dxa"/>
                      <a:marT w="317" type="dxa"/>
                      <a:marB w="317" type="dxa"/>
                    </a:tcMar>
                  </a:tcPr>
                </a:tc>
                <a:tc>
                  <a:txBody>
                    <a:bodyPr/>
                    <a:lstStyle/>
                    <a:p>
                      <a:r>
                        <a:rPr sz="850" b="0">
                          <a:solidFill>
                            <a:srgbClr val="061A35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周期锁定</a:t>
                      </a:r>
                    </a:p>
                  </a:txBody>
                  <a:tcPr>
                    <a:solidFill>
                      <a:srgbClr val="F5F8FC"/>
                    </a:solidFill>
                    <a:lnL w="8890">
                      <a:solidFill>
                        <a:srgbClr val="9EB3C8"/>
                      </a:solidFill>
                      <a:prstDash val="solid"/>
                    </a:lnL>
                    <a:lnR w="8890">
                      <a:solidFill>
                        <a:srgbClr val="9EB3C8"/>
                      </a:solidFill>
                      <a:prstDash val="solid"/>
                    </a:lnR>
                    <a:lnT w="8890">
                      <a:solidFill>
                        <a:srgbClr val="9EB3C8"/>
                      </a:solidFill>
                      <a:prstDash val="solid"/>
                    </a:lnT>
                    <a:lnB w="8890">
                      <a:solidFill>
                        <a:srgbClr val="9EB3C8"/>
                      </a:solidFill>
                      <a:prstDash val="solid"/>
                    </a:lnB>
                    <a:tcMar>
                      <a:marL w="508" type="dxa"/>
                      <a:marR w="508" type="dxa"/>
                      <a:marT w="317" type="dxa"/>
                      <a:marB w="317" type="dxa"/>
                    </a:tcMar>
                  </a:tcPr>
                </a:tc>
              </a:tr>
              <a:tr h="274320">
                <a:tc vMerge="1">
                  <a:txBody>
                    <a:bodyPr/>
                    <a:lstStyle/>
                    <a:p>
                      <a:r>
                        <a:rPr sz="850" b="0">
                          <a:solidFill>
                            <a:srgbClr val="061A35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/>
                      </a:r>
                    </a:p>
                  </a:txBody>
                  <a:tcPr>
                    <a:solidFill>
                      <a:srgbClr val="EAF1F8"/>
                    </a:solidFill>
                    <a:lnL w="8890">
                      <a:solidFill>
                        <a:srgbClr val="9EB3C8"/>
                      </a:solidFill>
                      <a:prstDash val="solid"/>
                    </a:lnL>
                    <a:lnR w="8890">
                      <a:solidFill>
                        <a:srgbClr val="9EB3C8"/>
                      </a:solidFill>
                      <a:prstDash val="solid"/>
                    </a:lnR>
                    <a:lnT w="8890">
                      <a:solidFill>
                        <a:srgbClr val="9EB3C8"/>
                      </a:solidFill>
                      <a:prstDash val="solid"/>
                    </a:lnT>
                    <a:lnB w="8890">
                      <a:solidFill>
                        <a:srgbClr val="9EB3C8"/>
                      </a:solidFill>
                      <a:prstDash val="solid"/>
                    </a:lnB>
                    <a:tcMar>
                      <a:marL w="508" type="dxa"/>
                      <a:marR w="508" type="dxa"/>
                      <a:marT w="317" type="dxa"/>
                      <a:marB w="317" type="dxa"/>
                    </a:tcMar>
                  </a:tcPr>
                </a:tc>
                <a:tc>
                  <a:txBody>
                    <a:bodyPr/>
                    <a:lstStyle/>
                    <a:p>
                      <a:r>
                        <a:rPr sz="850" b="0">
                          <a:solidFill>
                            <a:srgbClr val="061A35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减收不罚</a:t>
                      </a:r>
                    </a:p>
                  </a:txBody>
                  <a:tcPr>
                    <a:solidFill>
                      <a:srgbClr val="EAF1F8"/>
                    </a:solidFill>
                    <a:lnL w="8890">
                      <a:solidFill>
                        <a:srgbClr val="9EB3C8"/>
                      </a:solidFill>
                      <a:prstDash val="solid"/>
                    </a:lnL>
                    <a:lnR w="8890">
                      <a:solidFill>
                        <a:srgbClr val="9EB3C8"/>
                      </a:solidFill>
                      <a:prstDash val="solid"/>
                    </a:lnR>
                    <a:lnT w="8890">
                      <a:solidFill>
                        <a:srgbClr val="9EB3C8"/>
                      </a:solidFill>
                      <a:prstDash val="solid"/>
                    </a:lnT>
                    <a:lnB w="8890">
                      <a:solidFill>
                        <a:srgbClr val="9EB3C8"/>
                      </a:solidFill>
                      <a:prstDash val="solid"/>
                    </a:lnB>
                    <a:tcMar>
                      <a:marL w="508" type="dxa"/>
                      <a:marR w="508" type="dxa"/>
                      <a:marT w="317" type="dxa"/>
                      <a:marB w="317" type="dxa"/>
                    </a:tcMar>
                  </a:tcPr>
                </a:tc>
                <a:tc>
                  <a:txBody>
                    <a:bodyPr/>
                    <a:lstStyle/>
                    <a:p>
                      <a:r>
                        <a:rPr sz="850" b="0">
                          <a:solidFill>
                            <a:srgbClr val="061A35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统一标准</a:t>
                      </a:r>
                    </a:p>
                  </a:txBody>
                  <a:tcPr>
                    <a:solidFill>
                      <a:srgbClr val="EAF1F8"/>
                    </a:solidFill>
                    <a:lnL w="8890">
                      <a:solidFill>
                        <a:srgbClr val="9EB3C8"/>
                      </a:solidFill>
                      <a:prstDash val="solid"/>
                    </a:lnL>
                    <a:lnR w="8890">
                      <a:solidFill>
                        <a:srgbClr val="9EB3C8"/>
                      </a:solidFill>
                      <a:prstDash val="solid"/>
                    </a:lnR>
                    <a:lnT w="8890">
                      <a:solidFill>
                        <a:srgbClr val="9EB3C8"/>
                      </a:solidFill>
                      <a:prstDash val="solid"/>
                    </a:lnT>
                    <a:lnB w="8890">
                      <a:solidFill>
                        <a:srgbClr val="9EB3C8"/>
                      </a:solidFill>
                      <a:prstDash val="solid"/>
                    </a:lnB>
                    <a:tcMar>
                      <a:marL w="508" type="dxa"/>
                      <a:marR w="508" type="dxa"/>
                      <a:marT w="317" type="dxa"/>
                      <a:marB w="317" type="dxa"/>
                    </a:tcMar>
                  </a:tcPr>
                </a:tc>
                <a:tc>
                  <a:txBody>
                    <a:bodyPr/>
                    <a:lstStyle/>
                    <a:p>
                      <a:r>
                        <a:rPr sz="850" b="0">
                          <a:solidFill>
                            <a:srgbClr val="061A35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可回放</a:t>
                      </a:r>
                    </a:p>
                  </a:txBody>
                  <a:tcPr>
                    <a:solidFill>
                      <a:srgbClr val="EAF1F8"/>
                    </a:solidFill>
                    <a:lnL w="8890">
                      <a:solidFill>
                        <a:srgbClr val="9EB3C8"/>
                      </a:solidFill>
                      <a:prstDash val="solid"/>
                    </a:lnL>
                    <a:lnR w="8890">
                      <a:solidFill>
                        <a:srgbClr val="9EB3C8"/>
                      </a:solidFill>
                      <a:prstDash val="solid"/>
                    </a:lnR>
                    <a:lnT w="8890">
                      <a:solidFill>
                        <a:srgbClr val="9EB3C8"/>
                      </a:solidFill>
                      <a:prstDash val="solid"/>
                    </a:lnT>
                    <a:lnB w="8890">
                      <a:solidFill>
                        <a:srgbClr val="9EB3C8"/>
                      </a:solidFill>
                      <a:prstDash val="solid"/>
                    </a:lnB>
                    <a:tcMar>
                      <a:marL w="508" type="dxa"/>
                      <a:marR w="508" type="dxa"/>
                      <a:marT w="317" type="dxa"/>
                      <a:marB w="317" type="dxa"/>
                    </a:tcMar>
                  </a:tcPr>
                </a:tc>
              </a:tr>
              <a:tr h="274320">
                <a:tc rowSpan="2">
                  <a:txBody>
                    <a:bodyPr/>
                    <a:lstStyle/>
                    <a:p>
                      <a:r>
                        <a:rPr sz="850" b="0">
                          <a:solidFill>
                            <a:srgbClr val="061A35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场景</a:t>
                      </a:r>
                    </a:p>
                  </a:txBody>
                  <a:tcPr>
                    <a:solidFill>
                      <a:srgbClr val="F5F8FC"/>
                    </a:solidFill>
                    <a:lnL w="8890">
                      <a:solidFill>
                        <a:srgbClr val="9EB3C8"/>
                      </a:solidFill>
                      <a:prstDash val="solid"/>
                    </a:lnL>
                    <a:lnR w="8890">
                      <a:solidFill>
                        <a:srgbClr val="9EB3C8"/>
                      </a:solidFill>
                      <a:prstDash val="solid"/>
                    </a:lnR>
                    <a:lnT w="8890">
                      <a:solidFill>
                        <a:srgbClr val="9EB3C8"/>
                      </a:solidFill>
                      <a:prstDash val="solid"/>
                    </a:lnT>
                    <a:lnB w="8890">
                      <a:solidFill>
                        <a:srgbClr val="9EB3C8"/>
                      </a:solidFill>
                      <a:prstDash val="solid"/>
                    </a:lnB>
                    <a:tcMar>
                      <a:marL w="508" type="dxa"/>
                      <a:marR w="508" type="dxa"/>
                      <a:marT w="317" type="dxa"/>
                      <a:marB w="317" type="dxa"/>
                    </a:tcMar>
                  </a:tcPr>
                </a:tc>
                <a:tc>
                  <a:txBody>
                    <a:bodyPr/>
                    <a:lstStyle/>
                    <a:p>
                      <a:r>
                        <a:rPr sz="850" b="0">
                          <a:solidFill>
                            <a:srgbClr val="061A35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增收有奖</a:t>
                      </a:r>
                    </a:p>
                  </a:txBody>
                  <a:tcPr>
                    <a:solidFill>
                      <a:srgbClr val="F5F8FC"/>
                    </a:solidFill>
                    <a:lnL w="8890">
                      <a:solidFill>
                        <a:srgbClr val="9EB3C8"/>
                      </a:solidFill>
                      <a:prstDash val="solid"/>
                    </a:lnL>
                    <a:lnR w="8890">
                      <a:solidFill>
                        <a:srgbClr val="9EB3C8"/>
                      </a:solidFill>
                      <a:prstDash val="solid"/>
                    </a:lnR>
                    <a:lnT w="8890">
                      <a:solidFill>
                        <a:srgbClr val="9EB3C8"/>
                      </a:solidFill>
                      <a:prstDash val="solid"/>
                    </a:lnT>
                    <a:lnB w="8890">
                      <a:solidFill>
                        <a:srgbClr val="9EB3C8"/>
                      </a:solidFill>
                      <a:prstDash val="solid"/>
                    </a:lnB>
                    <a:tcMar>
                      <a:marL w="508" type="dxa"/>
                      <a:marR w="508" type="dxa"/>
                      <a:marT w="317" type="dxa"/>
                      <a:marB w="317" type="dxa"/>
                    </a:tcMar>
                  </a:tcPr>
                </a:tc>
                <a:tc>
                  <a:txBody>
                    <a:bodyPr/>
                    <a:lstStyle/>
                    <a:p>
                      <a:r>
                        <a:rPr sz="850" b="0">
                          <a:solidFill>
                            <a:srgbClr val="061A35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来源绑定</a:t>
                      </a:r>
                    </a:p>
                  </a:txBody>
                  <a:tcPr>
                    <a:solidFill>
                      <a:srgbClr val="F5F8FC"/>
                    </a:solidFill>
                    <a:lnL w="8890">
                      <a:solidFill>
                        <a:srgbClr val="9EB3C8"/>
                      </a:solidFill>
                      <a:prstDash val="solid"/>
                    </a:lnL>
                    <a:lnR w="8890">
                      <a:solidFill>
                        <a:srgbClr val="9EB3C8"/>
                      </a:solidFill>
                      <a:prstDash val="solid"/>
                    </a:lnR>
                    <a:lnT w="8890">
                      <a:solidFill>
                        <a:srgbClr val="9EB3C8"/>
                      </a:solidFill>
                      <a:prstDash val="solid"/>
                    </a:lnT>
                    <a:lnB w="8890">
                      <a:solidFill>
                        <a:srgbClr val="9EB3C8"/>
                      </a:solidFill>
                      <a:prstDash val="solid"/>
                    </a:lnB>
                    <a:tcMar>
                      <a:marL w="508" type="dxa"/>
                      <a:marR w="508" type="dxa"/>
                      <a:marT w="317" type="dxa"/>
                      <a:marB w="317" type="dxa"/>
                    </a:tcMar>
                  </a:tcPr>
                </a:tc>
                <a:tc>
                  <a:txBody>
                    <a:bodyPr/>
                    <a:lstStyle/>
                    <a:p>
                      <a:r>
                        <a:rPr sz="850" b="0">
                          <a:solidFill>
                            <a:srgbClr val="061A35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月度</a:t>
                      </a:r>
                    </a:p>
                  </a:txBody>
                  <a:tcPr>
                    <a:solidFill>
                      <a:srgbClr val="F5F8FC"/>
                    </a:solidFill>
                    <a:lnL w="8890">
                      <a:solidFill>
                        <a:srgbClr val="9EB3C8"/>
                      </a:solidFill>
                      <a:prstDash val="solid"/>
                    </a:lnL>
                    <a:lnR w="8890">
                      <a:solidFill>
                        <a:srgbClr val="9EB3C8"/>
                      </a:solidFill>
                      <a:prstDash val="solid"/>
                    </a:lnR>
                    <a:lnT w="8890">
                      <a:solidFill>
                        <a:srgbClr val="9EB3C8"/>
                      </a:solidFill>
                      <a:prstDash val="solid"/>
                    </a:lnT>
                    <a:lnB w="8890">
                      <a:solidFill>
                        <a:srgbClr val="9EB3C8"/>
                      </a:solidFill>
                      <a:prstDash val="solid"/>
                    </a:lnB>
                    <a:tcMar>
                      <a:marL w="508" type="dxa"/>
                      <a:marR w="508" type="dxa"/>
                      <a:marT w="317" type="dxa"/>
                      <a:marB w="317" type="dxa"/>
                    </a:tcMar>
                  </a:tcPr>
                </a:tc>
              </a:tr>
              <a:tr h="274320">
                <a:tc vMerge="1">
                  <a:txBody>
                    <a:bodyPr/>
                    <a:lstStyle/>
                    <a:p>
                      <a:r>
                        <a:rPr sz="850" b="0">
                          <a:solidFill>
                            <a:srgbClr val="061A35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/>
                      </a:r>
                    </a:p>
                  </a:txBody>
                  <a:tcPr>
                    <a:solidFill>
                      <a:srgbClr val="EAF1F8"/>
                    </a:solidFill>
                    <a:lnL w="8890">
                      <a:solidFill>
                        <a:srgbClr val="9EB3C8"/>
                      </a:solidFill>
                      <a:prstDash val="solid"/>
                    </a:lnL>
                    <a:lnR w="8890">
                      <a:solidFill>
                        <a:srgbClr val="9EB3C8"/>
                      </a:solidFill>
                      <a:prstDash val="solid"/>
                    </a:lnR>
                    <a:lnT w="8890">
                      <a:solidFill>
                        <a:srgbClr val="9EB3C8"/>
                      </a:solidFill>
                      <a:prstDash val="solid"/>
                    </a:lnT>
                    <a:lnB w="8890">
                      <a:solidFill>
                        <a:srgbClr val="9EB3C8"/>
                      </a:solidFill>
                      <a:prstDash val="solid"/>
                    </a:lnB>
                    <a:tcMar>
                      <a:marL w="508" type="dxa"/>
                      <a:marR w="508" type="dxa"/>
                      <a:marT w="317" type="dxa"/>
                      <a:marB w="317" type="dxa"/>
                    </a:tcMar>
                  </a:tcPr>
                </a:tc>
                <a:tc>
                  <a:txBody>
                    <a:bodyPr/>
                    <a:lstStyle/>
                    <a:p>
                      <a:r>
                        <a:rPr sz="850" b="0">
                          <a:solidFill>
                            <a:srgbClr val="061A35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减收不罚</a:t>
                      </a:r>
                    </a:p>
                  </a:txBody>
                  <a:tcPr>
                    <a:solidFill>
                      <a:srgbClr val="EAF1F8"/>
                    </a:solidFill>
                    <a:lnL w="8890">
                      <a:solidFill>
                        <a:srgbClr val="9EB3C8"/>
                      </a:solidFill>
                      <a:prstDash val="solid"/>
                    </a:lnL>
                    <a:lnR w="8890">
                      <a:solidFill>
                        <a:srgbClr val="9EB3C8"/>
                      </a:solidFill>
                      <a:prstDash val="solid"/>
                    </a:lnR>
                    <a:lnT w="8890">
                      <a:solidFill>
                        <a:srgbClr val="9EB3C8"/>
                      </a:solidFill>
                      <a:prstDash val="solid"/>
                    </a:lnT>
                    <a:lnB w="8890">
                      <a:solidFill>
                        <a:srgbClr val="9EB3C8"/>
                      </a:solidFill>
                      <a:prstDash val="solid"/>
                    </a:lnB>
                    <a:tcMar>
                      <a:marL w="508" type="dxa"/>
                      <a:marR w="508" type="dxa"/>
                      <a:marT w="317" type="dxa"/>
                      <a:marB w="317" type="dxa"/>
                    </a:tcMar>
                  </a:tcPr>
                </a:tc>
                <a:tc>
                  <a:txBody>
                    <a:bodyPr/>
                    <a:lstStyle/>
                    <a:p>
                      <a:r>
                        <a:rPr sz="850" b="0">
                          <a:solidFill>
                            <a:srgbClr val="061A35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可追溯</a:t>
                      </a:r>
                    </a:p>
                  </a:txBody>
                  <a:tcPr>
                    <a:solidFill>
                      <a:srgbClr val="EAF1F8"/>
                    </a:solidFill>
                    <a:lnL w="8890">
                      <a:solidFill>
                        <a:srgbClr val="9EB3C8"/>
                      </a:solidFill>
                      <a:prstDash val="solid"/>
                    </a:lnL>
                    <a:lnR w="8890">
                      <a:solidFill>
                        <a:srgbClr val="9EB3C8"/>
                      </a:solidFill>
                      <a:prstDash val="solid"/>
                    </a:lnR>
                    <a:lnT w="8890">
                      <a:solidFill>
                        <a:srgbClr val="9EB3C8"/>
                      </a:solidFill>
                      <a:prstDash val="solid"/>
                    </a:lnT>
                    <a:lnB w="8890">
                      <a:solidFill>
                        <a:srgbClr val="9EB3C8"/>
                      </a:solidFill>
                      <a:prstDash val="solid"/>
                    </a:lnB>
                    <a:tcMar>
                      <a:marL w="508" type="dxa"/>
                      <a:marR w="508" type="dxa"/>
                      <a:marT w="317" type="dxa"/>
                      <a:marB w="317" type="dxa"/>
                    </a:tcMar>
                  </a:tcPr>
                </a:tc>
                <a:tc>
                  <a:txBody>
                    <a:bodyPr/>
                    <a:lstStyle/>
                    <a:p>
                      <a:r>
                        <a:rPr sz="850" b="0">
                          <a:solidFill>
                            <a:srgbClr val="061A35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月度</a:t>
                      </a:r>
                    </a:p>
                  </a:txBody>
                  <a:tcPr>
                    <a:solidFill>
                      <a:srgbClr val="EAF1F8"/>
                    </a:solidFill>
                    <a:lnL w="8890">
                      <a:solidFill>
                        <a:srgbClr val="9EB3C8"/>
                      </a:solidFill>
                      <a:prstDash val="solid"/>
                    </a:lnL>
                    <a:lnR w="8890">
                      <a:solidFill>
                        <a:srgbClr val="9EB3C8"/>
                      </a:solidFill>
                      <a:prstDash val="solid"/>
                    </a:lnR>
                    <a:lnT w="8890">
                      <a:solidFill>
                        <a:srgbClr val="9EB3C8"/>
                      </a:solidFill>
                      <a:prstDash val="solid"/>
                    </a:lnT>
                    <a:lnB w="8890">
                      <a:solidFill>
                        <a:srgbClr val="9EB3C8"/>
                      </a:solidFill>
                      <a:prstDash val="solid"/>
                    </a:lnB>
                    <a:tcMar>
                      <a:marL w="508" type="dxa"/>
                      <a:marR w="508" type="dxa"/>
                      <a:marT w="317" type="dxa"/>
                      <a:marB w="317" type="dxa"/>
                    </a:tcMar>
                  </a:tcPr>
                </a:tc>
              </a:tr>
              <a:tr h="274320">
                <a:tc rowSpan="2">
                  <a:txBody>
                    <a:bodyPr/>
                    <a:lstStyle/>
                    <a:p>
                      <a:r>
                        <a:rPr sz="850" b="0">
                          <a:solidFill>
                            <a:srgbClr val="061A35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结果</a:t>
                      </a:r>
                    </a:p>
                  </a:txBody>
                  <a:tcPr>
                    <a:solidFill>
                      <a:srgbClr val="F5F8FC"/>
                    </a:solidFill>
                    <a:lnL w="8890">
                      <a:solidFill>
                        <a:srgbClr val="9EB3C8"/>
                      </a:solidFill>
                      <a:prstDash val="solid"/>
                    </a:lnL>
                    <a:lnR w="8890">
                      <a:solidFill>
                        <a:srgbClr val="9EB3C8"/>
                      </a:solidFill>
                      <a:prstDash val="solid"/>
                    </a:lnR>
                    <a:lnT w="8890">
                      <a:solidFill>
                        <a:srgbClr val="9EB3C8"/>
                      </a:solidFill>
                      <a:prstDash val="solid"/>
                    </a:lnT>
                    <a:lnB w="8890">
                      <a:solidFill>
                        <a:srgbClr val="9EB3C8"/>
                      </a:solidFill>
                      <a:prstDash val="solid"/>
                    </a:lnB>
                    <a:tcMar>
                      <a:marL w="508" type="dxa"/>
                      <a:marR w="508" type="dxa"/>
                      <a:marT w="317" type="dxa"/>
                      <a:marB w="317" type="dxa"/>
                    </a:tcMar>
                  </a:tcPr>
                </a:tc>
                <a:tc>
                  <a:txBody>
                    <a:bodyPr/>
                    <a:lstStyle/>
                    <a:p>
                      <a:r>
                        <a:rPr sz="850" b="0">
                          <a:solidFill>
                            <a:srgbClr val="061A35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可核对</a:t>
                      </a:r>
                    </a:p>
                  </a:txBody>
                  <a:tcPr>
                    <a:solidFill>
                      <a:srgbClr val="F5F8FC"/>
                    </a:solidFill>
                    <a:lnL w="8890">
                      <a:solidFill>
                        <a:srgbClr val="9EB3C8"/>
                      </a:solidFill>
                      <a:prstDash val="solid"/>
                    </a:lnL>
                    <a:lnR w="8890">
                      <a:solidFill>
                        <a:srgbClr val="9EB3C8"/>
                      </a:solidFill>
                      <a:prstDash val="solid"/>
                    </a:lnR>
                    <a:lnT w="8890">
                      <a:solidFill>
                        <a:srgbClr val="9EB3C8"/>
                      </a:solidFill>
                      <a:prstDash val="solid"/>
                    </a:lnT>
                    <a:lnB w="8890">
                      <a:solidFill>
                        <a:srgbClr val="9EB3C8"/>
                      </a:solidFill>
                      <a:prstDash val="solid"/>
                    </a:lnB>
                    <a:tcMar>
                      <a:marL w="508" type="dxa"/>
                      <a:marR w="508" type="dxa"/>
                      <a:marT w="317" type="dxa"/>
                      <a:marB w="317" type="dxa"/>
                    </a:tcMar>
                  </a:tcPr>
                </a:tc>
                <a:tc>
                  <a:txBody>
                    <a:bodyPr/>
                    <a:lstStyle/>
                    <a:p>
                      <a:r>
                        <a:rPr sz="850" b="0">
                          <a:solidFill>
                            <a:srgbClr val="061A35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按政策</a:t>
                      </a:r>
                    </a:p>
                  </a:txBody>
                  <a:tcPr>
                    <a:solidFill>
                      <a:srgbClr val="F5F8FC"/>
                    </a:solidFill>
                    <a:lnL w="8890">
                      <a:solidFill>
                        <a:srgbClr val="9EB3C8"/>
                      </a:solidFill>
                      <a:prstDash val="solid"/>
                    </a:lnL>
                    <a:lnR w="8890">
                      <a:solidFill>
                        <a:srgbClr val="9EB3C8"/>
                      </a:solidFill>
                      <a:prstDash val="solid"/>
                    </a:lnR>
                    <a:lnT w="8890">
                      <a:solidFill>
                        <a:srgbClr val="9EB3C8"/>
                      </a:solidFill>
                      <a:prstDash val="solid"/>
                    </a:lnT>
                    <a:lnB w="8890">
                      <a:solidFill>
                        <a:srgbClr val="9EB3C8"/>
                      </a:solidFill>
                      <a:prstDash val="solid"/>
                    </a:lnB>
                    <a:tcMar>
                      <a:marL w="508" type="dxa"/>
                      <a:marR w="508" type="dxa"/>
                      <a:marT w="317" type="dxa"/>
                      <a:marB w="317" type="dxa"/>
                    </a:tcMar>
                  </a:tcPr>
                </a:tc>
                <a:tc>
                  <a:txBody>
                    <a:bodyPr/>
                    <a:lstStyle/>
                    <a:p>
                      <a:r>
                        <a:rPr sz="850" b="0">
                          <a:solidFill>
                            <a:srgbClr val="061A35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结果</a:t>
                      </a:r>
                    </a:p>
                  </a:txBody>
                  <a:tcPr>
                    <a:solidFill>
                      <a:srgbClr val="F5F8FC"/>
                    </a:solidFill>
                    <a:lnL w="8890">
                      <a:solidFill>
                        <a:srgbClr val="9EB3C8"/>
                      </a:solidFill>
                      <a:prstDash val="solid"/>
                    </a:lnL>
                    <a:lnR w="8890">
                      <a:solidFill>
                        <a:srgbClr val="9EB3C8"/>
                      </a:solidFill>
                      <a:prstDash val="solid"/>
                    </a:lnR>
                    <a:lnT w="8890">
                      <a:solidFill>
                        <a:srgbClr val="9EB3C8"/>
                      </a:solidFill>
                      <a:prstDash val="solid"/>
                    </a:lnT>
                    <a:lnB w="8890">
                      <a:solidFill>
                        <a:srgbClr val="9EB3C8"/>
                      </a:solidFill>
                      <a:prstDash val="solid"/>
                    </a:lnB>
                    <a:tcMar>
                      <a:marL w="508" type="dxa"/>
                      <a:marR w="508" type="dxa"/>
                      <a:marT w="317" type="dxa"/>
                      <a:marB w="317" type="dxa"/>
                    </a:tcMar>
                  </a:tcPr>
                </a:tc>
              </a:tr>
              <a:tr h="274320">
                <a:tc vMerge="1">
                  <a:txBody>
                    <a:bodyPr/>
                    <a:lstStyle/>
                    <a:p>
                      <a:r>
                        <a:rPr sz="850" b="0">
                          <a:solidFill>
                            <a:srgbClr val="061A35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/>
                      </a:r>
                    </a:p>
                  </a:txBody>
                  <a:tcPr>
                    <a:solidFill>
                      <a:srgbClr val="EAF1F8"/>
                    </a:solidFill>
                    <a:lnL w="8890">
                      <a:solidFill>
                        <a:srgbClr val="9EB3C8"/>
                      </a:solidFill>
                      <a:prstDash val="solid"/>
                    </a:lnL>
                    <a:lnR w="8890">
                      <a:solidFill>
                        <a:srgbClr val="9EB3C8"/>
                      </a:solidFill>
                      <a:prstDash val="solid"/>
                    </a:lnR>
                    <a:lnT w="8890">
                      <a:solidFill>
                        <a:srgbClr val="9EB3C8"/>
                      </a:solidFill>
                      <a:prstDash val="solid"/>
                    </a:lnT>
                    <a:lnB w="8890">
                      <a:solidFill>
                        <a:srgbClr val="9EB3C8"/>
                      </a:solidFill>
                      <a:prstDash val="solid"/>
                    </a:lnB>
                    <a:tcMar>
                      <a:marL w="508" type="dxa"/>
                      <a:marR w="508" type="dxa"/>
                      <a:marT w="317" type="dxa"/>
                      <a:marB w="317" type="dxa"/>
                    </a:tcMar>
                  </a:tcPr>
                </a:tc>
                <a:tc>
                  <a:txBody>
                    <a:bodyPr/>
                    <a:lstStyle/>
                    <a:p>
                      <a:r>
                        <a:rPr sz="850" b="0">
                          <a:solidFill>
                            <a:srgbClr val="061A35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可核对</a:t>
                      </a:r>
                    </a:p>
                  </a:txBody>
                  <a:tcPr>
                    <a:solidFill>
                      <a:srgbClr val="EAF1F8"/>
                    </a:solidFill>
                    <a:lnL w="8890">
                      <a:solidFill>
                        <a:srgbClr val="9EB3C8"/>
                      </a:solidFill>
                      <a:prstDash val="solid"/>
                    </a:lnL>
                    <a:lnR w="8890">
                      <a:solidFill>
                        <a:srgbClr val="9EB3C8"/>
                      </a:solidFill>
                      <a:prstDash val="solid"/>
                    </a:lnR>
                    <a:lnT w="8890">
                      <a:solidFill>
                        <a:srgbClr val="9EB3C8"/>
                      </a:solidFill>
                      <a:prstDash val="solid"/>
                    </a:lnT>
                    <a:lnB w="8890">
                      <a:solidFill>
                        <a:srgbClr val="9EB3C8"/>
                      </a:solidFill>
                      <a:prstDash val="solid"/>
                    </a:lnB>
                    <a:tcMar>
                      <a:marL w="508" type="dxa"/>
                      <a:marR w="508" type="dxa"/>
                      <a:marT w="317" type="dxa"/>
                      <a:marB w="317" type="dxa"/>
                    </a:tcMar>
                  </a:tcPr>
                </a:tc>
                <a:tc>
                  <a:txBody>
                    <a:bodyPr/>
                    <a:lstStyle/>
                    <a:p>
                      <a:r>
                        <a:rPr sz="850" b="0">
                          <a:solidFill>
                            <a:srgbClr val="061A35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可追溯</a:t>
                      </a:r>
                    </a:p>
                  </a:txBody>
                  <a:tcPr>
                    <a:solidFill>
                      <a:srgbClr val="EAF1F8"/>
                    </a:solidFill>
                    <a:lnL w="8890">
                      <a:solidFill>
                        <a:srgbClr val="9EB3C8"/>
                      </a:solidFill>
                      <a:prstDash val="solid"/>
                    </a:lnL>
                    <a:lnR w="8890">
                      <a:solidFill>
                        <a:srgbClr val="9EB3C8"/>
                      </a:solidFill>
                      <a:prstDash val="solid"/>
                    </a:lnR>
                    <a:lnT w="8890">
                      <a:solidFill>
                        <a:srgbClr val="9EB3C8"/>
                      </a:solidFill>
                      <a:prstDash val="solid"/>
                    </a:lnT>
                    <a:lnB w="8890">
                      <a:solidFill>
                        <a:srgbClr val="9EB3C8"/>
                      </a:solidFill>
                      <a:prstDash val="solid"/>
                    </a:lnB>
                    <a:tcMar>
                      <a:marL w="508" type="dxa"/>
                      <a:marR w="508" type="dxa"/>
                      <a:marT w="317" type="dxa"/>
                      <a:marB w="317" type="dxa"/>
                    </a:tcMar>
                  </a:tcPr>
                </a:tc>
                <a:tc>
                  <a:txBody>
                    <a:bodyPr/>
                    <a:lstStyle/>
                    <a:p>
                      <a:r>
                        <a:rPr sz="850" b="0">
                          <a:solidFill>
                            <a:srgbClr val="061A35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复核</a:t>
                      </a:r>
                    </a:p>
                  </a:txBody>
                  <a:tcPr>
                    <a:solidFill>
                      <a:srgbClr val="EAF1F8"/>
                    </a:solidFill>
                    <a:lnL w="8890">
                      <a:solidFill>
                        <a:srgbClr val="9EB3C8"/>
                      </a:solidFill>
                      <a:prstDash val="solid"/>
                    </a:lnL>
                    <a:lnR w="8890">
                      <a:solidFill>
                        <a:srgbClr val="9EB3C8"/>
                      </a:solidFill>
                      <a:prstDash val="solid"/>
                    </a:lnR>
                    <a:lnT w="8890">
                      <a:solidFill>
                        <a:srgbClr val="9EB3C8"/>
                      </a:solidFill>
                      <a:prstDash val="solid"/>
                    </a:lnT>
                    <a:lnB w="8890">
                      <a:solidFill>
                        <a:srgbClr val="9EB3C8"/>
                      </a:solidFill>
                      <a:prstDash val="solid"/>
                    </a:lnB>
                    <a:tcMar>
                      <a:marL w="508" type="dxa"/>
                      <a:marR w="508" type="dxa"/>
                      <a:marT w="317" type="dxa"/>
                      <a:marB w="317" type="dxa"/>
                    </a:tcMar>
                  </a:tcPr>
                </a:tc>
              </a:tr>
            </a:tbl>
          </a:graphicData>
        </a:graphic>
      </p:graphicFrame>
      <p:graphicFrame>
        <p:nvGraphicFramePr>
          <p:cNvPr id="23" name="monthly-incentive-table"/>
          <p:cNvGraphicFramePr>
            <a:graphicFrameLocks noGrp="1"/>
          </p:cNvGraphicFramePr>
          <p:nvPr/>
        </p:nvGraphicFramePr>
        <p:xfrm>
          <a:off x="7436933" y="3429000"/>
          <a:ext cx="3901341" cy="10972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19169"/>
                <a:gridCol w="1706837"/>
                <a:gridCol w="975335"/>
              </a:tblGrid>
              <a:tr h="274320">
                <a:tc>
                  <a:txBody>
                    <a:bodyPr/>
                    <a:lstStyle/>
                    <a:p>
                      <a:r>
                        <a:rPr sz="900" b="1">
                          <a:solidFill>
                            <a:srgbClr val="FFFFFF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月度发展</a:t>
                      </a:r>
                    </a:p>
                  </a:txBody>
                  <a:tcPr>
                    <a:solidFill>
                      <a:srgbClr val="9B0B1B"/>
                    </a:solidFill>
                    <a:lnL w="8890">
                      <a:solidFill>
                        <a:srgbClr val="9EB3C8"/>
                      </a:solidFill>
                      <a:prstDash val="solid"/>
                    </a:lnL>
                    <a:lnR w="8890">
                      <a:solidFill>
                        <a:srgbClr val="9EB3C8"/>
                      </a:solidFill>
                      <a:prstDash val="solid"/>
                    </a:lnR>
                    <a:lnT w="8890">
                      <a:solidFill>
                        <a:srgbClr val="9EB3C8"/>
                      </a:solidFill>
                      <a:prstDash val="solid"/>
                    </a:lnT>
                    <a:lnB w="8890">
                      <a:solidFill>
                        <a:srgbClr val="9EB3C8"/>
                      </a:solidFill>
                      <a:prstDash val="solid"/>
                    </a:lnB>
                    <a:tcMar>
                      <a:marL w="508" type="dxa"/>
                      <a:marR w="508" type="dxa"/>
                      <a:marT w="317" type="dxa"/>
                      <a:marB w="317" type="dxa"/>
                    </a:tcMar>
                  </a:tcPr>
                </a:tc>
                <a:tc>
                  <a:txBody>
                    <a:bodyPr/>
                    <a:lstStyle/>
                    <a:p>
                      <a:r>
                        <a:rPr sz="900" b="1">
                          <a:solidFill>
                            <a:srgbClr val="FFFFFF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达量补贴标准</a:t>
                      </a:r>
                    </a:p>
                  </a:txBody>
                  <a:tcPr>
                    <a:solidFill>
                      <a:srgbClr val="9B0B1B"/>
                    </a:solidFill>
                    <a:lnL w="8890">
                      <a:solidFill>
                        <a:srgbClr val="9EB3C8"/>
                      </a:solidFill>
                      <a:prstDash val="solid"/>
                    </a:lnL>
                    <a:lnR w="8890">
                      <a:solidFill>
                        <a:srgbClr val="9EB3C8"/>
                      </a:solidFill>
                      <a:prstDash val="solid"/>
                    </a:lnR>
                    <a:lnT w="8890">
                      <a:solidFill>
                        <a:srgbClr val="9EB3C8"/>
                      </a:solidFill>
                      <a:prstDash val="solid"/>
                    </a:lnT>
                    <a:lnB w="8890">
                      <a:solidFill>
                        <a:srgbClr val="9EB3C8"/>
                      </a:solidFill>
                      <a:prstDash val="solid"/>
                    </a:lnB>
                    <a:tcMar>
                      <a:marL w="508" type="dxa"/>
                      <a:marR w="508" type="dxa"/>
                      <a:marT w="317" type="dxa"/>
                      <a:marB w="317" type="dxa"/>
                    </a:tcMar>
                  </a:tcPr>
                </a:tc>
                <a:tc>
                  <a:txBody>
                    <a:bodyPr/>
                    <a:lstStyle/>
                    <a:p>
                      <a:r>
                        <a:rPr sz="900" b="1">
                          <a:solidFill>
                            <a:srgbClr val="FFFFFF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适用渠道</a:t>
                      </a:r>
                    </a:p>
                  </a:txBody>
                  <a:tcPr>
                    <a:solidFill>
                      <a:srgbClr val="9B0B1B"/>
                    </a:solidFill>
                    <a:lnL w="8890">
                      <a:solidFill>
                        <a:srgbClr val="9EB3C8"/>
                      </a:solidFill>
                      <a:prstDash val="solid"/>
                    </a:lnL>
                    <a:lnR w="8890">
                      <a:solidFill>
                        <a:srgbClr val="9EB3C8"/>
                      </a:solidFill>
                      <a:prstDash val="solid"/>
                    </a:lnR>
                    <a:lnT w="8890">
                      <a:solidFill>
                        <a:srgbClr val="9EB3C8"/>
                      </a:solidFill>
                      <a:prstDash val="solid"/>
                    </a:lnT>
                    <a:lnB w="8890">
                      <a:solidFill>
                        <a:srgbClr val="9EB3C8"/>
                      </a:solidFill>
                      <a:prstDash val="solid"/>
                    </a:lnB>
                    <a:tcMar>
                      <a:marL w="508" type="dxa"/>
                      <a:marR w="508" type="dxa"/>
                      <a:marT w="317" type="dxa"/>
                      <a:marB w="317" type="dxa"/>
                    </a:tcMar>
                  </a:tcPr>
                </a:tc>
              </a:tr>
              <a:tr h="274320">
                <a:tc>
                  <a:txBody>
                    <a:bodyPr/>
                    <a:lstStyle/>
                    <a:p>
                      <a:r>
                        <a:rPr sz="850" b="0">
                          <a:solidFill>
                            <a:srgbClr val="061A35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增收有奖</a:t>
                      </a:r>
                    </a:p>
                  </a:txBody>
                  <a:tcPr>
                    <a:solidFill>
                      <a:srgbClr val="F5F8FC"/>
                    </a:solidFill>
                    <a:lnL w="8890">
                      <a:solidFill>
                        <a:srgbClr val="9EB3C8"/>
                      </a:solidFill>
                      <a:prstDash val="solid"/>
                    </a:lnL>
                    <a:lnR w="8890">
                      <a:solidFill>
                        <a:srgbClr val="9EB3C8"/>
                      </a:solidFill>
                      <a:prstDash val="solid"/>
                    </a:lnR>
                    <a:lnT w="8890">
                      <a:solidFill>
                        <a:srgbClr val="9EB3C8"/>
                      </a:solidFill>
                      <a:prstDash val="solid"/>
                    </a:lnT>
                    <a:lnB w="8890">
                      <a:solidFill>
                        <a:srgbClr val="9EB3C8"/>
                      </a:solidFill>
                      <a:prstDash val="solid"/>
                    </a:lnB>
                    <a:tcMar>
                      <a:marL w="508" type="dxa"/>
                      <a:marR w="508" type="dxa"/>
                      <a:marT w="317" type="dxa"/>
                      <a:marB w="317" type="dxa"/>
                    </a:tcMar>
                  </a:tcPr>
                </a:tc>
                <a:tc>
                  <a:txBody>
                    <a:bodyPr/>
                    <a:lstStyle/>
                    <a:p>
                      <a:r>
                        <a:rPr sz="850" b="0">
                          <a:solidFill>
                            <a:srgbClr val="061A35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结果可核对</a:t>
                      </a:r>
                    </a:p>
                  </a:txBody>
                  <a:tcPr>
                    <a:solidFill>
                      <a:srgbClr val="F5F8FC"/>
                    </a:solidFill>
                    <a:lnL w="8890">
                      <a:solidFill>
                        <a:srgbClr val="9EB3C8"/>
                      </a:solidFill>
                      <a:prstDash val="solid"/>
                    </a:lnL>
                    <a:lnR w="8890">
                      <a:solidFill>
                        <a:srgbClr val="9EB3C8"/>
                      </a:solidFill>
                      <a:prstDash val="solid"/>
                    </a:lnR>
                    <a:lnT w="8890">
                      <a:solidFill>
                        <a:srgbClr val="9EB3C8"/>
                      </a:solidFill>
                      <a:prstDash val="solid"/>
                    </a:lnT>
                    <a:lnB w="8890">
                      <a:solidFill>
                        <a:srgbClr val="9EB3C8"/>
                      </a:solidFill>
                      <a:prstDash val="solid"/>
                    </a:lnB>
                    <a:tcMar>
                      <a:marL w="508" type="dxa"/>
                      <a:marR w="508" type="dxa"/>
                      <a:marT w="317" type="dxa"/>
                      <a:marB w="317" type="dxa"/>
                    </a:tcMar>
                  </a:tcPr>
                </a:tc>
                <a:tc>
                  <a:txBody>
                    <a:bodyPr/>
                    <a:lstStyle/>
                    <a:p>
                      <a:r>
                        <a:rPr sz="850" b="0">
                          <a:solidFill>
                            <a:srgbClr val="061A35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渠道</a:t>
                      </a:r>
                    </a:p>
                  </a:txBody>
                  <a:tcPr>
                    <a:solidFill>
                      <a:srgbClr val="F5F8FC"/>
                    </a:solidFill>
                    <a:lnL w="8890">
                      <a:solidFill>
                        <a:srgbClr val="9EB3C8"/>
                      </a:solidFill>
                      <a:prstDash val="solid"/>
                    </a:lnL>
                    <a:lnR w="8890">
                      <a:solidFill>
                        <a:srgbClr val="9EB3C8"/>
                      </a:solidFill>
                      <a:prstDash val="solid"/>
                    </a:lnR>
                    <a:lnT w="8890">
                      <a:solidFill>
                        <a:srgbClr val="9EB3C8"/>
                      </a:solidFill>
                      <a:prstDash val="solid"/>
                    </a:lnT>
                    <a:lnB w="8890">
                      <a:solidFill>
                        <a:srgbClr val="9EB3C8"/>
                      </a:solidFill>
                      <a:prstDash val="solid"/>
                    </a:lnB>
                    <a:tcMar>
                      <a:marL w="508" type="dxa"/>
                      <a:marR w="508" type="dxa"/>
                      <a:marT w="317" type="dxa"/>
                      <a:marB w="317" type="dxa"/>
                    </a:tcMar>
                  </a:tcPr>
                </a:tc>
              </a:tr>
              <a:tr h="274320">
                <a:tc>
                  <a:txBody>
                    <a:bodyPr/>
                    <a:lstStyle/>
                    <a:p>
                      <a:r>
                        <a:rPr sz="850" b="0">
                          <a:solidFill>
                            <a:srgbClr val="061A35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减收不罚</a:t>
                      </a:r>
                    </a:p>
                  </a:txBody>
                  <a:tcPr>
                    <a:solidFill>
                      <a:srgbClr val="EAF1F8"/>
                    </a:solidFill>
                    <a:lnL w="8890">
                      <a:solidFill>
                        <a:srgbClr val="9EB3C8"/>
                      </a:solidFill>
                      <a:prstDash val="solid"/>
                    </a:lnL>
                    <a:lnR w="8890">
                      <a:solidFill>
                        <a:srgbClr val="9EB3C8"/>
                      </a:solidFill>
                      <a:prstDash val="solid"/>
                    </a:lnR>
                    <a:lnT w="8890">
                      <a:solidFill>
                        <a:srgbClr val="9EB3C8"/>
                      </a:solidFill>
                      <a:prstDash val="solid"/>
                    </a:lnT>
                    <a:lnB w="8890">
                      <a:solidFill>
                        <a:srgbClr val="9EB3C8"/>
                      </a:solidFill>
                      <a:prstDash val="solid"/>
                    </a:lnB>
                    <a:tcMar>
                      <a:marL w="508" type="dxa"/>
                      <a:marR w="508" type="dxa"/>
                      <a:marT w="317" type="dxa"/>
                      <a:marB w="317" type="dxa"/>
                    </a:tcMar>
                  </a:tcPr>
                </a:tc>
                <a:tc>
                  <a:txBody>
                    <a:bodyPr/>
                    <a:lstStyle/>
                    <a:p>
                      <a:r>
                        <a:rPr sz="850" b="0">
                          <a:solidFill>
                            <a:srgbClr val="061A35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统一标准</a:t>
                      </a:r>
                    </a:p>
                  </a:txBody>
                  <a:tcPr>
                    <a:solidFill>
                      <a:srgbClr val="EAF1F8"/>
                    </a:solidFill>
                    <a:lnL w="8890">
                      <a:solidFill>
                        <a:srgbClr val="9EB3C8"/>
                      </a:solidFill>
                      <a:prstDash val="solid"/>
                    </a:lnL>
                    <a:lnR w="8890">
                      <a:solidFill>
                        <a:srgbClr val="9EB3C8"/>
                      </a:solidFill>
                      <a:prstDash val="solid"/>
                    </a:lnR>
                    <a:lnT w="8890">
                      <a:solidFill>
                        <a:srgbClr val="9EB3C8"/>
                      </a:solidFill>
                      <a:prstDash val="solid"/>
                    </a:lnT>
                    <a:lnB w="8890">
                      <a:solidFill>
                        <a:srgbClr val="9EB3C8"/>
                      </a:solidFill>
                      <a:prstDash val="solid"/>
                    </a:lnB>
                    <a:tcMar>
                      <a:marL w="508" type="dxa"/>
                      <a:marR w="508" type="dxa"/>
                      <a:marT w="317" type="dxa"/>
                      <a:marB w="317" type="dxa"/>
                    </a:tcMar>
                  </a:tcPr>
                </a:tc>
                <a:tc>
                  <a:txBody>
                    <a:bodyPr/>
                    <a:lstStyle/>
                    <a:p>
                      <a:r>
                        <a:rPr sz="850" b="0">
                          <a:solidFill>
                            <a:srgbClr val="061A35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渠道</a:t>
                      </a:r>
                    </a:p>
                  </a:txBody>
                  <a:tcPr>
                    <a:solidFill>
                      <a:srgbClr val="EAF1F8"/>
                    </a:solidFill>
                    <a:lnL w="8890">
                      <a:solidFill>
                        <a:srgbClr val="9EB3C8"/>
                      </a:solidFill>
                      <a:prstDash val="solid"/>
                    </a:lnL>
                    <a:lnR w="8890">
                      <a:solidFill>
                        <a:srgbClr val="9EB3C8"/>
                      </a:solidFill>
                      <a:prstDash val="solid"/>
                    </a:lnR>
                    <a:lnT w="8890">
                      <a:solidFill>
                        <a:srgbClr val="9EB3C8"/>
                      </a:solidFill>
                      <a:prstDash val="solid"/>
                    </a:lnT>
                    <a:lnB w="8890">
                      <a:solidFill>
                        <a:srgbClr val="9EB3C8"/>
                      </a:solidFill>
                      <a:prstDash val="solid"/>
                    </a:lnB>
                    <a:tcMar>
                      <a:marL w="508" type="dxa"/>
                      <a:marR w="508" type="dxa"/>
                      <a:marT w="317" type="dxa"/>
                      <a:marB w="317" type="dxa"/>
                    </a:tcMar>
                  </a:tcPr>
                </a:tc>
              </a:tr>
              <a:tr h="274320">
                <a:tc>
                  <a:txBody>
                    <a:bodyPr/>
                    <a:lstStyle/>
                    <a:p>
                      <a:r>
                        <a:rPr sz="850" b="0">
                          <a:solidFill>
                            <a:srgbClr val="061A35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结果</a:t>
                      </a:r>
                    </a:p>
                  </a:txBody>
                  <a:tcPr>
                    <a:solidFill>
                      <a:srgbClr val="F5F8FC"/>
                    </a:solidFill>
                    <a:lnL w="8890">
                      <a:solidFill>
                        <a:srgbClr val="9EB3C8"/>
                      </a:solidFill>
                      <a:prstDash val="solid"/>
                    </a:lnL>
                    <a:lnR w="8890">
                      <a:solidFill>
                        <a:srgbClr val="9EB3C8"/>
                      </a:solidFill>
                      <a:prstDash val="solid"/>
                    </a:lnR>
                    <a:lnT w="8890">
                      <a:solidFill>
                        <a:srgbClr val="9EB3C8"/>
                      </a:solidFill>
                      <a:prstDash val="solid"/>
                    </a:lnT>
                    <a:lnB w="8890">
                      <a:solidFill>
                        <a:srgbClr val="9EB3C8"/>
                      </a:solidFill>
                      <a:prstDash val="solid"/>
                    </a:lnB>
                    <a:tcMar>
                      <a:marL w="508" type="dxa"/>
                      <a:marR w="508" type="dxa"/>
                      <a:marT w="317" type="dxa"/>
                      <a:marB w="317" type="dxa"/>
                    </a:tcMar>
                  </a:tcPr>
                </a:tc>
                <a:tc>
                  <a:txBody>
                    <a:bodyPr/>
                    <a:lstStyle/>
                    <a:p>
                      <a:r>
                        <a:rPr sz="850" b="0">
                          <a:solidFill>
                            <a:srgbClr val="061A35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可回放</a:t>
                      </a:r>
                    </a:p>
                  </a:txBody>
                  <a:tcPr>
                    <a:solidFill>
                      <a:srgbClr val="F5F8FC"/>
                    </a:solidFill>
                    <a:lnL w="8890">
                      <a:solidFill>
                        <a:srgbClr val="9EB3C8"/>
                      </a:solidFill>
                      <a:prstDash val="solid"/>
                    </a:lnL>
                    <a:lnR w="8890">
                      <a:solidFill>
                        <a:srgbClr val="9EB3C8"/>
                      </a:solidFill>
                      <a:prstDash val="solid"/>
                    </a:lnR>
                    <a:lnT w="8890">
                      <a:solidFill>
                        <a:srgbClr val="9EB3C8"/>
                      </a:solidFill>
                      <a:prstDash val="solid"/>
                    </a:lnT>
                    <a:lnB w="8890">
                      <a:solidFill>
                        <a:srgbClr val="9EB3C8"/>
                      </a:solidFill>
                      <a:prstDash val="solid"/>
                    </a:lnB>
                    <a:tcMar>
                      <a:marL w="508" type="dxa"/>
                      <a:marR w="508" type="dxa"/>
                      <a:marT w="317" type="dxa"/>
                      <a:marB w="317" type="dxa"/>
                    </a:tcMar>
                  </a:tcPr>
                </a:tc>
                <a:tc>
                  <a:txBody>
                    <a:bodyPr/>
                    <a:lstStyle/>
                    <a:p>
                      <a:r>
                        <a:rPr sz="850" b="0">
                          <a:solidFill>
                            <a:srgbClr val="061A35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全部</a:t>
                      </a:r>
                    </a:p>
                  </a:txBody>
                  <a:tcPr>
                    <a:solidFill>
                      <a:srgbClr val="F5F8FC"/>
                    </a:solidFill>
                    <a:lnL w="8890">
                      <a:solidFill>
                        <a:srgbClr val="9EB3C8"/>
                      </a:solidFill>
                      <a:prstDash val="solid"/>
                    </a:lnL>
                    <a:lnR w="8890">
                      <a:solidFill>
                        <a:srgbClr val="9EB3C8"/>
                      </a:solidFill>
                      <a:prstDash val="solid"/>
                    </a:lnR>
                    <a:lnT w="8890">
                      <a:solidFill>
                        <a:srgbClr val="9EB3C8"/>
                      </a:solidFill>
                      <a:prstDash val="solid"/>
                    </a:lnT>
                    <a:lnB w="8890">
                      <a:solidFill>
                        <a:srgbClr val="9EB3C8"/>
                      </a:solidFill>
                      <a:prstDash val="solid"/>
                    </a:lnB>
                    <a:tcMar>
                      <a:marL w="508" type="dxa"/>
                      <a:marR w="508" type="dxa"/>
                      <a:marT w="317" type="dxa"/>
                      <a:marB w="317" type="dxa"/>
                    </a:tcMar>
                  </a:tcPr>
                </a:tc>
              </a:tr>
            </a:tbl>
          </a:graphicData>
        </a:graphic>
      </p:graphicFrame>
      <p:graphicFrame>
        <p:nvGraphicFramePr>
          <p:cNvPr id="24" name="policy-summary-table"/>
          <p:cNvGraphicFramePr>
            <a:graphicFrameLocks noGrp="1"/>
          </p:cNvGraphicFramePr>
          <p:nvPr/>
        </p:nvGraphicFramePr>
        <p:xfrm>
          <a:off x="7436933" y="4937760"/>
          <a:ext cx="3291757" cy="8229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28754"/>
                <a:gridCol w="1463003"/>
              </a:tblGrid>
              <a:tr h="274320">
                <a:tc>
                  <a:txBody>
                    <a:bodyPr/>
                    <a:lstStyle/>
                    <a:p>
                      <a:r>
                        <a:rPr sz="900" b="1">
                          <a:solidFill>
                            <a:srgbClr val="FFFFFF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指标</a:t>
                      </a:r>
                    </a:p>
                  </a:txBody>
                  <a:tcPr>
                    <a:solidFill>
                      <a:srgbClr val="9B0B1B"/>
                    </a:solidFill>
                    <a:lnL w="8890">
                      <a:solidFill>
                        <a:srgbClr val="9EB3C8"/>
                      </a:solidFill>
                      <a:prstDash val="solid"/>
                    </a:lnL>
                    <a:lnR w="8890">
                      <a:solidFill>
                        <a:srgbClr val="9EB3C8"/>
                      </a:solidFill>
                      <a:prstDash val="solid"/>
                    </a:lnR>
                    <a:lnT w="8890">
                      <a:solidFill>
                        <a:srgbClr val="9EB3C8"/>
                      </a:solidFill>
                      <a:prstDash val="solid"/>
                    </a:lnT>
                    <a:lnB w="8890">
                      <a:solidFill>
                        <a:srgbClr val="9EB3C8"/>
                      </a:solidFill>
                      <a:prstDash val="solid"/>
                    </a:lnB>
                    <a:tcMar>
                      <a:marL w="508" type="dxa"/>
                      <a:marR w="508" type="dxa"/>
                      <a:marT w="317" type="dxa"/>
                      <a:marB w="317" type="dxa"/>
                    </a:tcMar>
                  </a:tcPr>
                </a:tc>
                <a:tc>
                  <a:txBody>
                    <a:bodyPr/>
                    <a:lstStyle/>
                    <a:p>
                      <a:r>
                        <a:rPr sz="900" b="1">
                          <a:solidFill>
                            <a:srgbClr val="FFFFFF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状态</a:t>
                      </a:r>
                    </a:p>
                  </a:txBody>
                  <a:tcPr>
                    <a:solidFill>
                      <a:srgbClr val="9B0B1B"/>
                    </a:solidFill>
                    <a:lnL w="8890">
                      <a:solidFill>
                        <a:srgbClr val="9EB3C8"/>
                      </a:solidFill>
                      <a:prstDash val="solid"/>
                    </a:lnL>
                    <a:lnR w="8890">
                      <a:solidFill>
                        <a:srgbClr val="9EB3C8"/>
                      </a:solidFill>
                      <a:prstDash val="solid"/>
                    </a:lnR>
                    <a:lnT w="8890">
                      <a:solidFill>
                        <a:srgbClr val="9EB3C8"/>
                      </a:solidFill>
                      <a:prstDash val="solid"/>
                    </a:lnT>
                    <a:lnB w="8890">
                      <a:solidFill>
                        <a:srgbClr val="9EB3C8"/>
                      </a:solidFill>
                      <a:prstDash val="solid"/>
                    </a:lnB>
                    <a:tcMar>
                      <a:marL w="508" type="dxa"/>
                      <a:marR w="508" type="dxa"/>
                      <a:marT w="317" type="dxa"/>
                      <a:marB w="317" type="dxa"/>
                    </a:tcMar>
                  </a:tcPr>
                </a:tc>
              </a:tr>
              <a:tr h="274320">
                <a:tc>
                  <a:txBody>
                    <a:bodyPr/>
                    <a:lstStyle/>
                    <a:p>
                      <a:r>
                        <a:rPr sz="850" b="0">
                          <a:solidFill>
                            <a:srgbClr val="061A35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合并单元格</a:t>
                      </a:r>
                    </a:p>
                  </a:txBody>
                  <a:tcPr>
                    <a:solidFill>
                      <a:srgbClr val="F5F8FC"/>
                    </a:solidFill>
                    <a:lnL w="8890">
                      <a:solidFill>
                        <a:srgbClr val="9EB3C8"/>
                      </a:solidFill>
                      <a:prstDash val="solid"/>
                    </a:lnL>
                    <a:lnR w="8890">
                      <a:solidFill>
                        <a:srgbClr val="9EB3C8"/>
                      </a:solidFill>
                      <a:prstDash val="solid"/>
                    </a:lnR>
                    <a:lnT w="8890">
                      <a:solidFill>
                        <a:srgbClr val="9EB3C8"/>
                      </a:solidFill>
                      <a:prstDash val="solid"/>
                    </a:lnT>
                    <a:lnB w="8890">
                      <a:solidFill>
                        <a:srgbClr val="9EB3C8"/>
                      </a:solidFill>
                      <a:prstDash val="solid"/>
                    </a:lnB>
                    <a:tcMar>
                      <a:marL w="508" type="dxa"/>
                      <a:marR w="508" type="dxa"/>
                      <a:marT w="317" type="dxa"/>
                      <a:marB w="317" type="dxa"/>
                    </a:tcMar>
                  </a:tcPr>
                </a:tc>
                <a:tc>
                  <a:txBody>
                    <a:bodyPr/>
                    <a:lstStyle/>
                    <a:p>
                      <a:r>
                        <a:rPr sz="850" b="0">
                          <a:solidFill>
                            <a:srgbClr val="061A35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已绑定</a:t>
                      </a:r>
                    </a:p>
                  </a:txBody>
                  <a:tcPr>
                    <a:solidFill>
                      <a:srgbClr val="F5F8FC"/>
                    </a:solidFill>
                    <a:lnL w="8890">
                      <a:solidFill>
                        <a:srgbClr val="9EB3C8"/>
                      </a:solidFill>
                      <a:prstDash val="solid"/>
                    </a:lnL>
                    <a:lnR w="8890">
                      <a:solidFill>
                        <a:srgbClr val="9EB3C8"/>
                      </a:solidFill>
                      <a:prstDash val="solid"/>
                    </a:lnR>
                    <a:lnT w="8890">
                      <a:solidFill>
                        <a:srgbClr val="9EB3C8"/>
                      </a:solidFill>
                      <a:prstDash val="solid"/>
                    </a:lnT>
                    <a:lnB w="8890">
                      <a:solidFill>
                        <a:srgbClr val="9EB3C8"/>
                      </a:solidFill>
                      <a:prstDash val="solid"/>
                    </a:lnB>
                    <a:tcMar>
                      <a:marL w="508" type="dxa"/>
                      <a:marR w="508" type="dxa"/>
                      <a:marT w="317" type="dxa"/>
                      <a:marB w="317" type="dxa"/>
                    </a:tcMar>
                  </a:tcPr>
                </a:tc>
              </a:tr>
              <a:tr h="274320">
                <a:tc>
                  <a:txBody>
                    <a:bodyPr/>
                    <a:lstStyle/>
                    <a:p>
                      <a:r>
                        <a:rPr sz="850" b="0">
                          <a:solidFill>
                            <a:srgbClr val="061A35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富文本</a:t>
                      </a:r>
                    </a:p>
                  </a:txBody>
                  <a:tcPr>
                    <a:solidFill>
                      <a:srgbClr val="EAF1F8"/>
                    </a:solidFill>
                    <a:lnL w="8890">
                      <a:solidFill>
                        <a:srgbClr val="9EB3C8"/>
                      </a:solidFill>
                      <a:prstDash val="solid"/>
                    </a:lnL>
                    <a:lnR w="8890">
                      <a:solidFill>
                        <a:srgbClr val="9EB3C8"/>
                      </a:solidFill>
                      <a:prstDash val="solid"/>
                    </a:lnR>
                    <a:lnT w="8890">
                      <a:solidFill>
                        <a:srgbClr val="9EB3C8"/>
                      </a:solidFill>
                      <a:prstDash val="solid"/>
                    </a:lnT>
                    <a:lnB w="8890">
                      <a:solidFill>
                        <a:srgbClr val="9EB3C8"/>
                      </a:solidFill>
                      <a:prstDash val="solid"/>
                    </a:lnB>
                    <a:tcMar>
                      <a:marL w="508" type="dxa"/>
                      <a:marR w="508" type="dxa"/>
                      <a:marT w="317" type="dxa"/>
                      <a:marB w="317" type="dxa"/>
                    </a:tcMar>
                  </a:tcPr>
                </a:tc>
                <a:tc>
                  <a:txBody>
                    <a:bodyPr/>
                    <a:lstStyle/>
                    <a:p>
                      <a:r>
                        <a:rPr sz="850" b="0">
                          <a:solidFill>
                            <a:srgbClr val="061A35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已绑定</a:t>
                      </a:r>
                    </a:p>
                  </a:txBody>
                  <a:tcPr>
                    <a:solidFill>
                      <a:srgbClr val="EAF1F8"/>
                    </a:solidFill>
                    <a:lnL w="8890">
                      <a:solidFill>
                        <a:srgbClr val="9EB3C8"/>
                      </a:solidFill>
                      <a:prstDash val="solid"/>
                    </a:lnL>
                    <a:lnR w="8890">
                      <a:solidFill>
                        <a:srgbClr val="9EB3C8"/>
                      </a:solidFill>
                      <a:prstDash val="solid"/>
                    </a:lnR>
                    <a:lnT w="8890">
                      <a:solidFill>
                        <a:srgbClr val="9EB3C8"/>
                      </a:solidFill>
                      <a:prstDash val="solid"/>
                    </a:lnT>
                    <a:lnB w="8890">
                      <a:solidFill>
                        <a:srgbClr val="9EB3C8"/>
                      </a:solidFill>
                      <a:prstDash val="solid"/>
                    </a:lnB>
                    <a:tcMar>
                      <a:marL w="508" type="dxa"/>
                      <a:marR w="508" type="dxa"/>
                      <a:marT w="317" type="dxa"/>
                      <a:marB w="317" type="dxa"/>
                    </a:tcMar>
                  </a:tcPr>
                </a:tc>
              </a:tr>
            </a:tbl>
          </a:graphicData>
        </a:graphic>
      </p:graphicFrame>
      <p:sp>
        <p:nvSpPr>
          <p:cNvPr id="25" name="title"/>
          <p:cNvSpPr txBox="1"/>
          <p:nvPr/>
        </p:nvSpPr>
        <p:spPr>
          <a:xfrm>
            <a:off x="889993" y="356616"/>
            <a:ext cx="8046518" cy="617220"/>
          </a:xfrm>
          <a:prstGeom prst="rect">
            <a:avLst/>
          </a:prstGeom>
          <a:noFill/>
        </p:spPr>
        <p:txBody>
          <a:bodyPr wrap="square" anchor="t" lIns="127" rIns="127" tIns="63" bIns="63">
            <a:spAutoFit/>
          </a:bodyPr>
          <a:lstStyle/>
          <a:p>
            <a:pPr algn="l"/>
            <a:r>
              <a:rPr sz="2500" b="1" i="0">
                <a:solidFill>
                  <a:srgbClr val="F4F7FB">
                    <a:alpha val="100000"/>
                  </a:srgbClr>
                </a:solidFill>
                <a:latin typeface="Noto Sans CJK SC"/>
                <a:ea typeface="Noto Sans CJK SC"/>
                <a:cs typeface="Noto Sans CJK SC"/>
              </a:rPr>
              <a:t>FTTR渠道激励政策明白卡</a:t>
            </a:r>
          </a:p>
        </p:txBody>
      </p:sp>
      <p:sp>
        <p:nvSpPr>
          <p:cNvPr id="26" name="subtitle"/>
          <p:cNvSpPr txBox="1"/>
          <p:nvPr/>
        </p:nvSpPr>
        <p:spPr>
          <a:xfrm>
            <a:off x="914377" y="994409"/>
            <a:ext cx="7558850" cy="240030"/>
          </a:xfrm>
          <a:prstGeom prst="rect">
            <a:avLst/>
          </a:prstGeom>
          <a:noFill/>
        </p:spPr>
        <p:txBody>
          <a:bodyPr wrap="square" anchor="t" lIns="127" rIns="127" tIns="63" bIns="63">
            <a:spAutoFit/>
          </a:bodyPr>
          <a:lstStyle/>
          <a:p>
            <a:pPr algn="l"/>
            <a:r>
              <a:rPr sz="850" b="0" i="0">
                <a:solidFill>
                  <a:srgbClr val="A9BED5">
                    <a:alpha val="100000"/>
                  </a:srgbClr>
                </a:solidFill>
                <a:latin typeface="Noto Sans CJK SC"/>
                <a:ea typeface="Noto Sans CJK SC"/>
                <a:cs typeface="Noto Sans CJK SC"/>
              </a:rPr>
              <a:t>增收有奖｜减收不罚</a:t>
            </a:r>
          </a:p>
        </p:txBody>
      </p:sp>
      <p:sp>
        <p:nvSpPr>
          <p:cNvPr id="27" name="case-label"/>
          <p:cNvSpPr txBox="1"/>
          <p:nvPr/>
        </p:nvSpPr>
        <p:spPr>
          <a:xfrm>
            <a:off x="6461598" y="514350"/>
            <a:ext cx="2194505" cy="274320"/>
          </a:xfrm>
          <a:prstGeom prst="rect">
            <a:avLst/>
          </a:prstGeom>
          <a:noFill/>
        </p:spPr>
        <p:txBody>
          <a:bodyPr wrap="square" anchor="t" lIns="127" rIns="127" tIns="63" bIns="63">
            <a:spAutoFit/>
          </a:bodyPr>
          <a:lstStyle/>
          <a:p>
            <a:pPr algn="l"/>
            <a:r>
              <a:rPr sz="750" b="1" i="0">
                <a:solidFill>
                  <a:srgbClr val="1687FF">
                    <a:alpha val="100000"/>
                  </a:srgbClr>
                </a:solidFill>
                <a:latin typeface="Noto Sans CJK SC"/>
                <a:ea typeface="Noto Sans CJK SC"/>
                <a:cs typeface="Noto Sans CJK SC"/>
              </a:rPr>
              <a:t>CASE REPLAY / NATIVE EDITABLE</a:t>
            </a:r>
          </a:p>
        </p:txBody>
      </p:sp>
      <p:sp>
        <p:nvSpPr>
          <p:cNvPr id="28" name="principle-badge-text"/>
          <p:cNvSpPr txBox="1"/>
          <p:nvPr/>
        </p:nvSpPr>
        <p:spPr>
          <a:xfrm>
            <a:off x="9448563" y="534924"/>
            <a:ext cx="1706837" cy="445770"/>
          </a:xfrm>
          <a:prstGeom prst="rect">
            <a:avLst/>
          </a:prstGeom>
          <a:noFill/>
        </p:spPr>
        <p:txBody>
          <a:bodyPr wrap="square" anchor="t" lIns="127" rIns="127" tIns="63" bIns="63">
            <a:spAutoFit/>
          </a:bodyPr>
          <a:lstStyle/>
          <a:p>
            <a:pPr algn="ctr"/>
            <a:r>
              <a:rPr sz="1000" b="1" i="0">
                <a:solidFill>
                  <a:srgbClr val="F4F7FB">
                    <a:alpha val="100000"/>
                  </a:srgbClr>
                </a:solidFill>
                <a:latin typeface="Noto Sans CJK SC"/>
                <a:ea typeface="Noto Sans CJK SC"/>
                <a:cs typeface="Noto Sans CJK SC"/>
              </a:rPr>
              <a:t>增收有奖</a:t>
            </a:r>
          </a:p>
          <a:p>
            <a:pPr algn="ctr"/>
            <a:r>
              <a:rPr sz="1000" b="1" i="0">
                <a:solidFill>
                  <a:srgbClr val="F4F7FB">
                    <a:alpha val="100000"/>
                  </a:srgbClr>
                </a:solidFill>
                <a:latin typeface="Noto Sans CJK SC"/>
                <a:ea typeface="Noto Sans CJK SC"/>
                <a:cs typeface="Noto Sans CJK SC"/>
              </a:rPr>
              <a:t>减收不罚</a:t>
            </a:r>
          </a:p>
        </p:txBody>
      </p:sp>
      <p:sp>
        <p:nvSpPr>
          <p:cNvPr id="29" name="commission-card-1-title"/>
          <p:cNvSpPr txBox="1"/>
          <p:nvPr/>
        </p:nvSpPr>
        <p:spPr>
          <a:xfrm>
            <a:off x="1097252" y="1714500"/>
            <a:ext cx="2560255" cy="240030"/>
          </a:xfrm>
          <a:prstGeom prst="rect">
            <a:avLst/>
          </a:prstGeom>
          <a:noFill/>
        </p:spPr>
        <p:txBody>
          <a:bodyPr wrap="square" anchor="t" lIns="127" rIns="127" tIns="63" bIns="63">
            <a:spAutoFit/>
          </a:bodyPr>
          <a:lstStyle/>
          <a:p>
            <a:pPr algn="l"/>
            <a:r>
              <a:rPr sz="1000" b="1" i="0">
                <a:solidFill>
                  <a:srgbClr val="E60012">
                    <a:alpha val="100000"/>
                  </a:srgbClr>
                </a:solidFill>
                <a:latin typeface="Noto Sans CJK SC"/>
                <a:ea typeface="Noto Sans CJK SC"/>
                <a:cs typeface="Noto Sans CJK SC"/>
              </a:rPr>
              <a:t>核心原则</a:t>
            </a:r>
          </a:p>
        </p:txBody>
      </p:sp>
      <p:sp>
        <p:nvSpPr>
          <p:cNvPr id="30" name="commission-card-1-copy"/>
          <p:cNvSpPr txBox="1"/>
          <p:nvPr/>
        </p:nvSpPr>
        <p:spPr>
          <a:xfrm>
            <a:off x="1097252" y="2125980"/>
            <a:ext cx="2560255" cy="274320"/>
          </a:xfrm>
          <a:prstGeom prst="rect">
            <a:avLst/>
          </a:prstGeom>
          <a:noFill/>
        </p:spPr>
        <p:txBody>
          <a:bodyPr wrap="square" anchor="t" lIns="127" rIns="127" tIns="63" bIns="63">
            <a:spAutoFit/>
          </a:bodyPr>
          <a:lstStyle/>
          <a:p>
            <a:pPr algn="l"/>
            <a:r>
              <a:rPr sz="900" b="0" i="0">
                <a:solidFill>
                  <a:srgbClr val="F4F7FB">
                    <a:alpha val="100000"/>
                  </a:srgbClr>
                </a:solidFill>
                <a:latin typeface="Noto Sans CJK SC"/>
                <a:ea typeface="Noto Sans CJK SC"/>
                <a:cs typeface="Noto Sans CJK SC"/>
              </a:rPr>
              <a:t>增收有奖</a:t>
            </a:r>
          </a:p>
        </p:txBody>
      </p:sp>
      <p:sp>
        <p:nvSpPr>
          <p:cNvPr id="31" name="commission-card-2-title"/>
          <p:cNvSpPr txBox="1"/>
          <p:nvPr/>
        </p:nvSpPr>
        <p:spPr>
          <a:xfrm>
            <a:off x="4632844" y="1714500"/>
            <a:ext cx="2560255" cy="240030"/>
          </a:xfrm>
          <a:prstGeom prst="rect">
            <a:avLst/>
          </a:prstGeom>
          <a:noFill/>
        </p:spPr>
        <p:txBody>
          <a:bodyPr wrap="square" anchor="t" lIns="127" rIns="127" tIns="63" bIns="63">
            <a:spAutoFit/>
          </a:bodyPr>
          <a:lstStyle/>
          <a:p>
            <a:pPr algn="l"/>
            <a:r>
              <a:rPr sz="1000" b="1" i="0">
                <a:solidFill>
                  <a:srgbClr val="1687FF">
                    <a:alpha val="100000"/>
                  </a:srgbClr>
                </a:solidFill>
                <a:latin typeface="Noto Sans CJK SC"/>
                <a:ea typeface="Noto Sans CJK SC"/>
                <a:cs typeface="Noto Sans CJK SC"/>
              </a:rPr>
              <a:t>场景</a:t>
            </a:r>
          </a:p>
        </p:txBody>
      </p:sp>
      <p:sp>
        <p:nvSpPr>
          <p:cNvPr id="32" name="commission-card-2-copy"/>
          <p:cNvSpPr txBox="1"/>
          <p:nvPr/>
        </p:nvSpPr>
        <p:spPr>
          <a:xfrm>
            <a:off x="4632844" y="2125980"/>
            <a:ext cx="2560255" cy="274320"/>
          </a:xfrm>
          <a:prstGeom prst="rect">
            <a:avLst/>
          </a:prstGeom>
          <a:noFill/>
        </p:spPr>
        <p:txBody>
          <a:bodyPr wrap="square" anchor="t" lIns="127" rIns="127" tIns="63" bIns="63">
            <a:spAutoFit/>
          </a:bodyPr>
          <a:lstStyle/>
          <a:p>
            <a:pPr algn="l"/>
            <a:r>
              <a:rPr sz="900" b="0" i="0">
                <a:solidFill>
                  <a:srgbClr val="F4F7FB">
                    <a:alpha val="100000"/>
                  </a:srgbClr>
                </a:solidFill>
                <a:latin typeface="Noto Sans CJK SC"/>
                <a:ea typeface="Noto Sans CJK SC"/>
                <a:cs typeface="Noto Sans CJK SC"/>
              </a:rPr>
              <a:t>达量补贴标准</a:t>
            </a:r>
          </a:p>
        </p:txBody>
      </p:sp>
      <p:sp>
        <p:nvSpPr>
          <p:cNvPr id="33" name="commission-card-3-title"/>
          <p:cNvSpPr txBox="1"/>
          <p:nvPr/>
        </p:nvSpPr>
        <p:spPr>
          <a:xfrm>
            <a:off x="8168435" y="1714500"/>
            <a:ext cx="2560255" cy="240030"/>
          </a:xfrm>
          <a:prstGeom prst="rect">
            <a:avLst/>
          </a:prstGeom>
          <a:noFill/>
        </p:spPr>
        <p:txBody>
          <a:bodyPr wrap="square" anchor="t" lIns="127" rIns="127" tIns="63" bIns="63">
            <a:spAutoFit/>
          </a:bodyPr>
          <a:lstStyle/>
          <a:p>
            <a:pPr algn="l"/>
            <a:r>
              <a:rPr sz="1000" b="1" i="0">
                <a:solidFill>
                  <a:srgbClr val="1687FF">
                    <a:alpha val="100000"/>
                  </a:srgbClr>
                </a:solidFill>
                <a:latin typeface="Noto Sans CJK SC"/>
                <a:ea typeface="Noto Sans CJK SC"/>
                <a:cs typeface="Noto Sans CJK SC"/>
              </a:rPr>
              <a:t>结果</a:t>
            </a:r>
          </a:p>
        </p:txBody>
      </p:sp>
      <p:sp>
        <p:nvSpPr>
          <p:cNvPr id="34" name="commission-card-3-copy"/>
          <p:cNvSpPr txBox="1"/>
          <p:nvPr/>
        </p:nvSpPr>
        <p:spPr>
          <a:xfrm>
            <a:off x="8168435" y="2125980"/>
            <a:ext cx="2560255" cy="274320"/>
          </a:xfrm>
          <a:prstGeom prst="rect">
            <a:avLst/>
          </a:prstGeom>
          <a:noFill/>
        </p:spPr>
        <p:txBody>
          <a:bodyPr wrap="square" anchor="t" lIns="127" rIns="127" tIns="63" bIns="63">
            <a:spAutoFit/>
          </a:bodyPr>
          <a:lstStyle/>
          <a:p>
            <a:pPr algn="l"/>
            <a:r>
              <a:rPr sz="900" b="0" i="0">
                <a:solidFill>
                  <a:srgbClr val="F4F7FB">
                    <a:alpha val="100000"/>
                  </a:srgbClr>
                </a:solidFill>
                <a:latin typeface="Noto Sans CJK SC"/>
                <a:ea typeface="Noto Sans CJK SC"/>
                <a:cs typeface="Noto Sans CJK SC"/>
              </a:rPr>
              <a:t>结果可核对</a:t>
            </a:r>
          </a:p>
        </p:txBody>
      </p:sp>
      <p:sp>
        <p:nvSpPr>
          <p:cNvPr id="35" name="merge-note"/>
          <p:cNvSpPr txBox="1"/>
          <p:nvPr/>
        </p:nvSpPr>
        <p:spPr>
          <a:xfrm>
            <a:off x="853418" y="6172200"/>
            <a:ext cx="10484857" cy="205740"/>
          </a:xfrm>
          <a:prstGeom prst="rect">
            <a:avLst/>
          </a:prstGeom>
          <a:noFill/>
        </p:spPr>
        <p:txBody>
          <a:bodyPr wrap="square" anchor="t" lIns="127" rIns="127" tIns="63" bIns="63">
            <a:spAutoFit/>
          </a:bodyPr>
          <a:lstStyle/>
          <a:p>
            <a:pPr algn="r"/>
            <a:r>
              <a:rPr sz="750" b="0" i="0">
                <a:solidFill>
                  <a:srgbClr val="A9BED5">
                    <a:alpha val="100000"/>
                  </a:srgbClr>
                </a:solidFill>
                <a:latin typeface="Noto Sans CJK SC"/>
                <a:ea typeface="Noto Sans CJK SC"/>
                <a:cs typeface="Noto Sans CJK SC"/>
              </a:rPr>
              <a:t>3 native tables / merged first column / rich-text runs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