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ervice-line-1"/>
          <p:cNvCxnSpPr/>
          <p:nvPr/>
        </p:nvCxnSpPr>
        <p:spPr>
          <a:xfrm>
            <a:off x="1219169" y="2606040"/>
            <a:ext cx="2072588" cy="0"/>
          </a:xfrm>
          <a:prstGeom prst="line">
            <a:avLst/>
          </a:prstGeom>
          <a:ln w="2286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rvice-line-2"/>
          <p:cNvCxnSpPr/>
          <p:nvPr/>
        </p:nvCxnSpPr>
        <p:spPr>
          <a:xfrm>
            <a:off x="1219169" y="3429000"/>
            <a:ext cx="2072588" cy="0"/>
          </a:xfrm>
          <a:prstGeom prst="line">
            <a:avLst/>
          </a:prstGeom>
          <a:ln w="2286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rvice-line-3"/>
          <p:cNvCxnSpPr/>
          <p:nvPr/>
        </p:nvCxnSpPr>
        <p:spPr>
          <a:xfrm>
            <a:off x="1219169" y="4251960"/>
            <a:ext cx="2072588" cy="0"/>
          </a:xfrm>
          <a:prstGeom prst="line">
            <a:avLst/>
          </a:prstGeom>
          <a:ln w="2286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journey-link-1"/>
          <p:cNvCxnSpPr/>
          <p:nvPr/>
        </p:nvCxnSpPr>
        <p:spPr>
          <a:xfrm>
            <a:off x="5608179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journey-link-2"/>
          <p:cNvCxnSpPr/>
          <p:nvPr/>
        </p:nvCxnSpPr>
        <p:spPr>
          <a:xfrm>
            <a:off x="6485981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journey-link-3"/>
          <p:cNvCxnSpPr/>
          <p:nvPr/>
        </p:nvCxnSpPr>
        <p:spPr>
          <a:xfrm>
            <a:off x="7363783" y="3429000"/>
            <a:ext cx="158492" cy="0"/>
          </a:xfrm>
          <a:prstGeom prst="line">
            <a:avLst/>
          </a:prstGeom>
          <a:ln w="1905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losure-ring-circle"/>
          <p:cNvSpPr/>
          <p:nvPr/>
        </p:nvSpPr>
        <p:spPr>
          <a:xfrm>
            <a:off x="9631439" y="2263140"/>
            <a:ext cx="2438339" cy="1371600"/>
          </a:xfrm>
          <a:prstGeom prst="ellipse">
            <a:avLst/>
          </a:prstGeom>
          <a:solidFill>
            <a:srgbClr val="55D6A1"/>
          </a:solidFill>
          <a:ln w="19050">
            <a:solidFill>
              <a:srgbClr val="55D6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" name="service-principle" descr="service-principle"/>
          <p:cNvGrpSpPr/>
          <p:nvPr/>
        </p:nvGrpSpPr>
        <p:grpSpPr>
          <a:xfrm>
            <a:off x="853418" y="1508760"/>
            <a:ext cx="3047923" cy="3909059"/>
            <a:chOff x="853418" y="1508760"/>
            <a:chExt cx="3047923" cy="3909059"/>
          </a:xfrm>
        </p:grpSpPr>
        <p:sp>
          <p:nvSpPr>
            <p:cNvPr id="13" name="service-principle-fill"/>
            <p:cNvSpPr/>
            <p:nvPr/>
          </p:nvSpPr>
          <p:spPr>
            <a:xfrm>
              <a:off x="853418" y="1508760"/>
              <a:ext cx="3047923" cy="3909059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service-principle-accent"/>
            <p:cNvSpPr/>
            <p:nvPr/>
          </p:nvSpPr>
          <p:spPr>
            <a:xfrm>
              <a:off x="853418" y="1508760"/>
              <a:ext cx="3047923" cy="214998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service-principle-rule"/>
            <p:cNvCxnSpPr/>
            <p:nvPr/>
          </p:nvCxnSpPr>
          <p:spPr>
            <a:xfrm>
              <a:off x="944856" y="5026914"/>
              <a:ext cx="2865048" cy="390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journey-panel" descr="journey-panel"/>
          <p:cNvGrpSpPr/>
          <p:nvPr/>
        </p:nvGrpSpPr>
        <p:grpSpPr>
          <a:xfrm>
            <a:off x="4389010" y="1508760"/>
            <a:ext cx="4145176" cy="3909059"/>
            <a:chOff x="4389010" y="1508760"/>
            <a:chExt cx="4145176" cy="3909059"/>
          </a:xfrm>
        </p:grpSpPr>
        <p:sp>
          <p:nvSpPr>
            <p:cNvPr id="17" name="journey-panel-fill"/>
            <p:cNvSpPr/>
            <p:nvPr/>
          </p:nvSpPr>
          <p:spPr>
            <a:xfrm>
              <a:off x="4389010" y="1508760"/>
              <a:ext cx="4145176" cy="390905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journey-panel-accent"/>
            <p:cNvSpPr/>
            <p:nvPr/>
          </p:nvSpPr>
          <p:spPr>
            <a:xfrm>
              <a:off x="4389010" y="1508760"/>
              <a:ext cx="4145176" cy="214998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journey-panel-rule"/>
            <p:cNvCxnSpPr/>
            <p:nvPr/>
          </p:nvCxnSpPr>
          <p:spPr>
            <a:xfrm>
              <a:off x="4513365" y="5026914"/>
              <a:ext cx="3896466" cy="390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journey-1" descr="journey-1"/>
          <p:cNvGrpSpPr/>
          <p:nvPr/>
        </p:nvGrpSpPr>
        <p:grpSpPr>
          <a:xfrm>
            <a:off x="4876678" y="3086100"/>
            <a:ext cx="731501" cy="685800"/>
            <a:chOff x="4876678" y="3086100"/>
            <a:chExt cx="731501" cy="685800"/>
          </a:xfrm>
        </p:grpSpPr>
        <p:sp>
          <p:nvSpPr>
            <p:cNvPr id="21" name="journey-1-fill"/>
            <p:cNvSpPr/>
            <p:nvPr/>
          </p:nvSpPr>
          <p:spPr>
            <a:xfrm>
              <a:off x="4876678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journey-1-accent"/>
            <p:cNvSpPr/>
            <p:nvPr/>
          </p:nvSpPr>
          <p:spPr>
            <a:xfrm>
              <a:off x="4876678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journey-1-rule"/>
            <p:cNvCxnSpPr/>
            <p:nvPr/>
          </p:nvCxnSpPr>
          <p:spPr>
            <a:xfrm>
              <a:off x="4898623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journey-2" descr="journey-2"/>
          <p:cNvGrpSpPr/>
          <p:nvPr/>
        </p:nvGrpSpPr>
        <p:grpSpPr>
          <a:xfrm>
            <a:off x="5754480" y="3086100"/>
            <a:ext cx="731501" cy="685800"/>
            <a:chOff x="5754480" y="3086100"/>
            <a:chExt cx="731501" cy="685800"/>
          </a:xfrm>
        </p:grpSpPr>
        <p:sp>
          <p:nvSpPr>
            <p:cNvPr id="25" name="journey-2-fill"/>
            <p:cNvSpPr/>
            <p:nvPr/>
          </p:nvSpPr>
          <p:spPr>
            <a:xfrm>
              <a:off x="5754480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journey-2-accent"/>
            <p:cNvSpPr/>
            <p:nvPr/>
          </p:nvSpPr>
          <p:spPr>
            <a:xfrm>
              <a:off x="5754480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journey-2-rule"/>
            <p:cNvCxnSpPr/>
            <p:nvPr/>
          </p:nvCxnSpPr>
          <p:spPr>
            <a:xfrm>
              <a:off x="5776425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journey-3" descr="journey-3"/>
          <p:cNvGrpSpPr/>
          <p:nvPr/>
        </p:nvGrpSpPr>
        <p:grpSpPr>
          <a:xfrm>
            <a:off x="6632282" y="3086100"/>
            <a:ext cx="731501" cy="685800"/>
            <a:chOff x="6632282" y="3086100"/>
            <a:chExt cx="731501" cy="685800"/>
          </a:xfrm>
        </p:grpSpPr>
        <p:sp>
          <p:nvSpPr>
            <p:cNvPr id="29" name="journey-3-fill"/>
            <p:cNvSpPr/>
            <p:nvPr/>
          </p:nvSpPr>
          <p:spPr>
            <a:xfrm>
              <a:off x="6632282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journey-3-accent"/>
            <p:cNvSpPr/>
            <p:nvPr/>
          </p:nvSpPr>
          <p:spPr>
            <a:xfrm>
              <a:off x="6632282" y="3086100"/>
              <a:ext cx="731501" cy="37719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journey-3-rule"/>
            <p:cNvCxnSpPr/>
            <p:nvPr/>
          </p:nvCxnSpPr>
          <p:spPr>
            <a:xfrm>
              <a:off x="6654227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journey-4" descr="journey-4"/>
          <p:cNvGrpSpPr/>
          <p:nvPr/>
        </p:nvGrpSpPr>
        <p:grpSpPr>
          <a:xfrm>
            <a:off x="7510084" y="3086100"/>
            <a:ext cx="731501" cy="685800"/>
            <a:chOff x="7510084" y="3086100"/>
            <a:chExt cx="731501" cy="685800"/>
          </a:xfrm>
        </p:grpSpPr>
        <p:sp>
          <p:nvSpPr>
            <p:cNvPr id="33" name="journey-4-fill"/>
            <p:cNvSpPr/>
            <p:nvPr/>
          </p:nvSpPr>
          <p:spPr>
            <a:xfrm>
              <a:off x="7510084" y="3086100"/>
              <a:ext cx="731501" cy="68580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journey-4-accent"/>
            <p:cNvSpPr/>
            <p:nvPr/>
          </p:nvSpPr>
          <p:spPr>
            <a:xfrm>
              <a:off x="7510084" y="3086100"/>
              <a:ext cx="731501" cy="37719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journey-4-rule"/>
            <p:cNvCxnSpPr/>
            <p:nvPr/>
          </p:nvCxnSpPr>
          <p:spPr>
            <a:xfrm>
              <a:off x="7532029" y="3703320"/>
              <a:ext cx="687611" cy="68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closure-ring" descr="closure-ring"/>
          <p:cNvGrpSpPr/>
          <p:nvPr/>
        </p:nvGrpSpPr>
        <p:grpSpPr>
          <a:xfrm>
            <a:off x="9143771" y="1851660"/>
            <a:ext cx="2194505" cy="1920240"/>
            <a:chOff x="9143771" y="1851660"/>
            <a:chExt cx="2194505" cy="1920240"/>
          </a:xfrm>
        </p:grpSpPr>
        <p:sp>
          <p:nvSpPr>
            <p:cNvPr id="37" name="closure-ring-fill"/>
            <p:cNvSpPr/>
            <p:nvPr/>
          </p:nvSpPr>
          <p:spPr>
            <a:xfrm>
              <a:off x="9143771" y="1851660"/>
              <a:ext cx="2194505" cy="192024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losure-ring-accent"/>
            <p:cNvSpPr/>
            <p:nvPr/>
          </p:nvSpPr>
          <p:spPr>
            <a:xfrm>
              <a:off x="9143771" y="1851660"/>
              <a:ext cx="2194505" cy="105613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losure-ring-rule"/>
            <p:cNvCxnSpPr/>
            <p:nvPr/>
          </p:nvCxnSpPr>
          <p:spPr>
            <a:xfrm>
              <a:off x="9209606" y="3579876"/>
              <a:ext cx="2062835" cy="19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responsibility-1" descr="responsibility-1"/>
          <p:cNvGrpSpPr/>
          <p:nvPr/>
        </p:nvGrpSpPr>
        <p:grpSpPr>
          <a:xfrm>
            <a:off x="4389010" y="5760720"/>
            <a:ext cx="2072588" cy="548640"/>
            <a:chOff x="4389010" y="5760720"/>
            <a:chExt cx="2072588" cy="548640"/>
          </a:xfrm>
        </p:grpSpPr>
        <p:sp>
          <p:nvSpPr>
            <p:cNvPr id="41" name="responsibility-1-fill"/>
            <p:cNvSpPr/>
            <p:nvPr/>
          </p:nvSpPr>
          <p:spPr>
            <a:xfrm>
              <a:off x="4389010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sponsibility-1-accent"/>
            <p:cNvSpPr/>
            <p:nvPr/>
          </p:nvSpPr>
          <p:spPr>
            <a:xfrm>
              <a:off x="4389010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responsibility-1-rule"/>
            <p:cNvCxnSpPr/>
            <p:nvPr/>
          </p:nvCxnSpPr>
          <p:spPr>
            <a:xfrm>
              <a:off x="4451187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responsibility-2" descr="responsibility-2"/>
          <p:cNvGrpSpPr/>
          <p:nvPr/>
        </p:nvGrpSpPr>
        <p:grpSpPr>
          <a:xfrm>
            <a:off x="6827349" y="5760720"/>
            <a:ext cx="2072588" cy="548640"/>
            <a:chOff x="6827349" y="5760720"/>
            <a:chExt cx="2072588" cy="548640"/>
          </a:xfrm>
        </p:grpSpPr>
        <p:sp>
          <p:nvSpPr>
            <p:cNvPr id="45" name="responsibility-2-fill"/>
            <p:cNvSpPr/>
            <p:nvPr/>
          </p:nvSpPr>
          <p:spPr>
            <a:xfrm>
              <a:off x="6827349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sponsibility-2-accent"/>
            <p:cNvSpPr/>
            <p:nvPr/>
          </p:nvSpPr>
          <p:spPr>
            <a:xfrm>
              <a:off x="6827349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responsibility-2-rule"/>
            <p:cNvCxnSpPr/>
            <p:nvPr/>
          </p:nvCxnSpPr>
          <p:spPr>
            <a:xfrm>
              <a:off x="6889526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responsibility-3" descr="responsibility-3"/>
          <p:cNvGrpSpPr/>
          <p:nvPr/>
        </p:nvGrpSpPr>
        <p:grpSpPr>
          <a:xfrm>
            <a:off x="9265688" y="5760720"/>
            <a:ext cx="2072588" cy="548640"/>
            <a:chOff x="9265688" y="5760720"/>
            <a:chExt cx="2072588" cy="548640"/>
          </a:xfrm>
        </p:grpSpPr>
        <p:sp>
          <p:nvSpPr>
            <p:cNvPr id="49" name="responsibility-3-fill"/>
            <p:cNvSpPr/>
            <p:nvPr/>
          </p:nvSpPr>
          <p:spPr>
            <a:xfrm>
              <a:off x="9265688" y="5760720"/>
              <a:ext cx="2072588" cy="5486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esponsibility-3-accent"/>
            <p:cNvSpPr/>
            <p:nvPr/>
          </p:nvSpPr>
          <p:spPr>
            <a:xfrm>
              <a:off x="9265688" y="5760720"/>
              <a:ext cx="2072588" cy="3017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responsibility-3-rule"/>
            <p:cNvCxnSpPr/>
            <p:nvPr/>
          </p:nvCxnSpPr>
          <p:spPr>
            <a:xfrm>
              <a:off x="9327865" y="6254495"/>
              <a:ext cx="1948233" cy="549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政企客户服务攻坚战</a:t>
            </a:r>
          </a:p>
        </p:txBody>
      </p:sp>
      <p:sp>
        <p:nvSpPr>
          <p:cNvPr id="53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Service Excellence</a:t>
            </a:r>
          </a:p>
        </p:txBody>
      </p:sp>
      <p:sp>
        <p:nvSpPr>
          <p:cNvPr id="54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5" name="service-label-1"/>
          <p:cNvSpPr txBox="1"/>
          <p:nvPr/>
        </p:nvSpPr>
        <p:spPr>
          <a:xfrm>
            <a:off x="1219169" y="212598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一线响应</a:t>
            </a:r>
          </a:p>
        </p:txBody>
      </p:sp>
      <p:sp>
        <p:nvSpPr>
          <p:cNvPr id="56" name="service-label-2"/>
          <p:cNvSpPr txBox="1"/>
          <p:nvPr/>
        </p:nvSpPr>
        <p:spPr>
          <a:xfrm>
            <a:off x="1219169" y="294894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专业交付</a:t>
            </a:r>
          </a:p>
        </p:txBody>
      </p:sp>
      <p:sp>
        <p:nvSpPr>
          <p:cNvPr id="57" name="service-label-3"/>
          <p:cNvSpPr txBox="1"/>
          <p:nvPr/>
        </p:nvSpPr>
        <p:spPr>
          <a:xfrm>
            <a:off x="1219169" y="377190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3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客户成功</a:t>
            </a:r>
          </a:p>
        </p:txBody>
      </p:sp>
      <p:sp>
        <p:nvSpPr>
          <p:cNvPr id="58" name="journey-1-text"/>
          <p:cNvSpPr txBox="1"/>
          <p:nvPr/>
        </p:nvSpPr>
        <p:spPr>
          <a:xfrm>
            <a:off x="4754761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触达</a:t>
            </a:r>
          </a:p>
        </p:txBody>
      </p:sp>
      <p:sp>
        <p:nvSpPr>
          <p:cNvPr id="59" name="journey-2-text"/>
          <p:cNvSpPr txBox="1"/>
          <p:nvPr/>
        </p:nvSpPr>
        <p:spPr>
          <a:xfrm>
            <a:off x="5632563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诊断</a:t>
            </a:r>
          </a:p>
        </p:txBody>
      </p:sp>
      <p:sp>
        <p:nvSpPr>
          <p:cNvPr id="60" name="journey-3-text"/>
          <p:cNvSpPr txBox="1"/>
          <p:nvPr/>
        </p:nvSpPr>
        <p:spPr>
          <a:xfrm>
            <a:off x="6510365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61" name="journey-4-text"/>
          <p:cNvSpPr txBox="1"/>
          <p:nvPr/>
        </p:nvSpPr>
        <p:spPr>
          <a:xfrm>
            <a:off x="7388167" y="3977639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复盘</a:t>
            </a:r>
          </a:p>
        </p:txBody>
      </p:sp>
      <p:sp>
        <p:nvSpPr>
          <p:cNvPr id="62" name="closure-rate"/>
          <p:cNvSpPr txBox="1"/>
          <p:nvPr/>
        </p:nvSpPr>
        <p:spPr>
          <a:xfrm>
            <a:off x="9509522" y="2708910"/>
            <a:ext cx="2682172" cy="4114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700" b="1" i="0">
                <a:solidFill>
                  <a:srgbClr val="061A3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96.8%</a:t>
            </a:r>
          </a:p>
        </p:txBody>
      </p:sp>
      <p:sp>
        <p:nvSpPr>
          <p:cNvPr id="63" name="responsibility-1-text"/>
          <p:cNvSpPr txBox="1"/>
          <p:nvPr/>
        </p:nvSpPr>
        <p:spPr>
          <a:xfrm>
            <a:off x="4389010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本周重点</a:t>
            </a:r>
          </a:p>
        </p:txBody>
      </p:sp>
      <p:sp>
        <p:nvSpPr>
          <p:cNvPr id="64" name="responsibility-2-text"/>
          <p:cNvSpPr txBox="1"/>
          <p:nvPr/>
        </p:nvSpPr>
        <p:spPr>
          <a:xfrm>
            <a:off x="6827349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关键动作</a:t>
            </a:r>
          </a:p>
        </p:txBody>
      </p:sp>
      <p:sp>
        <p:nvSpPr>
          <p:cNvPr id="65" name="responsibility-3-text"/>
          <p:cNvSpPr txBox="1"/>
          <p:nvPr/>
        </p:nvSpPr>
        <p:spPr>
          <a:xfrm>
            <a:off x="9265688" y="5897880"/>
            <a:ext cx="2072588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责任到人</a:t>
            </a:r>
          </a:p>
        </p:txBody>
      </p:sp>
      <p:sp>
        <p:nvSpPr>
          <p:cNvPr id="66" name="bilingual-note"/>
          <p:cNvSpPr txBox="1"/>
          <p:nvPr/>
        </p:nvSpPr>
        <p:spPr>
          <a:xfrm>
            <a:off x="8778020" y="6172200"/>
            <a:ext cx="2682172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CJK + English / run-level emphasis / native text</a:t>
            </a:r>
          </a:p>
        </p:txBody>
      </p:sp>
      <p:sp>
        <p:nvSpPr>
          <p:cNvPr id="67" name="mixed-run-callout"/>
          <p:cNvSpPr txBox="1"/>
          <p:nvPr/>
        </p:nvSpPr>
        <p:spPr>
          <a:xfrm>
            <a:off x="9143771" y="4183380"/>
            <a:ext cx="2194505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1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闭环率 </a:t>
            </a:r>
            <a:r>
              <a:rPr sz="11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96.8%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