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ramework-arrow-1"/>
          <p:cNvCxnSpPr/>
          <p:nvPr/>
        </p:nvCxnSpPr>
        <p:spPr>
          <a:xfrm>
            <a:off x="3291757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ramework-arrow-2"/>
          <p:cNvCxnSpPr/>
          <p:nvPr/>
        </p:nvCxnSpPr>
        <p:spPr>
          <a:xfrm>
            <a:off x="5730096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ramework-arrow-3"/>
          <p:cNvCxnSpPr/>
          <p:nvPr/>
        </p:nvCxnSpPr>
        <p:spPr>
          <a:xfrm>
            <a:off x="8168435" y="2468880"/>
            <a:ext cx="487668" cy="0"/>
          </a:xfrm>
          <a:prstGeom prst="line">
            <a:avLst/>
          </a:prstGeom>
          <a:ln w="279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layer-foundation" descr="layer-foundation"/>
          <p:cNvGrpSpPr/>
          <p:nvPr/>
        </p:nvGrpSpPr>
        <p:grpSpPr>
          <a:xfrm>
            <a:off x="853418" y="2125980"/>
            <a:ext cx="10484857" cy="2057400"/>
            <a:chOff x="853418" y="2125980"/>
            <a:chExt cx="10484857" cy="2057400"/>
          </a:xfrm>
        </p:grpSpPr>
        <p:sp>
          <p:nvSpPr>
            <p:cNvPr id="9" name="layer-foundation-fill"/>
            <p:cNvSpPr/>
            <p:nvPr/>
          </p:nvSpPr>
          <p:spPr>
            <a:xfrm>
              <a:off x="853418" y="2125980"/>
              <a:ext cx="10484857" cy="2057400"/>
            </a:xfrm>
            <a:prstGeom prst="roundRect">
              <a:avLst/>
            </a:prstGeom>
            <a:solidFill>
              <a:srgbClr val="0A2544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yer-foundation-accent"/>
            <p:cNvSpPr/>
            <p:nvPr/>
          </p:nvSpPr>
          <p:spPr>
            <a:xfrm>
              <a:off x="853418" y="2125980"/>
              <a:ext cx="10484857" cy="11315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layer-foundation-rule"/>
            <p:cNvCxnSpPr/>
            <p:nvPr/>
          </p:nvCxnSpPr>
          <p:spPr>
            <a:xfrm>
              <a:off x="1167964" y="3977640"/>
              <a:ext cx="9855766" cy="205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layer-value" descr="layer-value"/>
          <p:cNvGrpSpPr/>
          <p:nvPr/>
        </p:nvGrpSpPr>
        <p:grpSpPr>
          <a:xfrm>
            <a:off x="1950671" y="1645920"/>
            <a:ext cx="8290352" cy="1165860"/>
            <a:chOff x="1950671" y="1645920"/>
            <a:chExt cx="8290352" cy="1165860"/>
          </a:xfrm>
        </p:grpSpPr>
        <p:sp>
          <p:nvSpPr>
            <p:cNvPr id="13" name="layer-value-fill"/>
            <p:cNvSpPr/>
            <p:nvPr/>
          </p:nvSpPr>
          <p:spPr>
            <a:xfrm>
              <a:off x="1950671" y="1645920"/>
              <a:ext cx="8290352" cy="116586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ayer-value-accent"/>
            <p:cNvSpPr/>
            <p:nvPr/>
          </p:nvSpPr>
          <p:spPr>
            <a:xfrm>
              <a:off x="1950671" y="1645920"/>
              <a:ext cx="8290352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layer-value-rule"/>
            <p:cNvCxnSpPr/>
            <p:nvPr/>
          </p:nvCxnSpPr>
          <p:spPr>
            <a:xfrm>
              <a:off x="2199381" y="2695194"/>
              <a:ext cx="7792932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result-cabin" descr="result-cabin"/>
          <p:cNvGrpSpPr/>
          <p:nvPr/>
        </p:nvGrpSpPr>
        <p:grpSpPr>
          <a:xfrm>
            <a:off x="4389010" y="4869180"/>
            <a:ext cx="3413674" cy="822960"/>
            <a:chOff x="4389010" y="4869180"/>
            <a:chExt cx="3413674" cy="822960"/>
          </a:xfrm>
        </p:grpSpPr>
        <p:sp>
          <p:nvSpPr>
            <p:cNvPr id="17" name="result-cabin-fill"/>
            <p:cNvSpPr/>
            <p:nvPr/>
          </p:nvSpPr>
          <p:spPr>
            <a:xfrm>
              <a:off x="4389010" y="4869180"/>
              <a:ext cx="3413674" cy="82296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sult-cabin-accent"/>
            <p:cNvSpPr/>
            <p:nvPr/>
          </p:nvSpPr>
          <p:spPr>
            <a:xfrm>
              <a:off x="4389010" y="4869180"/>
              <a:ext cx="3413674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result-cabin-rule"/>
            <p:cNvCxnSpPr/>
            <p:nvPr/>
          </p:nvCxnSpPr>
          <p:spPr>
            <a:xfrm>
              <a:off x="4491420" y="5609844"/>
              <a:ext cx="3208854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card-1" descr="card-1"/>
          <p:cNvGrpSpPr/>
          <p:nvPr/>
        </p:nvGrpSpPr>
        <p:grpSpPr>
          <a:xfrm>
            <a:off x="1463003" y="1920240"/>
            <a:ext cx="1950671" cy="960120"/>
            <a:chOff x="1463003" y="1920240"/>
            <a:chExt cx="1950671" cy="960120"/>
          </a:xfrm>
        </p:grpSpPr>
        <p:sp>
          <p:nvSpPr>
            <p:cNvPr id="21" name="card-1-fill"/>
            <p:cNvSpPr/>
            <p:nvPr/>
          </p:nvSpPr>
          <p:spPr>
            <a:xfrm>
              <a:off x="1463003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-1-accent"/>
            <p:cNvSpPr/>
            <p:nvPr/>
          </p:nvSpPr>
          <p:spPr>
            <a:xfrm>
              <a:off x="1463003" y="1920240"/>
              <a:ext cx="1950671" cy="52806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ard-1-rule"/>
            <p:cNvCxnSpPr/>
            <p:nvPr/>
          </p:nvCxnSpPr>
          <p:spPr>
            <a:xfrm>
              <a:off x="1521523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card-2" descr="card-2"/>
          <p:cNvGrpSpPr/>
          <p:nvPr/>
        </p:nvGrpSpPr>
        <p:grpSpPr>
          <a:xfrm>
            <a:off x="3901342" y="1920240"/>
            <a:ext cx="1950671" cy="960120"/>
            <a:chOff x="3901342" y="1920240"/>
            <a:chExt cx="1950671" cy="960120"/>
          </a:xfrm>
        </p:grpSpPr>
        <p:sp>
          <p:nvSpPr>
            <p:cNvPr id="25" name="card-2-fill"/>
            <p:cNvSpPr/>
            <p:nvPr/>
          </p:nvSpPr>
          <p:spPr>
            <a:xfrm>
              <a:off x="3901342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ard-2-accent"/>
            <p:cNvSpPr/>
            <p:nvPr/>
          </p:nvSpPr>
          <p:spPr>
            <a:xfrm>
              <a:off x="3901342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ard-2-rule"/>
            <p:cNvCxnSpPr/>
            <p:nvPr/>
          </p:nvCxnSpPr>
          <p:spPr>
            <a:xfrm>
              <a:off x="3959862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card-3" descr="card-3"/>
          <p:cNvGrpSpPr/>
          <p:nvPr/>
        </p:nvGrpSpPr>
        <p:grpSpPr>
          <a:xfrm>
            <a:off x="6339681" y="1920240"/>
            <a:ext cx="1950671" cy="960120"/>
            <a:chOff x="6339681" y="1920240"/>
            <a:chExt cx="1950671" cy="960120"/>
          </a:xfrm>
        </p:grpSpPr>
        <p:sp>
          <p:nvSpPr>
            <p:cNvPr id="29" name="card-3-fill"/>
            <p:cNvSpPr/>
            <p:nvPr/>
          </p:nvSpPr>
          <p:spPr>
            <a:xfrm>
              <a:off x="6339681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3-accent"/>
            <p:cNvSpPr/>
            <p:nvPr/>
          </p:nvSpPr>
          <p:spPr>
            <a:xfrm>
              <a:off x="6339681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ard-3-rule"/>
            <p:cNvCxnSpPr/>
            <p:nvPr/>
          </p:nvCxnSpPr>
          <p:spPr>
            <a:xfrm>
              <a:off x="6398201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card-4" descr="card-4"/>
          <p:cNvGrpSpPr/>
          <p:nvPr/>
        </p:nvGrpSpPr>
        <p:grpSpPr>
          <a:xfrm>
            <a:off x="8778020" y="1920240"/>
            <a:ext cx="1950671" cy="960120"/>
            <a:chOff x="8778020" y="1920240"/>
            <a:chExt cx="1950671" cy="960120"/>
          </a:xfrm>
        </p:grpSpPr>
        <p:sp>
          <p:nvSpPr>
            <p:cNvPr id="33" name="card-4-fill"/>
            <p:cNvSpPr/>
            <p:nvPr/>
          </p:nvSpPr>
          <p:spPr>
            <a:xfrm>
              <a:off x="8778020" y="1920240"/>
              <a:ext cx="1950671" cy="96012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4-accent"/>
            <p:cNvSpPr/>
            <p:nvPr/>
          </p:nvSpPr>
          <p:spPr>
            <a:xfrm>
              <a:off x="8778020" y="1920240"/>
              <a:ext cx="1950671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ard-4-rule"/>
            <p:cNvCxnSpPr/>
            <p:nvPr/>
          </p:nvCxnSpPr>
          <p:spPr>
            <a:xfrm>
              <a:off x="8836540" y="2784348"/>
              <a:ext cx="1833631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新质生产力经营框架</a:t>
            </a:r>
          </a:p>
        </p:txBody>
      </p:sp>
      <p:sp>
        <p:nvSpPr>
          <p:cNvPr id="3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战略牵引 × 能力筑基 × 场景突破 × 价值兑现</a:t>
            </a:r>
          </a:p>
        </p:txBody>
      </p:sp>
      <p:sp>
        <p:nvSpPr>
          <p:cNvPr id="3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9" name="card-1-text"/>
          <p:cNvSpPr txBox="1"/>
          <p:nvPr/>
        </p:nvSpPr>
        <p:spPr>
          <a:xfrm>
            <a:off x="1584920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战略牵引</a:t>
            </a:r>
          </a:p>
        </p:txBody>
      </p:sp>
      <p:sp>
        <p:nvSpPr>
          <p:cNvPr id="40" name="card-2-text"/>
          <p:cNvSpPr txBox="1"/>
          <p:nvPr/>
        </p:nvSpPr>
        <p:spPr>
          <a:xfrm>
            <a:off x="4023259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能力筑基</a:t>
            </a:r>
          </a:p>
        </p:txBody>
      </p:sp>
      <p:sp>
        <p:nvSpPr>
          <p:cNvPr id="41" name="card-3-text"/>
          <p:cNvSpPr txBox="1"/>
          <p:nvPr/>
        </p:nvSpPr>
        <p:spPr>
          <a:xfrm>
            <a:off x="6461598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场景突破</a:t>
            </a:r>
          </a:p>
        </p:txBody>
      </p:sp>
      <p:sp>
        <p:nvSpPr>
          <p:cNvPr id="42" name="card-4-text"/>
          <p:cNvSpPr txBox="1"/>
          <p:nvPr/>
        </p:nvSpPr>
        <p:spPr>
          <a:xfrm>
            <a:off x="8899937" y="222885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价值兑现</a:t>
            </a:r>
          </a:p>
        </p:txBody>
      </p:sp>
      <p:sp>
        <p:nvSpPr>
          <p:cNvPr id="43" name="foundation-1"/>
          <p:cNvSpPr txBox="1"/>
          <p:nvPr/>
        </p:nvSpPr>
        <p:spPr>
          <a:xfrm>
            <a:off x="1584920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组织</a:t>
            </a:r>
          </a:p>
        </p:txBody>
      </p:sp>
      <p:sp>
        <p:nvSpPr>
          <p:cNvPr id="44" name="foundation-2"/>
          <p:cNvSpPr txBox="1"/>
          <p:nvPr/>
        </p:nvSpPr>
        <p:spPr>
          <a:xfrm>
            <a:off x="4023259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技术</a:t>
            </a:r>
          </a:p>
        </p:txBody>
      </p:sp>
      <p:sp>
        <p:nvSpPr>
          <p:cNvPr id="45" name="foundation-3"/>
          <p:cNvSpPr txBox="1"/>
          <p:nvPr/>
        </p:nvSpPr>
        <p:spPr>
          <a:xfrm>
            <a:off x="6461598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数据</a:t>
            </a:r>
          </a:p>
        </p:txBody>
      </p:sp>
      <p:sp>
        <p:nvSpPr>
          <p:cNvPr id="46" name="foundation-4"/>
          <p:cNvSpPr txBox="1"/>
          <p:nvPr/>
        </p:nvSpPr>
        <p:spPr>
          <a:xfrm>
            <a:off x="8899937" y="3291840"/>
            <a:ext cx="1950671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生态</a:t>
            </a:r>
          </a:p>
        </p:txBody>
      </p:sp>
      <p:sp>
        <p:nvSpPr>
          <p:cNvPr id="47" name="result-cabin-text"/>
          <p:cNvSpPr txBox="1"/>
          <p:nvPr/>
        </p:nvSpPr>
        <p:spPr>
          <a:xfrm>
            <a:off x="4632844" y="5122926"/>
            <a:ext cx="2926006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4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经营结果</a:t>
            </a:r>
          </a:p>
        </p:txBody>
      </p:sp>
      <p:sp>
        <p:nvSpPr>
          <p:cNvPr id="48" name="framework-footnote"/>
          <p:cNvSpPr txBox="1"/>
          <p:nvPr/>
        </p:nvSpPr>
        <p:spPr>
          <a:xfrm>
            <a:off x="1097252" y="5966460"/>
            <a:ext cx="7071183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组织、技术、数据、生态共同支撑四个经营跃迁层</a:t>
            </a:r>
          </a:p>
        </p:txBody>
      </p:sp>
      <p:sp>
        <p:nvSpPr>
          <p:cNvPr id="49" name="framework-score"/>
          <p:cNvSpPr txBox="1"/>
          <p:nvPr/>
        </p:nvSpPr>
        <p:spPr>
          <a:xfrm>
            <a:off x="8534186" y="5966460"/>
            <a:ext cx="2682172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0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可移动卡片 / 3层结构 / 连接线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