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accent"/>
          <p:cNvSpPr/>
          <p:nvPr/>
        </p:nvSpPr>
        <p:spPr>
          <a:xfrm>
            <a:off x="670543" y="445770"/>
            <a:ext cx="73150" cy="5143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tle-rule"/>
          <p:cNvCxnSpPr/>
          <p:nvPr/>
        </p:nvCxnSpPr>
        <p:spPr>
          <a:xfrm>
            <a:off x="670543" y="1165860"/>
            <a:ext cx="10850608" cy="0"/>
          </a:xfrm>
          <a:prstGeom prst="line">
            <a:avLst/>
          </a:prstGeom>
          <a:ln w="8890">
            <a:solidFill>
              <a:srgbClr val="355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ate-link-1"/>
          <p:cNvCxnSpPr/>
          <p:nvPr/>
        </p:nvCxnSpPr>
        <p:spPr>
          <a:xfrm>
            <a:off x="2560255" y="2756916"/>
            <a:ext cx="304793" cy="0"/>
          </a:xfrm>
          <a:prstGeom prst="line">
            <a:avLst/>
          </a:prstGeom>
          <a:ln w="1778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gate-link-2"/>
          <p:cNvCxnSpPr/>
          <p:nvPr/>
        </p:nvCxnSpPr>
        <p:spPr>
          <a:xfrm>
            <a:off x="4510927" y="2756916"/>
            <a:ext cx="304792" cy="0"/>
          </a:xfrm>
          <a:prstGeom prst="line">
            <a:avLst/>
          </a:prstGeom>
          <a:ln w="1778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ate-link-3"/>
          <p:cNvCxnSpPr/>
          <p:nvPr/>
        </p:nvCxnSpPr>
        <p:spPr>
          <a:xfrm>
            <a:off x="6461598" y="2756916"/>
            <a:ext cx="304792" cy="0"/>
          </a:xfrm>
          <a:prstGeom prst="line">
            <a:avLst/>
          </a:prstGeom>
          <a:ln w="1778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ate-link-4"/>
          <p:cNvCxnSpPr/>
          <p:nvPr/>
        </p:nvCxnSpPr>
        <p:spPr>
          <a:xfrm>
            <a:off x="8412269" y="2756916"/>
            <a:ext cx="304792" cy="0"/>
          </a:xfrm>
          <a:prstGeom prst="line">
            <a:avLst/>
          </a:prstGeom>
          <a:ln w="1778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ailure-branch"/>
          <p:cNvCxnSpPr/>
          <p:nvPr/>
        </p:nvCxnSpPr>
        <p:spPr>
          <a:xfrm>
            <a:off x="8778020" y="2948940"/>
            <a:ext cx="975336" cy="61722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ate-1" descr="gate-1"/>
          <p:cNvGrpSpPr/>
          <p:nvPr/>
        </p:nvGrpSpPr>
        <p:grpSpPr>
          <a:xfrm>
            <a:off x="975335" y="2400300"/>
            <a:ext cx="1584920" cy="720090"/>
            <a:chOff x="975335" y="2400300"/>
            <a:chExt cx="1584920" cy="720090"/>
          </a:xfrm>
        </p:grpSpPr>
        <p:sp>
          <p:nvSpPr>
            <p:cNvPr id="11" name="gate-1-fill"/>
            <p:cNvSpPr/>
            <p:nvPr/>
          </p:nvSpPr>
          <p:spPr>
            <a:xfrm>
              <a:off x="975335" y="2400300"/>
              <a:ext cx="1584920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gate-1-accent"/>
            <p:cNvSpPr/>
            <p:nvPr/>
          </p:nvSpPr>
          <p:spPr>
            <a:xfrm>
              <a:off x="975335" y="2400300"/>
              <a:ext cx="1584920" cy="3960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gate-1-rule"/>
            <p:cNvCxnSpPr/>
            <p:nvPr/>
          </p:nvCxnSpPr>
          <p:spPr>
            <a:xfrm>
              <a:off x="1022883" y="3048381"/>
              <a:ext cx="1489825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ate-2" descr="gate-2"/>
          <p:cNvGrpSpPr/>
          <p:nvPr/>
        </p:nvGrpSpPr>
        <p:grpSpPr>
          <a:xfrm>
            <a:off x="2926006" y="2400300"/>
            <a:ext cx="1584920" cy="720090"/>
            <a:chOff x="2926006" y="2400300"/>
            <a:chExt cx="1584920" cy="720090"/>
          </a:xfrm>
        </p:grpSpPr>
        <p:sp>
          <p:nvSpPr>
            <p:cNvPr id="15" name="gate-2-fill"/>
            <p:cNvSpPr/>
            <p:nvPr/>
          </p:nvSpPr>
          <p:spPr>
            <a:xfrm>
              <a:off x="2926006" y="2400300"/>
              <a:ext cx="1584920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gate-2-accent"/>
            <p:cNvSpPr/>
            <p:nvPr/>
          </p:nvSpPr>
          <p:spPr>
            <a:xfrm>
              <a:off x="2926006" y="2400300"/>
              <a:ext cx="1584920" cy="3960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" name="gate-2-rule"/>
            <p:cNvCxnSpPr/>
            <p:nvPr/>
          </p:nvCxnSpPr>
          <p:spPr>
            <a:xfrm>
              <a:off x="2973554" y="3048381"/>
              <a:ext cx="1489825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ate-3" descr="gate-3"/>
          <p:cNvGrpSpPr/>
          <p:nvPr/>
        </p:nvGrpSpPr>
        <p:grpSpPr>
          <a:xfrm>
            <a:off x="4876678" y="2400300"/>
            <a:ext cx="1584920" cy="720090"/>
            <a:chOff x="4876678" y="2400300"/>
            <a:chExt cx="1584920" cy="720090"/>
          </a:xfrm>
        </p:grpSpPr>
        <p:sp>
          <p:nvSpPr>
            <p:cNvPr id="19" name="gate-3-fill"/>
            <p:cNvSpPr/>
            <p:nvPr/>
          </p:nvSpPr>
          <p:spPr>
            <a:xfrm>
              <a:off x="4876678" y="2400300"/>
              <a:ext cx="1584920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gate-3-accent"/>
            <p:cNvSpPr/>
            <p:nvPr/>
          </p:nvSpPr>
          <p:spPr>
            <a:xfrm>
              <a:off x="4876678" y="2400300"/>
              <a:ext cx="1584920" cy="39604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1" name="gate-3-rule"/>
            <p:cNvCxnSpPr/>
            <p:nvPr/>
          </p:nvCxnSpPr>
          <p:spPr>
            <a:xfrm>
              <a:off x="4924225" y="3048381"/>
              <a:ext cx="1489825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ate-4" descr="gate-4"/>
          <p:cNvGrpSpPr/>
          <p:nvPr/>
        </p:nvGrpSpPr>
        <p:grpSpPr>
          <a:xfrm>
            <a:off x="6827349" y="2400300"/>
            <a:ext cx="1584920" cy="720090"/>
            <a:chOff x="6827349" y="2400300"/>
            <a:chExt cx="1584920" cy="720090"/>
          </a:xfrm>
        </p:grpSpPr>
        <p:sp>
          <p:nvSpPr>
            <p:cNvPr id="23" name="gate-4-fill"/>
            <p:cNvSpPr/>
            <p:nvPr/>
          </p:nvSpPr>
          <p:spPr>
            <a:xfrm>
              <a:off x="6827349" y="2400300"/>
              <a:ext cx="1584920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gate-4-accent"/>
            <p:cNvSpPr/>
            <p:nvPr/>
          </p:nvSpPr>
          <p:spPr>
            <a:xfrm>
              <a:off x="6827349" y="2400300"/>
              <a:ext cx="1584920" cy="3960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gate-4-rule"/>
            <p:cNvCxnSpPr/>
            <p:nvPr/>
          </p:nvCxnSpPr>
          <p:spPr>
            <a:xfrm>
              <a:off x="6874896" y="3048381"/>
              <a:ext cx="1489825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ate-5" descr="gate-5"/>
          <p:cNvGrpSpPr/>
          <p:nvPr/>
        </p:nvGrpSpPr>
        <p:grpSpPr>
          <a:xfrm>
            <a:off x="8778020" y="2400300"/>
            <a:ext cx="1584920" cy="720090"/>
            <a:chOff x="8778020" y="2400300"/>
            <a:chExt cx="1584920" cy="720090"/>
          </a:xfrm>
        </p:grpSpPr>
        <p:sp>
          <p:nvSpPr>
            <p:cNvPr id="27" name="gate-5-fill"/>
            <p:cNvSpPr/>
            <p:nvPr/>
          </p:nvSpPr>
          <p:spPr>
            <a:xfrm>
              <a:off x="8778020" y="2400300"/>
              <a:ext cx="1584920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gate-5-accent"/>
            <p:cNvSpPr/>
            <p:nvPr/>
          </p:nvSpPr>
          <p:spPr>
            <a:xfrm>
              <a:off x="8778020" y="2400300"/>
              <a:ext cx="1584920" cy="3960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9" name="gate-5-rule"/>
            <p:cNvCxnSpPr/>
            <p:nvPr/>
          </p:nvCxnSpPr>
          <p:spPr>
            <a:xfrm>
              <a:off x="8825568" y="3048381"/>
              <a:ext cx="1489825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stop-panel" descr="stop-panel"/>
          <p:cNvGrpSpPr/>
          <p:nvPr/>
        </p:nvGrpSpPr>
        <p:grpSpPr>
          <a:xfrm>
            <a:off x="8534186" y="3566160"/>
            <a:ext cx="2804089" cy="1645920"/>
            <a:chOff x="8534186" y="3566160"/>
            <a:chExt cx="2804089" cy="1645920"/>
          </a:xfrm>
        </p:grpSpPr>
        <p:sp>
          <p:nvSpPr>
            <p:cNvPr id="31" name="stop-panel-fill"/>
            <p:cNvSpPr/>
            <p:nvPr/>
          </p:nvSpPr>
          <p:spPr>
            <a:xfrm>
              <a:off x="8534186" y="3566160"/>
              <a:ext cx="2804089" cy="1645920"/>
            </a:xfrm>
            <a:prstGeom prst="roundRect">
              <a:avLst/>
            </a:prstGeom>
            <a:solidFill>
              <a:srgbClr val="5C1120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stop-panel-accent"/>
            <p:cNvSpPr/>
            <p:nvPr/>
          </p:nvSpPr>
          <p:spPr>
            <a:xfrm>
              <a:off x="8534186" y="3566160"/>
              <a:ext cx="2804089" cy="90525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3" name="stop-panel-rule"/>
            <p:cNvCxnSpPr/>
            <p:nvPr/>
          </p:nvCxnSpPr>
          <p:spPr>
            <a:xfrm>
              <a:off x="8618309" y="5047488"/>
              <a:ext cx="2635844" cy="164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itle"/>
          <p:cNvSpPr txBox="1"/>
          <p:nvPr/>
        </p:nvSpPr>
        <p:spPr>
          <a:xfrm>
            <a:off x="889993" y="356616"/>
            <a:ext cx="80465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25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AI-PPT质量门禁与停机机制</a:t>
            </a:r>
          </a:p>
        </p:txBody>
      </p:sp>
      <p:sp>
        <p:nvSpPr>
          <p:cNvPr id="35" name="subtitle"/>
          <p:cNvSpPr txBox="1"/>
          <p:nvPr/>
        </p:nvSpPr>
        <p:spPr>
          <a:xfrm>
            <a:off x="914377" y="994409"/>
            <a:ext cx="755885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未知问题不猜测，证据不足就停机</a:t>
            </a:r>
          </a:p>
        </p:txBody>
      </p:sp>
      <p:sp>
        <p:nvSpPr>
          <p:cNvPr id="36" name="case-label"/>
          <p:cNvSpPr txBox="1"/>
          <p:nvPr/>
        </p:nvSpPr>
        <p:spPr>
          <a:xfrm>
            <a:off x="8778020" y="51435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CASE REPLAY / NATIVE EDITABLE</a:t>
            </a:r>
          </a:p>
        </p:txBody>
      </p:sp>
      <p:sp>
        <p:nvSpPr>
          <p:cNvPr id="37" name="gate-1-index"/>
          <p:cNvSpPr txBox="1"/>
          <p:nvPr/>
        </p:nvSpPr>
        <p:spPr>
          <a:xfrm>
            <a:off x="1194786" y="259232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38" name="gate-1-label"/>
          <p:cNvSpPr txBox="1"/>
          <p:nvPr/>
        </p:nvSpPr>
        <p:spPr>
          <a:xfrm>
            <a:off x="1889712" y="2585466"/>
            <a:ext cx="487667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输入校验</a:t>
            </a:r>
          </a:p>
        </p:txBody>
      </p:sp>
      <p:sp>
        <p:nvSpPr>
          <p:cNvPr id="39" name="gate-2-index"/>
          <p:cNvSpPr txBox="1"/>
          <p:nvPr/>
        </p:nvSpPr>
        <p:spPr>
          <a:xfrm>
            <a:off x="3145457" y="259232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40" name="gate-2-label"/>
          <p:cNvSpPr txBox="1"/>
          <p:nvPr/>
        </p:nvSpPr>
        <p:spPr>
          <a:xfrm>
            <a:off x="3840383" y="2585466"/>
            <a:ext cx="487667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路由确认</a:t>
            </a:r>
          </a:p>
        </p:txBody>
      </p:sp>
      <p:sp>
        <p:nvSpPr>
          <p:cNvPr id="41" name="gate-3-index"/>
          <p:cNvSpPr txBox="1"/>
          <p:nvPr/>
        </p:nvSpPr>
        <p:spPr>
          <a:xfrm>
            <a:off x="5096128" y="259232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E600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42" name="gate-3-label"/>
          <p:cNvSpPr txBox="1"/>
          <p:nvPr/>
        </p:nvSpPr>
        <p:spPr>
          <a:xfrm>
            <a:off x="5791055" y="2585466"/>
            <a:ext cx="487667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原生结构</a:t>
            </a:r>
          </a:p>
        </p:txBody>
      </p:sp>
      <p:sp>
        <p:nvSpPr>
          <p:cNvPr id="43" name="gate-4-index"/>
          <p:cNvSpPr txBox="1"/>
          <p:nvPr/>
        </p:nvSpPr>
        <p:spPr>
          <a:xfrm>
            <a:off x="7046799" y="259232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4" name="gate-4-label"/>
          <p:cNvSpPr txBox="1"/>
          <p:nvPr/>
        </p:nvSpPr>
        <p:spPr>
          <a:xfrm>
            <a:off x="7741726" y="2585466"/>
            <a:ext cx="487667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视觉回归</a:t>
            </a:r>
          </a:p>
        </p:txBody>
      </p:sp>
      <p:sp>
        <p:nvSpPr>
          <p:cNvPr id="45" name="gate-5-index"/>
          <p:cNvSpPr txBox="1"/>
          <p:nvPr/>
        </p:nvSpPr>
        <p:spPr>
          <a:xfrm>
            <a:off x="8997470" y="259232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46" name="gate-5-label"/>
          <p:cNvSpPr txBox="1"/>
          <p:nvPr/>
        </p:nvSpPr>
        <p:spPr>
          <a:xfrm>
            <a:off x="9692397" y="2585466"/>
            <a:ext cx="487667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人工收口</a:t>
            </a:r>
          </a:p>
        </p:txBody>
      </p:sp>
      <p:sp>
        <p:nvSpPr>
          <p:cNvPr id="47" name="stop-panel-title"/>
          <p:cNvSpPr txBox="1"/>
          <p:nvPr/>
        </p:nvSpPr>
        <p:spPr>
          <a:xfrm>
            <a:off x="8899937" y="3909059"/>
            <a:ext cx="2072588" cy="34290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600" b="1" i="0">
                <a:solidFill>
                  <a:srgbClr val="E600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立即停机</a:t>
            </a:r>
          </a:p>
        </p:txBody>
      </p:sp>
      <p:sp>
        <p:nvSpPr>
          <p:cNvPr id="48" name="stop-panel-copy"/>
          <p:cNvSpPr txBox="1"/>
          <p:nvPr/>
        </p:nvSpPr>
        <p:spPr>
          <a:xfrm>
            <a:off x="8899937" y="4457700"/>
            <a:ext cx="2072588" cy="41148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未知问题</a:t>
            </a:r>
          </a:p>
          <a:p>
            <a:pPr algn="ctr"/>
            <a:r>
              <a:rPr sz="1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不得静默回退</a:t>
            </a:r>
          </a:p>
        </p:txBody>
      </p:sp>
      <p:sp>
        <p:nvSpPr>
          <p:cNvPr id="49" name="evidence-chain"/>
          <p:cNvSpPr txBox="1"/>
          <p:nvPr/>
        </p:nvSpPr>
        <p:spPr>
          <a:xfrm>
            <a:off x="975335" y="4937760"/>
            <a:ext cx="670543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baseline → candidate → object audit → visual compare → mutation smoke</a:t>
            </a:r>
          </a:p>
        </p:txBody>
      </p:sp>
      <p:sp>
        <p:nvSpPr>
          <p:cNvPr id="50" name="governance-note"/>
          <p:cNvSpPr txBox="1"/>
          <p:nvPr/>
        </p:nvSpPr>
        <p:spPr>
          <a:xfrm>
            <a:off x="8046518" y="6172200"/>
            <a:ext cx="329175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5 gates / 1 failure branch / hard stop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