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accent"/>
          <p:cNvSpPr/>
          <p:nvPr/>
        </p:nvSpPr>
        <p:spPr>
          <a:xfrm>
            <a:off x="670543" y="445770"/>
            <a:ext cx="73150" cy="514350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title-rule"/>
          <p:cNvCxnSpPr/>
          <p:nvPr/>
        </p:nvCxnSpPr>
        <p:spPr>
          <a:xfrm>
            <a:off x="670543" y="1165860"/>
            <a:ext cx="10850608" cy="0"/>
          </a:xfrm>
          <a:prstGeom prst="line">
            <a:avLst/>
          </a:prstGeom>
          <a:ln w="8890">
            <a:solidFill>
              <a:srgbClr val="355A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policy-panel" descr="policy-panel"/>
          <p:cNvGrpSpPr/>
          <p:nvPr/>
        </p:nvGrpSpPr>
        <p:grpSpPr>
          <a:xfrm>
            <a:off x="853418" y="1508760"/>
            <a:ext cx="2194505" cy="3977639"/>
            <a:chOff x="853418" y="1508760"/>
            <a:chExt cx="2194505" cy="3977639"/>
          </a:xfrm>
        </p:grpSpPr>
        <p:sp>
          <p:nvSpPr>
            <p:cNvPr id="6" name="policy-panel-fill"/>
            <p:cNvSpPr/>
            <p:nvPr/>
          </p:nvSpPr>
          <p:spPr>
            <a:xfrm>
              <a:off x="853418" y="1508760"/>
              <a:ext cx="2194505" cy="3977639"/>
            </a:xfrm>
            <a:prstGeom prst="roundRect">
              <a:avLst/>
            </a:prstGeom>
            <a:solidFill>
              <a:srgbClr val="0B2747"/>
            </a:solidFill>
            <a:ln w="10160">
              <a:solidFill>
                <a:srgbClr val="355A7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policy-panel-accent"/>
            <p:cNvSpPr/>
            <p:nvPr/>
          </p:nvSpPr>
          <p:spPr>
            <a:xfrm>
              <a:off x="853418" y="1508760"/>
              <a:ext cx="2194505" cy="218770"/>
            </a:xfrm>
            <a:prstGeom prst="rect">
              <a:avLst/>
            </a:prstGeom>
            <a:solidFill>
              <a:srgbClr val="E6001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policy-panel-rule"/>
            <p:cNvCxnSpPr/>
            <p:nvPr/>
          </p:nvCxnSpPr>
          <p:spPr>
            <a:xfrm>
              <a:off x="919253" y="5088636"/>
              <a:ext cx="2062835" cy="3977"/>
            </a:xfrm>
            <a:prstGeom prst="line">
              <a:avLst/>
            </a:prstGeom>
            <a:ln w="7620">
              <a:solidFill>
                <a:srgbClr val="355A7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9" name="service-fee-table"/>
          <p:cNvGraphicFramePr>
            <a:graphicFrameLocks noGrp="1"/>
          </p:cNvGraphicFramePr>
          <p:nvPr/>
        </p:nvGraphicFramePr>
        <p:xfrm>
          <a:off x="3413674" y="1508760"/>
          <a:ext cx="7924601" cy="3970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0671"/>
                <a:gridCol w="1950671"/>
                <a:gridCol w="2194505"/>
                <a:gridCol w="1828754"/>
              </a:tblGrid>
              <a:tr h="5143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业务场景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收入变化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服务费标准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计提周期</a:t>
                      </a:r>
                    </a:p>
                  </a:txBody>
                  <a:tcPr>
                    <a:solidFill>
                      <a:srgbClr val="9B0B1B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存量升档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指定套餐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新装发展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渠道激励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可核对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统一标准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月度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增收场景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结果留痕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按政策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周期锁定</a:t>
                      </a:r>
                    </a:p>
                  </a:txBody>
                  <a:tcPr>
                    <a:solidFill>
                      <a:srgbClr val="F5F8FC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  <a:tr h="576072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复核口径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来源绑定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可追溯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061A35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可回放</a:t>
                      </a:r>
                    </a:p>
                  </a:txBody>
                  <a:tcPr>
                    <a:solidFill>
                      <a:srgbClr val="EAF1F8"/>
                    </a:solidFill>
                    <a:lnL w="8890">
                      <a:solidFill>
                        <a:srgbClr val="9EB3C8"/>
                      </a:solidFill>
                      <a:prstDash val="solid"/>
                    </a:lnL>
                    <a:lnR w="8890">
                      <a:solidFill>
                        <a:srgbClr val="9EB3C8"/>
                      </a:solidFill>
                      <a:prstDash val="solid"/>
                    </a:lnR>
                    <a:lnT w="8890">
                      <a:solidFill>
                        <a:srgbClr val="9EB3C8"/>
                      </a:solidFill>
                      <a:prstDash val="solid"/>
                    </a:lnT>
                    <a:lnB w="8890">
                      <a:solidFill>
                        <a:srgbClr val="9EB3C8"/>
                      </a:solidFill>
                      <a:prstDash val="solid"/>
                    </a:lnB>
                    <a:tcMar>
                      <a:marL w="508" type="dxa"/>
                      <a:marR w="508" type="dxa"/>
                      <a:marT w="317" type="dxa"/>
                      <a:marB w="317" type="dxa"/>
                    </a:tcMar>
                  </a:tcPr>
                </a:tc>
              </a:tr>
            </a:tbl>
          </a:graphicData>
        </a:graphic>
      </p:graphicFrame>
      <p:sp>
        <p:nvSpPr>
          <p:cNvPr id="10" name="title"/>
          <p:cNvSpPr txBox="1"/>
          <p:nvPr/>
        </p:nvSpPr>
        <p:spPr>
          <a:xfrm>
            <a:off x="889993" y="356616"/>
            <a:ext cx="8046518" cy="6172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25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渠道服务费标准总览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914377" y="994409"/>
            <a:ext cx="7558850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统一标准、清晰计提、结果可核对</a:t>
            </a:r>
          </a:p>
        </p:txBody>
      </p:sp>
      <p:sp>
        <p:nvSpPr>
          <p:cNvPr id="12" name="case-label"/>
          <p:cNvSpPr txBox="1"/>
          <p:nvPr/>
        </p:nvSpPr>
        <p:spPr>
          <a:xfrm>
            <a:off x="8778020" y="514350"/>
            <a:ext cx="2682172" cy="27432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CASE REPLAY / NATIVE EDITABLE</a:t>
            </a:r>
          </a:p>
        </p:txBody>
      </p:sp>
      <p:sp>
        <p:nvSpPr>
          <p:cNvPr id="13" name="policy-panel-title"/>
          <p:cNvSpPr txBox="1"/>
          <p:nvPr/>
        </p:nvSpPr>
        <p:spPr>
          <a:xfrm>
            <a:off x="1097252" y="2125980"/>
            <a:ext cx="1706837" cy="68580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5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POLICY</a:t>
            </a:r>
          </a:p>
          <a:p>
            <a:pPr algn="l"/>
            <a:r>
              <a:rPr sz="1500" b="1" i="0">
                <a:solidFill>
                  <a:srgbClr val="E60012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MATRIX</a:t>
            </a:r>
          </a:p>
        </p:txBody>
      </p:sp>
      <p:sp>
        <p:nvSpPr>
          <p:cNvPr id="14" name="policy-panel-copy"/>
          <p:cNvSpPr txBox="1"/>
          <p:nvPr/>
        </p:nvSpPr>
        <p:spPr>
          <a:xfrm>
            <a:off x="1097252" y="3360420"/>
            <a:ext cx="1463003" cy="116586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收入</a:t>
            </a:r>
          </a:p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标准</a:t>
            </a:r>
          </a:p>
          <a:p>
            <a:pPr algn="l"/>
            <a:r>
              <a:rPr sz="1100" b="1" i="0">
                <a:solidFill>
                  <a:srgbClr val="F4F7FB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周期</a:t>
            </a:r>
          </a:p>
        </p:txBody>
      </p:sp>
      <p:sp>
        <p:nvSpPr>
          <p:cNvPr id="15" name="table-callout"/>
          <p:cNvSpPr txBox="1"/>
          <p:nvPr/>
        </p:nvSpPr>
        <p:spPr>
          <a:xfrm>
            <a:off x="8899937" y="1783080"/>
            <a:ext cx="1828754" cy="20574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750" b="1" i="0">
                <a:solidFill>
                  <a:srgbClr val="1687FF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TABLE / NATIVE</a:t>
            </a:r>
          </a:p>
        </p:txBody>
      </p:sp>
      <p:sp>
        <p:nvSpPr>
          <p:cNvPr id="16" name="table-footnote"/>
          <p:cNvSpPr txBox="1"/>
          <p:nvPr/>
        </p:nvSpPr>
        <p:spPr>
          <a:xfrm>
            <a:off x="3413674" y="5760720"/>
            <a:ext cx="7924601" cy="240030"/>
          </a:xfrm>
          <a:prstGeom prst="rect">
            <a:avLst/>
          </a:prstGeom>
          <a:noFill/>
        </p:spPr>
        <p:txBody>
          <a:bodyPr wrap="square" anchor="t" lIns="127" rIns="127" tIns="63" bIns="63">
            <a:spAutoFit/>
          </a:bodyPr>
          <a:lstStyle/>
          <a:p>
            <a:pPr algn="r"/>
            <a:r>
              <a:rPr sz="850" b="0" i="0">
                <a:solidFill>
                  <a:srgbClr val="A9BED5">
                    <a:alpha val="100000"/>
                  </a:srgbClr>
                </a:solidFill>
                <a:latin typeface="Noto Sans CJK SC"/>
                <a:ea typeface="Noto Sans CJK SC"/>
                <a:cs typeface="Noto Sans CJK SC"/>
              </a:rPr>
              <a:t>行高、列宽、网格、单元格文字均保留为可编辑语义对象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