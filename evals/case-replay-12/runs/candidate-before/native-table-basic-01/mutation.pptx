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policy-panel" descr="policy-panel"/>
          <p:cNvGrpSpPr/>
          <p:nvPr/>
        </p:nvGrpSpPr>
        <p:grpSpPr>
          <a:xfrm>
            <a:off x="853418" y="1508760"/>
            <a:ext cx="2194505" cy="3977639"/>
            <a:chOff x="853418" y="1508760"/>
            <a:chExt cx="2194505" cy="3977639"/>
          </a:xfrm>
        </p:grpSpPr>
        <p:sp>
          <p:nvSpPr>
            <p:cNvPr id="6" name="policy-panel-fill"/>
            <p:cNvSpPr/>
            <p:nvPr/>
          </p:nvSpPr>
          <p:spPr>
            <a:xfrm>
              <a:off x="853418" y="1508760"/>
              <a:ext cx="2194505" cy="3977639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policy-panel-accent"/>
            <p:cNvSpPr/>
            <p:nvPr/>
          </p:nvSpPr>
          <p:spPr>
            <a:xfrm>
              <a:off x="853418" y="1508760"/>
              <a:ext cx="2194505" cy="21877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policy-panel-rule"/>
            <p:cNvCxnSpPr/>
            <p:nvPr/>
          </p:nvCxnSpPr>
          <p:spPr>
            <a:xfrm>
              <a:off x="919253" y="5088636"/>
              <a:ext cx="2062835" cy="39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service-fee-table"/>
          <p:cNvGraphicFramePr>
            <a:graphicFrameLocks noGrp="1"/>
          </p:cNvGraphicFramePr>
          <p:nvPr/>
        </p:nvGraphicFramePr>
        <p:xfrm>
          <a:off x="3413674" y="1508760"/>
          <a:ext cx="7924601" cy="3970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671"/>
                <a:gridCol w="1950671"/>
                <a:gridCol w="2194505"/>
                <a:gridCol w="1828754"/>
              </a:tblGrid>
              <a:tr h="514350">
                <a:tc>
                  <a:txBody>
                    <a:bodyPr/>
                    <a:lstStyle/>
                    <a:p>
                      <a:r>
                        <a:t>MUTATION_OK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收入变化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服务费标准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计提周期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存量升档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指定套餐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新装发展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渠道激励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增收场景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结果留痕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按政策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周期锁定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复核口径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来源绑定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sp>
        <p:nvSpPr>
          <p:cNvPr id="10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渠道服务费标准总览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统一标准、清晰计提、结果可核对</a:t>
            </a:r>
          </a:p>
        </p:txBody>
      </p:sp>
      <p:sp>
        <p:nvSpPr>
          <p:cNvPr id="12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13" name="policy-panel-title"/>
          <p:cNvSpPr txBox="1"/>
          <p:nvPr/>
        </p:nvSpPr>
        <p:spPr>
          <a:xfrm>
            <a:off x="1097252" y="2125980"/>
            <a:ext cx="1706837" cy="6858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5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POLICY</a:t>
            </a:r>
          </a:p>
          <a:p>
            <a:pPr algn="l"/>
            <a:r>
              <a:rPr sz="15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MATRIX</a:t>
            </a:r>
          </a:p>
        </p:txBody>
      </p:sp>
      <p:sp>
        <p:nvSpPr>
          <p:cNvPr id="14" name="policy-panel-copy"/>
          <p:cNvSpPr txBox="1"/>
          <p:nvPr/>
        </p:nvSpPr>
        <p:spPr>
          <a:xfrm>
            <a:off x="1097252" y="3360420"/>
            <a:ext cx="1463003" cy="116586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  <a:p>
            <a:pPr algn="l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收入</a:t>
            </a:r>
          </a:p>
          <a:p>
            <a:pPr algn="l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标准</a:t>
            </a:r>
          </a:p>
          <a:p>
            <a:pPr algn="l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周期</a:t>
            </a:r>
          </a:p>
        </p:txBody>
      </p:sp>
      <p:sp>
        <p:nvSpPr>
          <p:cNvPr id="15" name="table-callout"/>
          <p:cNvSpPr txBox="1"/>
          <p:nvPr/>
        </p:nvSpPr>
        <p:spPr>
          <a:xfrm>
            <a:off x="8899937" y="1783080"/>
            <a:ext cx="1828754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TABLE / NATIVE</a:t>
            </a:r>
          </a:p>
        </p:txBody>
      </p:sp>
      <p:sp>
        <p:nvSpPr>
          <p:cNvPr id="16" name="table-footnote"/>
          <p:cNvSpPr txBox="1"/>
          <p:nvPr/>
        </p:nvSpPr>
        <p:spPr>
          <a:xfrm>
            <a:off x="3413674" y="5760720"/>
            <a:ext cx="7924601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行高、列宽、网格、单元格文字均保留为可编辑语义对象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