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0" autoCompressPictures="0" embedTrueTypeFonts="1">
  <p:sldMasterIdLst>
    <p:sldMasterId id="2147483648" r:id="rId1"/>
  </p:sldMasterIdLst>
  <p:sldIdLst>
    <p:sldId id="256" r:id="rId7"/>
  </p:sldIdLst>
  <p:sldSz cx="12191695" cy="6858000" type="screen4x3"/>
  <p:notesSz cx="6858000" cy="9144000"/>
  <p:embeddedFontLst>
    <p:embeddedFont>
      <p:font typeface="Noto Sans CJK SC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notesMaster" Target="notesMasters/notesMaster1.xml" /><ns0:Relationship Id="rId9" Type="http://schemas.openxmlformats.org/officeDocument/2006/relationships/font" Target="fonts/font1.fntdata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reconstruction R1. Source image is visual authority. Formal text is native and was transcribed visually; the literal masked amount **元 is intentionally preserved and requires business confirmation. Six panels, logo, product visuals and interview illustration are independent replaceable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generated light blue and white inf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rame" descr="generated navy header, panel atmosphere and red footer frame; formal text exclu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verview-badge" descr="red overview label background"/>
          <p:cNvSpPr/>
          <p:nvPr/>
        </p:nvSpPr>
        <p:spPr>
          <a:xfrm>
            <a:off x="317492" y="889000"/>
            <a:ext cx="777855" cy="444500"/>
          </a:xfrm>
          <a:prstGeom prst="roundRect">
            <a:avLst>
              <a:gd name="adj" fmla="val 18000"/>
            </a:avLst>
          </a:prstGeom>
          <a:solidFill>
            <a:srgbClr val="D71920"/>
          </a:solidFill>
          <a:ln w="6350">
            <a:solidFill>
              <a:srgbClr val="D71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anel-01" descr="independent panel-01 frame without formal tex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92" y="1651000"/>
            <a:ext cx="3841653" cy="2611437"/>
          </a:xfrm>
          <a:prstGeom prst="rect">
            <a:avLst/>
          </a:prstGeom>
        </p:spPr>
      </p:pic>
      <p:pic>
        <p:nvPicPr>
          <p:cNvPr id="6" name="panel-02" descr="independent panel-02 frame without formal tex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8205" y="1651000"/>
            <a:ext cx="3063798" cy="2611437"/>
          </a:xfrm>
          <a:prstGeom prst="rect">
            <a:avLst/>
          </a:prstGeom>
        </p:spPr>
      </p:pic>
      <p:pic>
        <p:nvPicPr>
          <p:cNvPr id="7" name="panel-03" descr="independent panel-03 frame without formal tex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188" y="1651000"/>
            <a:ext cx="4389327" cy="2611437"/>
          </a:xfrm>
          <a:prstGeom prst="rect">
            <a:avLst/>
          </a:prstGeom>
        </p:spPr>
      </p:pic>
      <p:pic>
        <p:nvPicPr>
          <p:cNvPr id="8" name="panel-04" descr="independent panel-04 frame without formal tex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492" y="4357687"/>
            <a:ext cx="3841653" cy="1952625"/>
          </a:xfrm>
          <a:prstGeom prst="rect">
            <a:avLst/>
          </a:prstGeom>
        </p:spPr>
      </p:pic>
      <p:pic>
        <p:nvPicPr>
          <p:cNvPr id="9" name="panel-05" descr="independent panel-05 frame without formal tex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9954" y="4389437"/>
            <a:ext cx="3659095" cy="1920875"/>
          </a:xfrm>
          <a:prstGeom prst="rect">
            <a:avLst/>
          </a:prstGeom>
        </p:spPr>
      </p:pic>
      <p:pic>
        <p:nvPicPr>
          <p:cNvPr id="10" name="panel-06" descr="independent panel-06 frame without formal tex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3984" y="4405312"/>
            <a:ext cx="3730531" cy="1905000"/>
          </a:xfrm>
          <a:prstGeom prst="rect">
            <a:avLst/>
          </a:prstGeom>
        </p:spPr>
      </p:pic>
      <p:pic>
        <p:nvPicPr>
          <p:cNvPr id="11" name="brand-logo" descr="complete China Unicom logo lockup; uncropped and replaceab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2" y="142875"/>
            <a:ext cx="1627146" cy="492125"/>
          </a:xfrm>
          <a:prstGeom prst="rect">
            <a:avLst/>
          </a:prstGeom>
        </p:spPr>
      </p:pic>
      <p:pic>
        <p:nvPicPr>
          <p:cNvPr id="12" name="product-phone" descr="independent smartphone product visua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1840" y="619125"/>
            <a:ext cx="849291" cy="1039812"/>
          </a:xfrm>
          <a:prstGeom prst="rect">
            <a:avLst/>
          </a:prstGeom>
        </p:spPr>
      </p:pic>
      <p:pic>
        <p:nvPicPr>
          <p:cNvPr id="13" name="product-fttr" descr="independent FTTR equipment and Wi-Fi visua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24811" y="206375"/>
            <a:ext cx="1809704" cy="1460500"/>
          </a:xfrm>
          <a:prstGeom prst="rect">
            <a:avLst/>
          </a:prstGeom>
        </p:spPr>
      </p:pic>
      <p:pic>
        <p:nvPicPr>
          <p:cNvPr id="14" name="panel-01-icon" descr="panel-01 sourc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865" y="1722437"/>
            <a:ext cx="404802" cy="404812"/>
          </a:xfrm>
          <a:prstGeom prst="rect">
            <a:avLst/>
          </a:prstGeom>
        </p:spPr>
      </p:pic>
      <p:pic>
        <p:nvPicPr>
          <p:cNvPr id="15" name="panel-02-icon" descr="panel-02 source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5515" y="1722437"/>
            <a:ext cx="404802" cy="404812"/>
          </a:xfrm>
          <a:prstGeom prst="rect">
            <a:avLst/>
          </a:prstGeom>
        </p:spPr>
      </p:pic>
      <p:pic>
        <p:nvPicPr>
          <p:cNvPr id="16" name="panel-03-icon" descr="panel-03 sourc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0436" y="1722437"/>
            <a:ext cx="404802" cy="404812"/>
          </a:xfrm>
          <a:prstGeom prst="rect">
            <a:avLst/>
          </a:prstGeom>
        </p:spPr>
      </p:pic>
      <p:pic>
        <p:nvPicPr>
          <p:cNvPr id="17" name="panel-04-icon" descr="panel-04 source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6865" y="4437062"/>
            <a:ext cx="404802" cy="404812"/>
          </a:xfrm>
          <a:prstGeom prst="rect">
            <a:avLst/>
          </a:prstGeom>
        </p:spPr>
      </p:pic>
      <p:pic>
        <p:nvPicPr>
          <p:cNvPr id="18" name="panel-05-icon" descr="panel-05 source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97264" y="4452937"/>
            <a:ext cx="404802" cy="404812"/>
          </a:xfrm>
          <a:prstGeom prst="rect">
            <a:avLst/>
          </a:prstGeom>
        </p:spPr>
      </p:pic>
      <p:pic>
        <p:nvPicPr>
          <p:cNvPr id="19" name="panel-06-icon" descr="panel-06 source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07169" y="4468812"/>
            <a:ext cx="404802" cy="404812"/>
          </a:xfrm>
          <a:prstGeom prst="rect">
            <a:avLst/>
          </a:prstGeom>
        </p:spPr>
      </p:pic>
      <p:pic>
        <p:nvPicPr>
          <p:cNvPr id="20" name="interview-illustration" descr="independent purple face-to-face interview illustrati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35583" y="5000625"/>
            <a:ext cx="1166783" cy="1063625"/>
          </a:xfrm>
          <a:prstGeom prst="rect">
            <a:avLst/>
          </a:prstGeom>
        </p:spPr>
      </p:pic>
      <p:sp>
        <p:nvSpPr>
          <p:cNvPr id="21" name="title"/>
          <p:cNvSpPr txBox="1"/>
          <p:nvPr/>
        </p:nvSpPr>
        <p:spPr>
          <a:xfrm>
            <a:off x="2365315" y="142875"/>
            <a:ext cx="7143571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案例｜存量双终端优秀案例（</a:t>
            </a:r>
            <a:r>
              <a:rPr sz="2700" b="1" i="0">
                <a:solidFill>
                  <a:srgbClr val="FFD33D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手机+FTTR</a:t>
            </a:r>
            <a:r>
              <a:rPr sz="2700" b="1" i="0">
                <a:solidFill>
                  <a:srgbClr val="FFFF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  <p:sp>
        <p:nvSpPr>
          <p:cNvPr id="22" name="overview-badge-label"/>
          <p:cNvSpPr txBox="1"/>
          <p:nvPr/>
        </p:nvSpPr>
        <p:spPr>
          <a:xfrm>
            <a:off x="317492" y="881062"/>
            <a:ext cx="793730" cy="460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概述</a:t>
            </a:r>
          </a:p>
        </p:txBody>
      </p:sp>
      <p:sp>
        <p:nvSpPr>
          <p:cNvPr id="23" name="overview-line-1"/>
          <p:cNvSpPr txBox="1"/>
          <p:nvPr/>
        </p:nvSpPr>
        <p:spPr>
          <a:xfrm>
            <a:off x="1269968" y="896937"/>
            <a:ext cx="10477237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10" b="0" i="0">
                <a:solidFill>
                  <a:srgbClr val="22222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7月份智家畅越存量金融双终端（手机+FTTR），共办理</a:t>
            </a:r>
            <a:r>
              <a:rPr sz="131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464户</a:t>
            </a:r>
            <a:r>
              <a:rPr sz="1310" b="0" i="0">
                <a:solidFill>
                  <a:srgbClr val="22222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，双终端占比</a:t>
            </a:r>
            <a:r>
              <a:rPr sz="131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15.6%</a:t>
            </a:r>
            <a:r>
              <a:rPr sz="1310" b="0" i="0">
                <a:solidFill>
                  <a:srgbClr val="22222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，</a:t>
            </a:r>
          </a:p>
        </p:txBody>
      </p:sp>
      <p:sp>
        <p:nvSpPr>
          <p:cNvPr id="24" name="overview-line-2"/>
          <p:cNvSpPr txBox="1"/>
          <p:nvPr/>
        </p:nvSpPr>
        <p:spPr>
          <a:xfrm>
            <a:off x="1269968" y="1119187"/>
            <a:ext cx="10477237" cy="293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10" b="0" i="0">
                <a:solidFill>
                  <a:srgbClr val="22222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南召黄洋路、邓州团结路、内乡菊潭大街等网格办理较突出，现将优秀案例总结如下：</a:t>
            </a:r>
          </a:p>
        </p:txBody>
      </p:sp>
      <p:sp>
        <p:nvSpPr>
          <p:cNvPr id="25" name="p1-title"/>
          <p:cNvSpPr txBox="1"/>
          <p:nvPr/>
        </p:nvSpPr>
        <p:spPr>
          <a:xfrm>
            <a:off x="912789" y="1849437"/>
            <a:ext cx="1984325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一、客户来源</a:t>
            </a:r>
          </a:p>
        </p:txBody>
      </p:sp>
      <p:sp>
        <p:nvSpPr>
          <p:cNvPr id="26" name="p1-b1"/>
          <p:cNvSpPr txBox="1"/>
          <p:nvPr/>
        </p:nvSpPr>
        <p:spPr>
          <a:xfrm>
            <a:off x="436551" y="2166937"/>
            <a:ext cx="3571785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营销场景：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回访邀约+进厅用户查比算。</a:t>
            </a:r>
          </a:p>
        </p:txBody>
      </p:sp>
      <p:sp>
        <p:nvSpPr>
          <p:cNvPr id="27" name="p1-b2"/>
          <p:cNvSpPr txBox="1"/>
          <p:nvPr/>
        </p:nvSpPr>
        <p:spPr>
          <a:xfrm>
            <a:off x="452426" y="2413000"/>
            <a:ext cx="3611472" cy="6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端网侧适配用户：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以开展客户家庭网络使用情况为开头，提前预约上门服务；或现场展示 FTTR、手机实物，直观为用户核算综合优惠，以手机终端+终端升级FTTR+千兆提速+金融包装降门槛打动用户。</a:t>
            </a:r>
          </a:p>
        </p:txBody>
      </p:sp>
      <p:sp>
        <p:nvSpPr>
          <p:cNvPr id="28" name="p1-b3"/>
          <p:cNvSpPr txBox="1"/>
          <p:nvPr/>
        </p:nvSpPr>
        <p:spPr>
          <a:xfrm>
            <a:off x="452426" y="3063875"/>
            <a:ext cx="3611472" cy="619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套餐低无宽带用户、合约到期：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以服务回访为开头，逐步引入送手机送FTTR业务，通过赠送小礼品，邀约用户到厅查比算。</a:t>
            </a:r>
          </a:p>
        </p:txBody>
      </p:sp>
      <p:sp>
        <p:nvSpPr>
          <p:cNvPr id="29" name="p1-b4"/>
          <p:cNvSpPr txBox="1"/>
          <p:nvPr/>
        </p:nvSpPr>
        <p:spPr>
          <a:xfrm>
            <a:off x="452426" y="3690937"/>
            <a:ext cx="3611472" cy="460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进厅用户：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查用户弹窗，纸质罗列新旧套餐对比清单，清晰核算设备、手机、直降三重优惠。</a:t>
            </a:r>
          </a:p>
        </p:txBody>
      </p:sp>
      <p:sp>
        <p:nvSpPr>
          <p:cNvPr id="30" name="p2-title"/>
          <p:cNvSpPr txBox="1"/>
          <p:nvPr/>
        </p:nvSpPr>
        <p:spPr>
          <a:xfrm>
            <a:off x="4889377" y="1849437"/>
            <a:ext cx="2143071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E879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二、营销要点</a:t>
            </a:r>
          </a:p>
        </p:txBody>
      </p:sp>
      <p:sp>
        <p:nvSpPr>
          <p:cNvPr id="31" name="p2-b1"/>
          <p:cNvSpPr txBox="1"/>
          <p:nvPr/>
        </p:nvSpPr>
        <p:spPr>
          <a:xfrm>
            <a:off x="4413139" y="2198687"/>
            <a:ext cx="2817742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79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推荐次序：</a:t>
            </a:r>
            <a:r>
              <a:rPr sz="120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面客时要从高往低进行推荐，双终端--重金融或FTTR--畅越兜底</a:t>
            </a:r>
          </a:p>
        </p:txBody>
      </p:sp>
      <p:sp>
        <p:nvSpPr>
          <p:cNvPr id="32" name="p2-b2"/>
          <p:cNvSpPr txBox="1"/>
          <p:nvPr/>
        </p:nvSpPr>
        <p:spPr>
          <a:xfrm>
            <a:off x="4413139" y="2968625"/>
            <a:ext cx="281774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79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一句话卖点：</a:t>
            </a:r>
            <a:r>
              <a:rPr sz="120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咱现在把套餐升级到</a:t>
            </a:r>
            <a:r>
              <a:rPr sz="120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**元</a:t>
            </a:r>
            <a:r>
              <a:rPr sz="120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，全家共同消费，一套价值三千多元的品牌手机和超级WIFI大礼包仅需</a:t>
            </a:r>
            <a:r>
              <a:rPr sz="1200" b="1" i="0">
                <a:solidFill>
                  <a:srgbClr val="C51E2E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399元</a:t>
            </a:r>
            <a:r>
              <a:rPr sz="120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就可带走。</a:t>
            </a:r>
          </a:p>
        </p:txBody>
      </p:sp>
      <p:sp>
        <p:nvSpPr>
          <p:cNvPr id="33" name="p3-title"/>
          <p:cNvSpPr txBox="1"/>
          <p:nvPr/>
        </p:nvSpPr>
        <p:spPr>
          <a:xfrm>
            <a:off x="8056360" y="1849437"/>
            <a:ext cx="2381190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558A6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三、包装预案</a:t>
            </a:r>
          </a:p>
        </p:txBody>
      </p:sp>
      <p:sp>
        <p:nvSpPr>
          <p:cNvPr id="34" name="p3-intro"/>
          <p:cNvSpPr txBox="1"/>
          <p:nvPr/>
        </p:nvSpPr>
        <p:spPr>
          <a:xfrm>
            <a:off x="7635683" y="2206625"/>
            <a:ext cx="4048023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借助畅越购物车，提前规划产品包装方案。</a:t>
            </a:r>
          </a:p>
        </p:txBody>
      </p:sp>
      <p:sp>
        <p:nvSpPr>
          <p:cNvPr id="35" name="p3-b1"/>
          <p:cNvSpPr txBox="1"/>
          <p:nvPr/>
        </p:nvSpPr>
        <p:spPr>
          <a:xfrm>
            <a:off x="7635683" y="2532062"/>
            <a:ext cx="4048023" cy="658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58A6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① 基础档：</a:t>
            </a:r>
            <a:r>
              <a:rPr sz="12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根据弹窗画像定策略，提值30元为FTTR，提值30元购物车金融870元包装空间（vivo Y60手机），用户需补差价428元。</a:t>
            </a:r>
          </a:p>
        </p:txBody>
      </p:sp>
      <p:sp>
        <p:nvSpPr>
          <p:cNvPr id="36" name="p3-b2"/>
          <p:cNvSpPr txBox="1"/>
          <p:nvPr/>
        </p:nvSpPr>
        <p:spPr>
          <a:xfrm>
            <a:off x="7635683" y="3206750"/>
            <a:ext cx="4048023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58A6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② 家庭高配版：</a:t>
            </a:r>
            <a:r>
              <a:rPr sz="12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基础档上再提值10元，可降低用户补差价的金额，办理1张免费副卡，降低人均消费缓解用户消费感知。</a:t>
            </a:r>
          </a:p>
        </p:txBody>
      </p:sp>
      <p:sp>
        <p:nvSpPr>
          <p:cNvPr id="37" name="p4-title"/>
          <p:cNvSpPr txBox="1"/>
          <p:nvPr/>
        </p:nvSpPr>
        <p:spPr>
          <a:xfrm>
            <a:off x="912789" y="4556125"/>
            <a:ext cx="2381190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398B5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四、怎么搞定用户</a:t>
            </a:r>
          </a:p>
        </p:txBody>
      </p:sp>
      <p:sp>
        <p:nvSpPr>
          <p:cNvPr id="38" name="p4-b1"/>
          <p:cNvSpPr txBox="1"/>
          <p:nvPr/>
        </p:nvSpPr>
        <p:spPr>
          <a:xfrm>
            <a:off x="452426" y="4849812"/>
            <a:ext cx="3611472" cy="6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98B5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找痛点引入方案：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不直接推销高价套餐，立足用户现有使用情况切入，核消费，主动询问家庭宽带使用体验、家中上网人数、日常用网痛点，从“解决家庭网络不好”这个刚需作为沟通突破口，引入梯度金融优惠方案。</a:t>
            </a:r>
          </a:p>
        </p:txBody>
      </p:sp>
      <p:sp>
        <p:nvSpPr>
          <p:cNvPr id="39" name="p4-b2"/>
          <p:cNvSpPr txBox="1"/>
          <p:nvPr/>
        </p:nvSpPr>
        <p:spPr>
          <a:xfrm>
            <a:off x="436551" y="5540375"/>
            <a:ext cx="3611472" cy="722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98B5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打消用户涨价顾虑：</a:t>
            </a:r>
            <a:r>
              <a:rPr sz="105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通过资费对比、权益对比、实物价值核算，让用户渐感知两套方案的优惠力度、性价比差异，耐心解答用户对月交费、合约周期、流量通话、设备质保、手机权益等各类疑问，打消用户涨价顾虑，引导选择适配自身家庭最优方案。</a:t>
            </a:r>
          </a:p>
        </p:txBody>
      </p:sp>
      <p:sp>
        <p:nvSpPr>
          <p:cNvPr id="40" name="p5-title"/>
          <p:cNvSpPr txBox="1"/>
          <p:nvPr/>
        </p:nvSpPr>
        <p:spPr>
          <a:xfrm>
            <a:off x="4889377" y="4587875"/>
            <a:ext cx="2143071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6C4BB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五、面客促单</a:t>
            </a:r>
          </a:p>
        </p:txBody>
      </p:sp>
      <p:sp>
        <p:nvSpPr>
          <p:cNvPr id="41" name="p5-body"/>
          <p:cNvSpPr txBox="1"/>
          <p:nvPr/>
        </p:nvSpPr>
        <p:spPr>
          <a:xfrm>
            <a:off x="4429014" y="5064125"/>
            <a:ext cx="2063698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犹豫不决用户，借助外出上门面对面沟通优势，逐条耐心解读政策，结合用户家庭实际使用场景推荐适配方案，给予自主选择空间，耐心讲解建信任促成交。</a:t>
            </a:r>
          </a:p>
        </p:txBody>
      </p:sp>
      <p:sp>
        <p:nvSpPr>
          <p:cNvPr id="42" name="p6-title"/>
          <p:cNvSpPr txBox="1"/>
          <p:nvPr/>
        </p:nvSpPr>
        <p:spPr>
          <a:xfrm>
            <a:off x="8651658" y="4603750"/>
            <a:ext cx="2381190" cy="261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88FA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六、事后复盘</a:t>
            </a:r>
          </a:p>
        </p:txBody>
      </p:sp>
      <p:sp>
        <p:nvSpPr>
          <p:cNvPr id="43" name="p6-b1"/>
          <p:cNvSpPr txBox="1"/>
          <p:nvPr/>
        </p:nvSpPr>
        <p:spPr>
          <a:xfrm>
            <a:off x="8238918" y="4849812"/>
            <a:ext cx="3492412" cy="428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88FA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每日标准动作：</a:t>
            </a:r>
            <a:r>
              <a:rPr sz="112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晨会做情境演练，优秀人员点评，现场纠偏。</a:t>
            </a:r>
          </a:p>
        </p:txBody>
      </p:sp>
      <p:sp>
        <p:nvSpPr>
          <p:cNvPr id="44" name="p6-b2"/>
          <p:cNvSpPr txBox="1"/>
          <p:nvPr/>
        </p:nvSpPr>
        <p:spPr>
          <a:xfrm>
            <a:off x="8238918" y="5326062"/>
            <a:ext cx="3492412" cy="8810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188FA0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• 双终端形成案例档案：</a:t>
            </a:r>
            <a:r>
              <a:rPr sz="1120" b="0" i="0">
                <a:solidFill>
                  <a:srgbClr val="333333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引导营业员总结双终端成功案例，分享包装方案、成交点、营销场景。整理成经验案例材料，文字不变。</a:t>
            </a:r>
          </a:p>
        </p:txBody>
      </p:sp>
      <p:sp>
        <p:nvSpPr>
          <p:cNvPr id="45" name="footer-slogan"/>
          <p:cNvSpPr txBox="1"/>
          <p:nvPr/>
        </p:nvSpPr>
        <p:spPr>
          <a:xfrm>
            <a:off x="3413039" y="6532562"/>
            <a:ext cx="5397364" cy="2619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用心服务　创造价值　智家畅越　联通美好生活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