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6" name="top-channel-badge"/>
          <p:cNvSpPr/>
          <p:nvPr/>
        </p:nvSpPr>
        <p:spPr>
          <a:xfrm>
            <a:off x="73152" y="18288"/>
            <a:ext cx="777240" cy="777240"/>
          </a:xfrm>
          <a:prstGeom prst="downArrow">
            <a:avLst/>
          </a:prstGeom>
          <a:solidFill>
            <a:srgbClr val="D20A0A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op-partner"/>
          <p:cNvSpPr/>
          <p:nvPr/>
        </p:nvSpPr>
        <p:spPr>
          <a:xfrm>
            <a:off x="146304" y="786384"/>
            <a:ext cx="3291840" cy="1005840"/>
          </a:xfrm>
          <a:prstGeom prst="roundRect">
            <a:avLst/>
          </a:prstGeom>
          <a:solidFill>
            <a:srgbClr val="FDF0F0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op-earnings"/>
          <p:cNvSpPr/>
          <p:nvPr/>
        </p:nvSpPr>
        <p:spPr>
          <a:xfrm>
            <a:off x="3493008" y="576072"/>
            <a:ext cx="6574536" cy="1261872"/>
          </a:xfrm>
          <a:prstGeom prst="roundRect">
            <a:avLst/>
          </a:prstGeom>
          <a:solidFill>
            <a:srgbClr val="FDF0F0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op-total"/>
          <p:cNvSpPr/>
          <p:nvPr/>
        </p:nvSpPr>
        <p:spPr>
          <a:xfrm>
            <a:off x="10149840" y="786384"/>
            <a:ext cx="1810512" cy="868680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arnings-heading"/>
          <p:cNvSpPr/>
          <p:nvPr/>
        </p:nvSpPr>
        <p:spPr>
          <a:xfrm>
            <a:off x="4297680" y="676656"/>
            <a:ext cx="1554480" cy="274320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arnings-heading"/>
          <p:cNvSpPr/>
          <p:nvPr/>
        </p:nvSpPr>
        <p:spPr>
          <a:xfrm>
            <a:off x="7680960" y="676656"/>
            <a:ext cx="1554480" cy="274320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earnings-divider"/>
          <p:cNvCxnSpPr/>
          <p:nvPr/>
        </p:nvCxnSpPr>
        <p:spPr>
          <a:xfrm>
            <a:off x="6419088" y="667512"/>
            <a:ext cx="0" cy="1115568"/>
          </a:xfrm>
          <a:prstGeom prst="line">
            <a:avLst/>
          </a:prstGeom>
          <a:ln w="10160">
            <a:solidFill>
              <a:srgbClr val="D2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flow-card-1"/>
          <p:cNvSpPr/>
          <p:nvPr/>
        </p:nvSpPr>
        <p:spPr>
          <a:xfrm>
            <a:off x="457200" y="2103120"/>
            <a:ext cx="1975104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low-card-2"/>
          <p:cNvSpPr/>
          <p:nvPr/>
        </p:nvSpPr>
        <p:spPr>
          <a:xfrm>
            <a:off x="2971800" y="2103120"/>
            <a:ext cx="1975104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low-card-3"/>
          <p:cNvSpPr/>
          <p:nvPr/>
        </p:nvSpPr>
        <p:spPr>
          <a:xfrm>
            <a:off x="5468112" y="2103120"/>
            <a:ext cx="18470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low-card-4"/>
          <p:cNvSpPr/>
          <p:nvPr/>
        </p:nvSpPr>
        <p:spPr>
          <a:xfrm>
            <a:off x="7799831" y="2103120"/>
            <a:ext cx="1719072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low-card-5"/>
          <p:cNvSpPr/>
          <p:nvPr/>
        </p:nvSpPr>
        <p:spPr>
          <a:xfrm>
            <a:off x="9738360" y="2331720"/>
            <a:ext cx="2057400" cy="365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low-arrow-1"/>
          <p:cNvSpPr/>
          <p:nvPr/>
        </p:nvSpPr>
        <p:spPr>
          <a:xfrm>
            <a:off x="2450592" y="2267712"/>
            <a:ext cx="310896" cy="274320"/>
          </a:xfrm>
          <a:prstGeom prst="rightArrow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low-arrow-2"/>
          <p:cNvSpPr/>
          <p:nvPr/>
        </p:nvSpPr>
        <p:spPr>
          <a:xfrm>
            <a:off x="4956048" y="2267712"/>
            <a:ext cx="310896" cy="274320"/>
          </a:xfrm>
          <a:prstGeom prst="rightArrow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low-arrow-3"/>
          <p:cNvSpPr/>
          <p:nvPr/>
        </p:nvSpPr>
        <p:spPr>
          <a:xfrm>
            <a:off x="7388352" y="2267712"/>
            <a:ext cx="310896" cy="274320"/>
          </a:xfrm>
          <a:prstGeom prst="rightArrow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commission-card-1"/>
          <p:cNvSpPr/>
          <p:nvPr/>
        </p:nvSpPr>
        <p:spPr>
          <a:xfrm>
            <a:off x="274320" y="2834640"/>
            <a:ext cx="3749039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commission-card-1-header"/>
          <p:cNvSpPr/>
          <p:nvPr/>
        </p:nvSpPr>
        <p:spPr>
          <a:xfrm>
            <a:off x="274320" y="2834640"/>
            <a:ext cx="3749039" cy="301752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commission-card-2"/>
          <p:cNvSpPr/>
          <p:nvPr/>
        </p:nvSpPr>
        <p:spPr>
          <a:xfrm>
            <a:off x="4206240" y="2834640"/>
            <a:ext cx="33832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commission-card-2-header"/>
          <p:cNvSpPr/>
          <p:nvPr/>
        </p:nvSpPr>
        <p:spPr>
          <a:xfrm>
            <a:off x="4206240" y="2834640"/>
            <a:ext cx="3383280" cy="301752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commission-card-3"/>
          <p:cNvSpPr/>
          <p:nvPr/>
        </p:nvSpPr>
        <p:spPr>
          <a:xfrm>
            <a:off x="7818120" y="2834640"/>
            <a:ext cx="3749039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commission-card-3-header"/>
          <p:cNvSpPr/>
          <p:nvPr/>
        </p:nvSpPr>
        <p:spPr>
          <a:xfrm>
            <a:off x="7818120" y="2834640"/>
            <a:ext cx="3749039" cy="301752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summary-band"/>
          <p:cNvSpPr/>
          <p:nvPr/>
        </p:nvSpPr>
        <p:spPr>
          <a:xfrm>
            <a:off x="274320" y="4005072"/>
            <a:ext cx="11567160" cy="338328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" name="section-divider"/>
          <p:cNvCxnSpPr/>
          <p:nvPr/>
        </p:nvCxnSpPr>
        <p:spPr>
          <a:xfrm>
            <a:off x="146304" y="4407408"/>
            <a:ext cx="11878056" cy="0"/>
          </a:xfrm>
          <a:prstGeom prst="line">
            <a:avLst/>
          </a:prstGeom>
          <a:ln w="12700">
            <a:solidFill>
              <a:srgbClr val="DC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policy-vertical-label"/>
          <p:cNvSpPr/>
          <p:nvPr/>
        </p:nvSpPr>
        <p:spPr>
          <a:xfrm>
            <a:off x="146304" y="4489704"/>
            <a:ext cx="384048" cy="1444752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policy-title-band"/>
          <p:cNvSpPr/>
          <p:nvPr/>
        </p:nvSpPr>
        <p:spPr>
          <a:xfrm>
            <a:off x="594360" y="4416552"/>
            <a:ext cx="5394960" cy="228600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monthly-title-band"/>
          <p:cNvSpPr/>
          <p:nvPr/>
        </p:nvSpPr>
        <p:spPr>
          <a:xfrm>
            <a:off x="6080760" y="4489704"/>
            <a:ext cx="5394960" cy="228600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conditions-callout"/>
          <p:cNvSpPr/>
          <p:nvPr/>
        </p:nvSpPr>
        <p:spPr>
          <a:xfrm>
            <a:off x="6080760" y="5897880"/>
            <a:ext cx="5394960" cy="512064"/>
          </a:xfrm>
          <a:prstGeom prst="roundRect">
            <a:avLst/>
          </a:prstGeom>
          <a:solidFill>
            <a:srgbClr val="FDF0F0"/>
          </a:solidFill>
          <a:ln w="10160">
            <a:solidFill>
              <a:srgbClr val="D29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conditions-label"/>
          <p:cNvSpPr/>
          <p:nvPr/>
        </p:nvSpPr>
        <p:spPr>
          <a:xfrm>
            <a:off x="6080760" y="5897880"/>
            <a:ext cx="429768" cy="512064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conditions-note-button"/>
          <p:cNvSpPr/>
          <p:nvPr/>
        </p:nvSpPr>
        <p:spPr>
          <a:xfrm>
            <a:off x="10634472" y="5934456"/>
            <a:ext cx="868680" cy="420624"/>
          </a:xfrm>
          <a:prstGeom prst="roundRect">
            <a:avLst/>
          </a:prstGeom>
          <a:solidFill>
            <a:srgbClr val="D2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1_r1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58" y="910998"/>
            <a:ext cx="576043" cy="619479"/>
          </a:xfrm>
          <a:prstGeom prst="rect">
            <a:avLst/>
          </a:prstGeom>
        </p:spPr>
      </p:pic>
      <p:pic>
        <p:nvPicPr>
          <p:cNvPr id="5" name="Picture 4" descr="ic1_r1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425" y="641343"/>
            <a:ext cx="277083" cy="291519"/>
          </a:xfrm>
          <a:prstGeom prst="rect">
            <a:avLst/>
          </a:prstGeom>
        </p:spPr>
      </p:pic>
      <p:pic>
        <p:nvPicPr>
          <p:cNvPr id="6" name="Picture 5" descr="ic1_r1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017" y="641343"/>
            <a:ext cx="277083" cy="291519"/>
          </a:xfrm>
          <a:prstGeom prst="rect">
            <a:avLst/>
          </a:prstGeom>
        </p:spPr>
      </p:pic>
      <p:pic>
        <p:nvPicPr>
          <p:cNvPr id="7" name="Picture 6" descr="ic1_r1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3148" y="976590"/>
            <a:ext cx="328125" cy="408127"/>
          </a:xfrm>
          <a:prstGeom prst="rect">
            <a:avLst/>
          </a:prstGeom>
        </p:spPr>
      </p:pic>
      <p:pic>
        <p:nvPicPr>
          <p:cNvPr id="8" name="Picture 7" descr="ic1_r1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668" y="2215549"/>
            <a:ext cx="510417" cy="459143"/>
          </a:xfrm>
          <a:prstGeom prst="rect">
            <a:avLst/>
          </a:prstGeom>
        </p:spPr>
      </p:pic>
      <p:pic>
        <p:nvPicPr>
          <p:cNvPr id="9" name="Picture 8" descr="ic1_r2c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0007" y="2237413"/>
            <a:ext cx="510417" cy="444567"/>
          </a:xfrm>
          <a:prstGeom prst="rect">
            <a:avLst/>
          </a:prstGeom>
        </p:spPr>
      </p:pic>
      <p:pic>
        <p:nvPicPr>
          <p:cNvPr id="10" name="Picture 9" descr="ic1_r2c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5638" y="2215549"/>
            <a:ext cx="459376" cy="466431"/>
          </a:xfrm>
          <a:prstGeom prst="rect">
            <a:avLst/>
          </a:prstGeom>
        </p:spPr>
      </p:pic>
      <p:pic>
        <p:nvPicPr>
          <p:cNvPr id="11" name="Picture 10" descr="ic1_r2c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6268" y="2230125"/>
            <a:ext cx="444792" cy="459143"/>
          </a:xfrm>
          <a:prstGeom prst="rect">
            <a:avLst/>
          </a:prstGeom>
        </p:spPr>
      </p:pic>
      <p:pic>
        <p:nvPicPr>
          <p:cNvPr id="12" name="Picture 11" descr="ic1_r2c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875" y="3184852"/>
            <a:ext cx="452084" cy="510159"/>
          </a:xfrm>
          <a:prstGeom prst="rect">
            <a:avLst/>
          </a:prstGeom>
        </p:spPr>
      </p:pic>
      <p:pic>
        <p:nvPicPr>
          <p:cNvPr id="13" name="Picture 12" descr="ic1_r3c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4801" y="3177564"/>
            <a:ext cx="503126" cy="524735"/>
          </a:xfrm>
          <a:prstGeom prst="rect">
            <a:avLst/>
          </a:prstGeom>
        </p:spPr>
      </p:pic>
      <p:pic>
        <p:nvPicPr>
          <p:cNvPr id="14" name="Picture 13" descr="ic1_r3c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3560" y="3177564"/>
            <a:ext cx="444792" cy="561175"/>
          </a:xfrm>
          <a:prstGeom prst="rect">
            <a:avLst/>
          </a:prstGeom>
        </p:spPr>
      </p:pic>
      <p:pic>
        <p:nvPicPr>
          <p:cNvPr id="15" name="Picture 14" descr="ic1_r3c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3753" y="2864180"/>
            <a:ext cx="247917" cy="247791"/>
          </a:xfrm>
          <a:prstGeom prst="rect">
            <a:avLst/>
          </a:prstGeom>
        </p:spPr>
      </p:pic>
      <p:pic>
        <p:nvPicPr>
          <p:cNvPr id="16" name="Picture 15" descr="ic1_r3c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82303" y="2864180"/>
            <a:ext cx="247917" cy="247791"/>
          </a:xfrm>
          <a:prstGeom prst="rect">
            <a:avLst/>
          </a:prstGeom>
        </p:spPr>
      </p:pic>
      <p:pic>
        <p:nvPicPr>
          <p:cNvPr id="17" name="Picture 16" descr="ic1_r3c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71895" y="2864180"/>
            <a:ext cx="247917" cy="247791"/>
          </a:xfrm>
          <a:prstGeom prst="rect">
            <a:avLst/>
          </a:prstGeom>
        </p:spPr>
      </p:pic>
      <p:pic>
        <p:nvPicPr>
          <p:cNvPr id="18" name="Picture 17" descr="logo_r1c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45858" y="102031"/>
            <a:ext cx="422917" cy="422703"/>
          </a:xfrm>
          <a:prstGeom prst="rect">
            <a:avLst/>
          </a:prstGeom>
        </p:spPr>
      </p:pic>
      <p:pic>
        <p:nvPicPr>
          <p:cNvPr id="19" name="Picture 18" descr="logo_r1c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41692" y="153047"/>
            <a:ext cx="838543" cy="357111"/>
          </a:xfrm>
          <a:prstGeom prst="rect">
            <a:avLst/>
          </a:prstGeom>
        </p:spPr>
      </p:pic>
      <p:graphicFrame>
        <p:nvGraphicFramePr>
          <p:cNvPr id="153" name="commission-card-1-body"/>
          <p:cNvGraphicFramePr>
            <a:graphicFrameLocks noGrp="1"/>
          </p:cNvGraphicFramePr>
          <p:nvPr/>
        </p:nvGraphicFramePr>
        <p:xfrm>
          <a:off x="896112" y="3145536"/>
          <a:ext cx="305409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605"/>
                <a:gridCol w="2229490"/>
              </a:tblGrid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依据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收入变化31.2元 × 3倍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周期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T2—T4，每期31.2元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结果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93.6元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56" name="commission-card-2-body"/>
          <p:cNvGraphicFramePr>
            <a:graphicFrameLocks noGrp="1"/>
          </p:cNvGraphicFramePr>
          <p:nvPr/>
        </p:nvGraphicFramePr>
        <p:xfrm>
          <a:off x="4828031" y="3145536"/>
          <a:ext cx="268833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850"/>
                <a:gridCol w="1962485"/>
              </a:tblGrid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依据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T1一次性佣金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周期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T1计提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结果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150元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59" name="commission-card-3-body"/>
          <p:cNvGraphicFramePr>
            <a:graphicFrameLocks noGrp="1"/>
          </p:cNvGraphicFramePr>
          <p:nvPr/>
        </p:nvGraphicFramePr>
        <p:xfrm>
          <a:off x="8439912" y="3145536"/>
          <a:ext cx="305409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605"/>
                <a:gridCol w="2229490"/>
              </a:tblGrid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依据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3—4户档：50元/户 × 系数0.33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周期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T3计提，本案例计入1户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结果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16.5元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policy-fee-table"/>
          <p:cNvGraphicFramePr>
            <a:graphicFrameLocks noGrp="1"/>
          </p:cNvGraphicFramePr>
          <p:nvPr/>
        </p:nvGraphicFramePr>
        <p:xfrm>
          <a:off x="594360" y="4617720"/>
          <a:ext cx="539495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135"/>
                <a:gridCol w="971092"/>
                <a:gridCol w="1834286"/>
                <a:gridCol w="593445"/>
              </a:tblGrid>
              <a:tr h="167640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用户/办理场景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收入变化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服务费标准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计提周期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rowSpan="2">
                  <a:txBody>
                    <a:bodyPr wrap="square" lIns="0" rIns="0" tIns="0" bIns="0"/>
                    <a:lstStyle/>
                    <a:p>
                      <a:pPr algn="ctr"/>
                      <a:r>
                        <a:rPr sz="630" b="0">
                          <a:solidFill>
                            <a:srgbClr val="111111"/>
                          </a:solidFill>
                          <a:latin typeface="Noto Sans SC Thin"/>
                        </a:rPr>
                        <a:t>1. 存量用户办理指定套餐
升档产品须知FTTR
（指定FTTR附加产品）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增收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套餐迁转后收入变化部分 ×3倍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T2—T4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减收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不罚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rowSpan="2">
                  <a:txBody>
                    <a:bodyPr wrap="square" lIns="0" rIns="0" tIns="0" bIns="0"/>
                    <a:lstStyle/>
                    <a:p>
                      <a:pPr algn="ctr"/>
                      <a:r>
                        <a:rPr sz="630" b="0">
                          <a:solidFill>
                            <a:srgbClr val="111111"/>
                          </a:solidFill>
                          <a:latin typeface="Noto Sans SC Thin"/>
                        </a:rPr>
                        <a:t>2. 存量用户办理指定套餐
金融终端合约套餐升档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增收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套餐迁转后收入变化部分 ×6倍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T2—T7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减收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不罚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rowSpan="2"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3. 办理其他指定套餐/合约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增收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套餐迁转后收入变化部分 ×2倍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T2—T3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减收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不罚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rowSpan="2"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4. 未办理指定套餐/合约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增收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套餐迁转后收入变化部分 ×2倍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T2—T3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/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减收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套餐迁转后收入变化部分 ×2倍扣罚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扣罚周期T2—T3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66" name="monthly-incentive-table"/>
          <p:cNvGraphicFramePr>
            <a:graphicFrameLocks noGrp="1"/>
          </p:cNvGraphicFramePr>
          <p:nvPr/>
        </p:nvGraphicFramePr>
        <p:xfrm>
          <a:off x="6080760" y="4690872"/>
          <a:ext cx="5394958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90"/>
                <a:gridCol w="1294790"/>
                <a:gridCol w="2211933"/>
                <a:gridCol w="593445"/>
              </a:tblGrid>
              <a:tr h="185928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FTTR月度发展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达量补贴标准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适用渠道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1">
                          <a:solidFill>
                            <a:srgbClr val="D20A0A"/>
                          </a:solidFill>
                          <a:latin typeface="Noto Sans SC Thin"/>
                        </a:rPr>
                        <a:t>计提周期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3—4户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50元/户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除电话营销外其他渠道全参与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5—7户（含5户）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110元/户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除电话营销外其他渠道全参与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8户及以上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210元/户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除电话营销外其他渠道全参与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12—19户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110元/户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电话营销渠道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20户及以上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210元/户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电话营销渠道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ctr"/>
                      <a:r>
                        <a:rPr sz="750" b="0">
                          <a:solidFill>
                            <a:srgbClr val="111111"/>
                          </a:solidFill>
                          <a:latin typeface="Noto Sans SC Thin"/>
                        </a:rPr>
                        <a:t>T3</a:t>
                      </a:r>
                    </a:p>
                  </a:txBody>
                  <a:tcPr anchor="ctr">
                    <a:solidFill>
                      <a:srgbClr val="FFF4F4"/>
                    </a:solidFill>
                    <a:lnL w="12700">
                      <a:solidFill>
                        <a:srgbClr val="CFCFCF"/>
                      </a:solidFill>
                      <a:prstDash val="solid"/>
                    </a:lnL>
                    <a:lnR w="12700">
                      <a:solidFill>
                        <a:srgbClr val="CFCFCF"/>
                      </a:solidFill>
                      <a:prstDash val="solid"/>
                    </a:lnR>
                    <a:lnT w="12700">
                      <a:solidFill>
                        <a:srgbClr val="CFCFCF"/>
                      </a:solidFill>
                      <a:prstDash val="solid"/>
                    </a:lnT>
                    <a:lnB w="12700">
                      <a:solidFill>
                        <a:srgbClr val="CFCFC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0" name="vertical_channel_label"/>
          <p:cNvSpPr txBox="1"/>
          <p:nvPr/>
        </p:nvSpPr>
        <p:spPr>
          <a:xfrm>
            <a:off x="109375" y="58303"/>
            <a:ext cx="670834" cy="641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8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社会</a:t>
            </a:r>
          </a:p>
          <a:p>
            <a:pPr algn="ctr">
              <a:lnSpc>
                <a:spcPct val="88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渠道</a:t>
            </a:r>
          </a:p>
        </p:txBody>
      </p:sp>
      <p:sp>
        <p:nvSpPr>
          <p:cNvPr id="171" name="main_title"/>
          <p:cNvSpPr txBox="1"/>
          <p:nvPr/>
        </p:nvSpPr>
        <p:spPr>
          <a:xfrm>
            <a:off x="1028127" y="87455"/>
            <a:ext cx="5869805" cy="415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社会渠道 存量畅越FTTR</a:t>
            </a:r>
            <a:r>
              <a:rPr sz="280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佣金明白卡</a:t>
            </a:r>
          </a:p>
        </p:txBody>
      </p:sp>
      <p:sp>
        <p:nvSpPr>
          <p:cNvPr id="172" name="partner_company"/>
          <p:cNvSpPr txBox="1"/>
          <p:nvPr/>
        </p:nvSpPr>
        <p:spPr>
          <a:xfrm>
            <a:off x="918752" y="889134"/>
            <a:ext cx="2522922" cy="349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南阳锐志网络科技有限公司市区</a:t>
            </a:r>
          </a:p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分公司合作厅</a:t>
            </a:r>
          </a:p>
        </p:txBody>
      </p:sp>
      <p:sp>
        <p:nvSpPr>
          <p:cNvPr id="173" name="partner_summary"/>
          <p:cNvSpPr txBox="1"/>
          <p:nvPr/>
        </p:nvSpPr>
        <p:spPr>
          <a:xfrm>
            <a:off x="911460" y="1370142"/>
            <a:ext cx="2530214" cy="349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8月智家畅越办理118户，其中畅越FTTR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36户，非FTTR畅越82户。</a:t>
            </a:r>
          </a:p>
        </p:txBody>
      </p:sp>
      <p:sp>
        <p:nvSpPr>
          <p:cNvPr id="174" name="non_fttr_heading"/>
          <p:cNvSpPr txBox="1"/>
          <p:nvPr/>
        </p:nvSpPr>
        <p:spPr>
          <a:xfrm>
            <a:off x="4433343" y="699647"/>
            <a:ext cx="1385419" cy="211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非FTTR畅越收益</a:t>
            </a:r>
          </a:p>
        </p:txBody>
      </p:sp>
      <p:sp>
        <p:nvSpPr>
          <p:cNvPr id="175" name="fttr_heading"/>
          <p:cNvSpPr txBox="1"/>
          <p:nvPr/>
        </p:nvSpPr>
        <p:spPr>
          <a:xfrm>
            <a:off x="7889601" y="699647"/>
            <a:ext cx="1392711" cy="211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FTTR畅越收益</a:t>
            </a:r>
          </a:p>
        </p:txBody>
      </p:sp>
      <p:sp>
        <p:nvSpPr>
          <p:cNvPr id="176" name="non_fttr_formula_1"/>
          <p:cNvSpPr txBox="1"/>
          <p:nvPr/>
        </p:nvSpPr>
        <p:spPr>
          <a:xfrm>
            <a:off x="3631258" y="1056758"/>
            <a:ext cx="2756256" cy="153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82户 × 20元（按增收20元举例）× 2倍（迁转佣金）</a:t>
            </a:r>
          </a:p>
        </p:txBody>
      </p:sp>
      <p:sp>
        <p:nvSpPr>
          <p:cNvPr id="177" name="non_fttr_formula_2"/>
          <p:cNvSpPr txBox="1"/>
          <p:nvPr/>
        </p:nvSpPr>
        <p:spPr>
          <a:xfrm>
            <a:off x="4229176" y="1224382"/>
            <a:ext cx="1822920" cy="153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4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+82户 × 15元（达量激励）</a:t>
            </a:r>
          </a:p>
        </p:txBody>
      </p:sp>
      <p:sp>
        <p:nvSpPr>
          <p:cNvPr id="178" name="non_fttr_result"/>
          <p:cNvSpPr txBox="1"/>
          <p:nvPr/>
        </p:nvSpPr>
        <p:spPr>
          <a:xfrm>
            <a:off x="4251051" y="1450310"/>
            <a:ext cx="1852087" cy="306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5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= 4,510元</a:t>
            </a:r>
          </a:p>
        </p:txBody>
      </p:sp>
      <p:sp>
        <p:nvSpPr>
          <p:cNvPr id="179" name="fttr_formula_1"/>
          <p:cNvSpPr txBox="1"/>
          <p:nvPr/>
        </p:nvSpPr>
        <p:spPr>
          <a:xfrm>
            <a:off x="6562515" y="1056758"/>
            <a:ext cx="3500008" cy="153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9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36户 × 30元 × 3倍（迁转佣金）+150元 × 36户（FTTR办理佣金）</a:t>
            </a:r>
          </a:p>
        </p:txBody>
      </p:sp>
      <p:sp>
        <p:nvSpPr>
          <p:cNvPr id="180" name="fttr_formula_2"/>
          <p:cNvSpPr txBox="1"/>
          <p:nvPr/>
        </p:nvSpPr>
        <p:spPr>
          <a:xfrm>
            <a:off x="6562515" y="1224382"/>
            <a:ext cx="3500008" cy="153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+36户 × 210元 × 0.33（T3达量激励）+36户 × 15元（畅越量激励）</a:t>
            </a:r>
          </a:p>
        </p:txBody>
      </p:sp>
      <p:sp>
        <p:nvSpPr>
          <p:cNvPr id="181" name="fttr_result"/>
          <p:cNvSpPr txBox="1"/>
          <p:nvPr/>
        </p:nvSpPr>
        <p:spPr>
          <a:xfrm>
            <a:off x="7510434" y="1443022"/>
            <a:ext cx="2078129" cy="313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5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= 11,674.8元</a:t>
            </a:r>
          </a:p>
        </p:txBody>
      </p:sp>
      <p:sp>
        <p:nvSpPr>
          <p:cNvPr id="182" name="total_income_label"/>
          <p:cNvSpPr txBox="1"/>
          <p:nvPr/>
        </p:nvSpPr>
        <p:spPr>
          <a:xfrm>
            <a:off x="10660441" y="1013030"/>
            <a:ext cx="1276044" cy="19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8月测算收益合计：</a:t>
            </a:r>
          </a:p>
        </p:txBody>
      </p:sp>
      <p:sp>
        <p:nvSpPr>
          <p:cNvPr id="183" name="total_income_value"/>
          <p:cNvSpPr txBox="1"/>
          <p:nvPr/>
        </p:nvSpPr>
        <p:spPr>
          <a:xfrm>
            <a:off x="10587524" y="1224382"/>
            <a:ext cx="1385419" cy="27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16,184.8元</a:t>
            </a:r>
          </a:p>
        </p:txBody>
      </p:sp>
      <p:sp>
        <p:nvSpPr>
          <p:cNvPr id="184" name="case_label"/>
          <p:cNvSpPr txBox="1"/>
          <p:nvPr/>
        </p:nvSpPr>
        <p:spPr>
          <a:xfrm>
            <a:off x="291667" y="1851149"/>
            <a:ext cx="3645841" cy="218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FTTR提值办理案例｜号码：1563***</a:t>
            </a:r>
          </a:p>
        </p:txBody>
      </p:sp>
      <p:sp>
        <p:nvSpPr>
          <p:cNvPr id="185" name="flow_income_label"/>
          <p:cNvSpPr txBox="1"/>
          <p:nvPr/>
        </p:nvSpPr>
        <p:spPr>
          <a:xfrm>
            <a:off x="1152086" y="2230125"/>
            <a:ext cx="1137502" cy="182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原收入</a:t>
            </a:r>
          </a:p>
        </p:txBody>
      </p:sp>
      <p:sp>
        <p:nvSpPr>
          <p:cNvPr id="186" name="flow_income_value"/>
          <p:cNvSpPr txBox="1"/>
          <p:nvPr/>
        </p:nvSpPr>
        <p:spPr>
          <a:xfrm>
            <a:off x="1283336" y="2419613"/>
            <a:ext cx="1057294" cy="240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99.8元</a:t>
            </a:r>
          </a:p>
        </p:txBody>
      </p:sp>
      <p:sp>
        <p:nvSpPr>
          <p:cNvPr id="187" name="flow_fttr_label"/>
          <p:cNvSpPr txBox="1"/>
          <p:nvPr/>
        </p:nvSpPr>
        <p:spPr>
          <a:xfrm>
            <a:off x="3784383" y="2230125"/>
            <a:ext cx="1101044" cy="182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办理FTTR</a:t>
            </a:r>
          </a:p>
        </p:txBody>
      </p:sp>
      <p:sp>
        <p:nvSpPr>
          <p:cNvPr id="188" name="flow_fttr_value"/>
          <p:cNvSpPr txBox="1"/>
          <p:nvPr/>
        </p:nvSpPr>
        <p:spPr>
          <a:xfrm>
            <a:off x="3777092" y="2419613"/>
            <a:ext cx="1130210" cy="247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提值30元</a:t>
            </a:r>
          </a:p>
        </p:txBody>
      </p:sp>
      <p:sp>
        <p:nvSpPr>
          <p:cNvPr id="189" name="flow_next_income_label"/>
          <p:cNvSpPr txBox="1"/>
          <p:nvPr/>
        </p:nvSpPr>
        <p:spPr>
          <a:xfrm>
            <a:off x="6270847" y="2230125"/>
            <a:ext cx="1042710" cy="182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次月收入</a:t>
            </a:r>
          </a:p>
        </p:txBody>
      </p:sp>
      <p:sp>
        <p:nvSpPr>
          <p:cNvPr id="190" name="flow_next_income_value"/>
          <p:cNvSpPr txBox="1"/>
          <p:nvPr/>
        </p:nvSpPr>
        <p:spPr>
          <a:xfrm>
            <a:off x="6307306" y="2419613"/>
            <a:ext cx="1020835" cy="247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131元</a:t>
            </a:r>
          </a:p>
        </p:txBody>
      </p:sp>
      <p:sp>
        <p:nvSpPr>
          <p:cNvPr id="191" name="flow_change_label"/>
          <p:cNvSpPr txBox="1"/>
          <p:nvPr/>
        </p:nvSpPr>
        <p:spPr>
          <a:xfrm>
            <a:off x="8516686" y="2230125"/>
            <a:ext cx="1020835" cy="182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收入变化</a:t>
            </a:r>
          </a:p>
        </p:txBody>
      </p:sp>
      <p:sp>
        <p:nvSpPr>
          <p:cNvPr id="192" name="flow_change_value"/>
          <p:cNvSpPr txBox="1"/>
          <p:nvPr/>
        </p:nvSpPr>
        <p:spPr>
          <a:xfrm>
            <a:off x="8538561" y="2419613"/>
            <a:ext cx="1006252" cy="2477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31.2元</a:t>
            </a:r>
          </a:p>
        </p:txBody>
      </p:sp>
      <p:sp>
        <p:nvSpPr>
          <p:cNvPr id="193" name="flow_calculation"/>
          <p:cNvSpPr txBox="1"/>
          <p:nvPr/>
        </p:nvSpPr>
        <p:spPr>
          <a:xfrm>
            <a:off x="9792731" y="2397749"/>
            <a:ext cx="2078129" cy="211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20" b="1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131 − 99.8 = </a:t>
            </a:r>
            <a:r>
              <a:rPr sz="142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31.2元</a:t>
            </a:r>
          </a:p>
        </p:txBody>
      </p:sp>
      <p:sp>
        <p:nvSpPr>
          <p:cNvPr id="194" name="commission_1_number"/>
          <p:cNvSpPr txBox="1"/>
          <p:nvPr/>
        </p:nvSpPr>
        <p:spPr>
          <a:xfrm>
            <a:off x="1443753" y="2886044"/>
            <a:ext cx="247917" cy="218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5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1</a:t>
            </a:r>
          </a:p>
        </p:txBody>
      </p:sp>
      <p:sp>
        <p:nvSpPr>
          <p:cNvPr id="195" name="commission_1_title"/>
          <p:cNvSpPr txBox="1"/>
          <p:nvPr/>
        </p:nvSpPr>
        <p:spPr>
          <a:xfrm>
            <a:off x="1771879" y="2878756"/>
            <a:ext cx="2187505" cy="2259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套餐迁转佣金</a:t>
            </a:r>
          </a:p>
        </p:txBody>
      </p:sp>
      <p:sp>
        <p:nvSpPr>
          <p:cNvPr id="196" name="commission_2_number"/>
          <p:cNvSpPr txBox="1"/>
          <p:nvPr/>
        </p:nvSpPr>
        <p:spPr>
          <a:xfrm>
            <a:off x="5082303" y="2886044"/>
            <a:ext cx="247917" cy="218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5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2</a:t>
            </a:r>
          </a:p>
        </p:txBody>
      </p:sp>
      <p:sp>
        <p:nvSpPr>
          <p:cNvPr id="197" name="commission_2_title"/>
          <p:cNvSpPr txBox="1"/>
          <p:nvPr/>
        </p:nvSpPr>
        <p:spPr>
          <a:xfrm>
            <a:off x="5439595" y="2878756"/>
            <a:ext cx="2143754" cy="2259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FTTR办理佣金</a:t>
            </a:r>
          </a:p>
        </p:txBody>
      </p:sp>
      <p:sp>
        <p:nvSpPr>
          <p:cNvPr id="198" name="commission_3_number"/>
          <p:cNvSpPr txBox="1"/>
          <p:nvPr/>
        </p:nvSpPr>
        <p:spPr>
          <a:xfrm>
            <a:off x="8771895" y="2886044"/>
            <a:ext cx="247917" cy="218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5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3</a:t>
            </a:r>
          </a:p>
        </p:txBody>
      </p:sp>
      <p:sp>
        <p:nvSpPr>
          <p:cNvPr id="199" name="commission_3_title"/>
          <p:cNvSpPr txBox="1"/>
          <p:nvPr/>
        </p:nvSpPr>
        <p:spPr>
          <a:xfrm>
            <a:off x="9304188" y="2878756"/>
            <a:ext cx="2457297" cy="2259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T3达量激励</a:t>
            </a:r>
          </a:p>
        </p:txBody>
      </p:sp>
      <p:sp>
        <p:nvSpPr>
          <p:cNvPr id="200" name="summary_label"/>
          <p:cNvSpPr txBox="1"/>
          <p:nvPr/>
        </p:nvSpPr>
        <p:spPr>
          <a:xfrm>
            <a:off x="1429169" y="4037547"/>
            <a:ext cx="2741673" cy="27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本案例佣金合计</a:t>
            </a:r>
          </a:p>
        </p:txBody>
      </p:sp>
      <p:sp>
        <p:nvSpPr>
          <p:cNvPr id="201" name="summary_formula"/>
          <p:cNvSpPr txBox="1"/>
          <p:nvPr/>
        </p:nvSpPr>
        <p:spPr>
          <a:xfrm>
            <a:off x="4848969" y="4037547"/>
            <a:ext cx="2923965" cy="27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93.6 + 150 + 16.5 =</a:t>
            </a:r>
          </a:p>
        </p:txBody>
      </p:sp>
      <p:sp>
        <p:nvSpPr>
          <p:cNvPr id="202" name="summary_value"/>
          <p:cNvSpPr txBox="1"/>
          <p:nvPr/>
        </p:nvSpPr>
        <p:spPr>
          <a:xfrm>
            <a:off x="8866687" y="4015683"/>
            <a:ext cx="1808337" cy="320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50" b="1" i="0">
                <a:solidFill>
                  <a:srgbClr val="FFE39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260.1元</a:t>
            </a:r>
          </a:p>
        </p:txBody>
      </p:sp>
      <p:sp>
        <p:nvSpPr>
          <p:cNvPr id="203" name="policy_label"/>
          <p:cNvSpPr txBox="1"/>
          <p:nvPr/>
        </p:nvSpPr>
        <p:spPr>
          <a:xfrm>
            <a:off x="138541" y="4591434"/>
            <a:ext cx="371875" cy="134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政</a:t>
            </a:r>
          </a:p>
          <a:p>
            <a:pPr algn="ctr">
              <a:lnSpc>
                <a:spcPct val="85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策</a:t>
            </a:r>
          </a:p>
          <a:p>
            <a:pPr algn="ctr">
              <a:lnSpc>
                <a:spcPct val="85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速</a:t>
            </a:r>
          </a:p>
          <a:p>
            <a:pPr algn="ctr">
              <a:lnSpc>
                <a:spcPct val="85000"/>
              </a:lnSpc>
            </a:pPr>
            <a:r>
              <a:rPr sz="200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查</a:t>
            </a:r>
          </a:p>
        </p:txBody>
      </p:sp>
      <p:sp>
        <p:nvSpPr>
          <p:cNvPr id="204" name="fee_standard_title"/>
          <p:cNvSpPr txBox="1"/>
          <p:nvPr/>
        </p:nvSpPr>
        <p:spPr>
          <a:xfrm>
            <a:off x="2326047" y="4389120"/>
            <a:ext cx="232604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套餐迁转服务费标准</a:t>
            </a:r>
          </a:p>
        </p:txBody>
      </p:sp>
      <p:sp>
        <p:nvSpPr>
          <p:cNvPr id="205" name="monthly_incentive_title"/>
          <p:cNvSpPr txBox="1"/>
          <p:nvPr/>
        </p:nvSpPr>
        <p:spPr>
          <a:xfrm>
            <a:off x="7656267" y="4489402"/>
            <a:ext cx="2603131" cy="218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FTTR月度发展达量激励</a:t>
            </a:r>
          </a:p>
        </p:txBody>
      </p:sp>
      <p:sp>
        <p:nvSpPr>
          <p:cNvPr id="206" name="conditions_label"/>
          <p:cNvSpPr txBox="1"/>
          <p:nvPr/>
        </p:nvSpPr>
        <p:spPr>
          <a:xfrm>
            <a:off x="6117722" y="5932425"/>
            <a:ext cx="386459" cy="437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4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计提</a:t>
            </a:r>
          </a:p>
          <a:p>
            <a:pPr algn="ctr">
              <a:lnSpc>
                <a:spcPct val="92000"/>
              </a:lnSpc>
            </a:pPr>
            <a:r>
              <a:rPr sz="145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条件</a:t>
            </a:r>
          </a:p>
        </p:txBody>
      </p:sp>
      <p:sp>
        <p:nvSpPr>
          <p:cNvPr id="207" name="condition_1"/>
          <p:cNvSpPr txBox="1"/>
          <p:nvPr/>
        </p:nvSpPr>
        <p:spPr>
          <a:xfrm>
            <a:off x="6569806" y="5939713"/>
            <a:ext cx="3995842" cy="174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①  用户正常入网且不欠费；FTTR须缴工，终端入网当月至次月在线天数≥7天。</a:t>
            </a:r>
          </a:p>
        </p:txBody>
      </p:sp>
      <p:sp>
        <p:nvSpPr>
          <p:cNvPr id="208" name="condition_2"/>
          <p:cNvSpPr txBox="1"/>
          <p:nvPr/>
        </p:nvSpPr>
        <p:spPr>
          <a:xfrm>
            <a:off x="6569806" y="6129200"/>
            <a:ext cx="3995842" cy="174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②  按拉新情况核定系数：新证用户系数1，老证用户系数0.5，未拉新系数0.33。</a:t>
            </a:r>
          </a:p>
        </p:txBody>
      </p:sp>
      <p:sp>
        <p:nvSpPr>
          <p:cNvPr id="209" name="condition_note"/>
          <p:cNvSpPr txBox="1"/>
          <p:nvPr/>
        </p:nvSpPr>
        <p:spPr>
          <a:xfrm>
            <a:off x="10631274" y="5932425"/>
            <a:ext cx="867710" cy="422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03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本案例按拉新</a:t>
            </a:r>
          </a:p>
          <a:p>
            <a:pPr algn="ctr">
              <a:lnSpc>
                <a:spcPct val="106000"/>
              </a:lnSpc>
            </a:pPr>
            <a:r>
              <a:rPr sz="1030" b="1" i="0">
                <a:solidFill>
                  <a:srgbClr val="FFFFFF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系数0.33测算</a:t>
            </a:r>
          </a:p>
        </p:txBody>
      </p:sp>
      <p:sp>
        <p:nvSpPr>
          <p:cNvPr id="210" name="footer_explain_label"/>
          <p:cNvSpPr txBox="1"/>
          <p:nvPr/>
        </p:nvSpPr>
        <p:spPr>
          <a:xfrm>
            <a:off x="838543" y="6522752"/>
            <a:ext cx="473959" cy="182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D20A0A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说明：</a:t>
            </a:r>
          </a:p>
        </p:txBody>
      </p:sp>
      <p:sp>
        <p:nvSpPr>
          <p:cNvPr id="211" name="footer_explain"/>
          <p:cNvSpPr txBox="1"/>
          <p:nvPr/>
        </p:nvSpPr>
        <p:spPr>
          <a:xfrm>
            <a:off x="1312503" y="6522752"/>
            <a:ext cx="10448982" cy="182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0" i="0">
                <a:solidFill>
                  <a:srgbClr val="111111">
                    <a:alpha val="100000"/>
                  </a:srgbClr>
                </a:solidFill>
                <a:latin typeface="Noto Sans SC Thin"/>
                <a:ea typeface="Noto Sans SC Thin"/>
                <a:cs typeface="Noto Sans SC Thin"/>
              </a:rPr>
              <a:t>FTTR佣金于T1计提；套餐迁转服务费按对应场景及周期计提；达量激励于T3按实际达量档位和核定系数结算。具体以当地最新佣金政策及系统结算结果为准。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